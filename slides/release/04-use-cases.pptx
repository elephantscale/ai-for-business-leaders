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is the module where the course becomes concrete. Everything from here through the capstone builds on what teams find in this exercise.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Ask which of the five the room instinctively reaches for. It is almost always cost — and cost is usually the</a:t>
            </a:r>
            <a:r>
              <a:rPr i="1"/>
              <a:t> smallest</a:t>
            </a:r>
            <a:r>
              <a:t> of the five. Capacity is the one people miss and it is often the largest.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Push the room on this: what do you</a:t>
            </a:r>
            <a:r>
              <a:rPr i="1"/>
              <a:t> know</a:t>
            </a:r>
            <a:r>
              <a:t> would be valuable that simply never gets done? The answers here are usually better use cases than anything on their existing list.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Walk each row and ask the room for an instance from their own work. Do not move on until every row has at least one. This slide</a:t>
            </a:r>
            <a:r>
              <a:rPr i="1"/>
              <a:t> is</a:t>
            </a:r>
            <a:r>
              <a:t> the idea-generation engine for Exercise 4.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Note the double edge: many organizations discover their real problem is document governance, not AI. That's a valuable finding, not a failure.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If a team needs a win in 90 days to keep funding, this row is the answer. Say so explicitly.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For regulated and safety-critical audiences this framing is the difference between a usable idea and a non-starter. Emphasize it hard:</a:t>
            </a:r>
            <a:r>
              <a:rPr i="1"/>
              <a:t> attention direction, not approval.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Say the quiet part: the temptation is to prove AI on the most important, most sensitive process. That is precisely backwards. Credibility is earned on the boring processes.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is the single most actionable slide in the module. Tell people to run it literally, next week, in a staff meeting.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Basic theory-of-constraints thinking. It reframes AI value from "efficiency everywhere" to "throughput at the constraint," which is a much stronger business case.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Ask for a show of hands: who has been in a project that stalled on data access? It's most of the room, and it's the same story in every organization.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"refuse" shelf is the one nobody builds and everybody needs. A documented no with a stated reason and a review date is a leadership artifact.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is the bridge to Module 5 (strategy and maturity) tomorrow morning. Plant it now.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Ask the room which of these they have personally witnessed. The last one is the most expensive and the least discussed.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These six are the challenge checklist used in the capstone tomorrow. Introduce them here so teams design against them from the start.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Worksheets and scoring grid:</a:t>
            </a:r>
            <a:r>
              <a:rPr>
                <a:latin typeface="Courier New"/>
              </a:rPr>
              <a:t> exercises/04-use-case-portfolio.md</a:t>
            </a:r>
            <a:r>
              <a:t> . Enforce the twelve — teams that stop at four have only listed what they already believed.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vote matters — it forces the room to apply a standard rather than being polite. Record the winners; they reappear in Exercise 8 and the capstone.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Go around the room. It takes ten minutes and it is worth every one of them — it consolidates the day and it tells you exactly what to adjust for Day 2.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pPr>
              <a:defRPr sz="3200"/>
            </a:pPr>
            <a:r>
              <a:t>Finding Candidates</a:t>
            </a:r>
          </a:p>
          <a:p>
            <a:r>
              <a:t>Choosing Among Them</a:t>
            </a:r>
          </a:p>
          <a:p>
            <a:r>
              <a:t>Exercise 4 — The Use-Case Portfolio</a:t>
            </a:r>
          </a:p>
          <a:p>
            <a:r>
              <a:t>End of Day 1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Finding and Prioritizing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Question This Module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 now know what the technology is and where it breaks.</a:t>
            </a:r>
          </a:p>
          <a:p>
            <a:endParaRPr/>
          </a:p>
          <a:p>
            <a:r>
              <a:t> Not "AI could transform our industry." Which process, whose job, how many hours, what does it cost today.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49237" y="642506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Where, specifically, in your organization, is it worth money?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AI Value Actually Comes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Five, and only five:</a:t>
            </a:r>
          </a:p>
          <a:p>
            <a:r>
              <a:rPr b="1"/>
              <a:t> Cost</a:t>
            </a:r>
            <a:r>
              <a:t> — the same work, fewer hours</a:t>
            </a:r>
          </a:p>
          <a:p>
            <a:r>
              <a:rPr b="1"/>
              <a:t> Speed</a:t>
            </a:r>
            <a:r>
              <a:t> — the same work, sooner (often worth more than the cost saving)</a:t>
            </a:r>
          </a:p>
          <a:p>
            <a:r>
              <a:rPr b="1"/>
              <a:t> Quality</a:t>
            </a:r>
            <a:r>
              <a:t> — fewer errors, more consistency, more thorough review</a:t>
            </a:r>
          </a:p>
          <a:p>
            <a:r>
              <a:rPr b="1"/>
              <a:t> Capacity</a:t>
            </a:r>
            <a:r>
              <a:t> — work that was always worth doing but never got done</a:t>
            </a:r>
          </a:p>
          <a:p>
            <a:r>
              <a:rPr b="1"/>
              <a:t> New capability</a:t>
            </a:r>
            <a:r>
              <a:t> — something you genuinely could not do 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Category Everyone Underestimates: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Every organization has a backlog of work that is genuinely valuable and never happens because nobody has the hours:</a:t>
            </a:r>
          </a:p>
          <a:p>
            <a:r>
              <a:t> Nobody reads all the incident reports looking for patterns</a:t>
            </a:r>
          </a:p>
          <a:p>
            <a:r>
              <a:t> Nobody reviews every document for consistency with the current standard</a:t>
            </a:r>
          </a:p>
          <a:p>
            <a:r>
              <a:t> Nobody follows up on every piece of feedback</a:t>
            </a:r>
          </a:p>
          <a:p>
            <a:r>
              <a:t> Nobody checks whether last year's lessons learned were applied</a:t>
            </a:r>
          </a:p>
          <a:p>
            <a:r>
              <a:rPr b="1"/>
              <a:t> This work has no current cost to eliminate</a:t>
            </a:r>
            <a:r>
              <a:t> — so it never appears in a savings-based business case. It is often where the real value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Patterns That Repeat Everywhere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Across every industry, valuable AI use cases take one of these shapes: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304617"/>
              </p:ext>
            </p:extLst>
          </p:nvPr>
        </p:nvGraphicFramePr>
        <p:xfrm>
          <a:off x="237744" y="2132584"/>
          <a:ext cx="89154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The shape of 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Document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Read many long documents, answer questions about them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Knowledge 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"Where is it written that…?" over your own material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Drafting and summarization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Long → short, or nothing → draft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Classification and 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Sort incoming things correctly, at volume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Pull specified fields out of unstructured documents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Quality and consistency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Check this against that standard, flag deviations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Decision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Assemble and organize what a decision-maker needs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Conversational assistance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Ask a question, get an answer, in context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 Understanding and Knowledge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Usually the highest-value pair in a long-lived, document-heavy organization.</a:t>
            </a:r>
          </a:p>
          <a:p>
            <a:r>
              <a:rPr b="1"/>
              <a:t> The symptom:</a:t>
            </a:r>
            <a:r>
              <a:t> an experienced person is the only one who knows where things are written. When they retire, that knowledge leaves.</a:t>
            </a:r>
          </a:p>
          <a:p>
            <a:r>
              <a:rPr b="1"/>
              <a:t> The shape:</a:t>
            </a:r>
            <a:r>
              <a:t> a grounded assistant over a controlled document set — procedures, standards, past reports, correspondence — that answers with citations to the source.</a:t>
            </a:r>
          </a:p>
          <a:p>
            <a:r>
              <a:rPr b="1"/>
              <a:t> The catch:</a:t>
            </a:r>
            <a:r>
              <a:t> it is only as good as your documents. If they are contradictory, out of date, or ungoverned, AI will surface that immediately and loudly.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Classification, Routing, and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Less glamorous, most reliably profitable.</a:t>
            </a:r>
          </a:p>
          <a:p>
            <a:r>
              <a:t> Incoming requests sorted to the right team, first time</a:t>
            </a:r>
          </a:p>
          <a:p>
            <a:r>
              <a:t> Reports tagged by category, system, and severity</a:t>
            </a:r>
          </a:p>
          <a:p>
            <a:r>
              <a:t> Fields lifted out of forms, invoices, and scanned records into a system</a:t>
            </a:r>
          </a:p>
          <a:p>
            <a:r>
              <a:t> Duplicate and near-duplicate detection across years of records</a:t>
            </a:r>
          </a:p>
          <a:p>
            <a:r>
              <a:rPr b="1"/>
              <a:t> Why these work so well:</a:t>
            </a:r>
            <a:r>
              <a:t> narrow task, high volume, easy to measure, cheap to check, and the cost of an individual error is low and recoverable.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530352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These are your quick wins. Look here first when you need a proof point.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and Consistency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i="1"/>
              <a:t> "Check this document against that standard and tell me every place it deviates."</a:t>
            </a:r>
          </a:p>
          <a:p>
            <a:r>
              <a:t> A submission against a template or checklist</a:t>
            </a:r>
          </a:p>
          <a:p>
            <a:r>
              <a:t> This revision against the previous one — what actually changed and does it matter</a:t>
            </a:r>
          </a:p>
          <a:p>
            <a:r>
              <a:t> A set of procedures against each other — where do they contradict?</a:t>
            </a:r>
          </a:p>
          <a:p>
            <a:r>
              <a:t> A report against the data it cites</a:t>
            </a:r>
          </a:p>
          <a:p>
            <a:r>
              <a:rPr b="1"/>
              <a:t> The framing that makes this safe:</a:t>
            </a:r>
            <a:r>
              <a:t> AI does not approve anything. AI produces a</a:t>
            </a:r>
            <a:r>
              <a:rPr b="1"/>
              <a:t> list of things for a qualified person to look at.</a:t>
            </a:r>
            <a:r>
              <a:t> It changes where the human's attention goes; it does not replace the human.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 in Regulated and Safety-Critical Environments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What doesn't change:</a:t>
            </a:r>
            <a:r>
              <a:t> the technology, the patterns, the prompting, the economics.</a:t>
            </a:r>
          </a:p>
          <a:p>
            <a:r>
              <a:rPr b="1"/>
              <a:t> What does change:</a:t>
            </a:r>
          </a:p>
          <a:p>
            <a:r>
              <a:t> The</a:t>
            </a:r>
            <a:r>
              <a:rPr b="1"/>
              <a:t> evidence burden</a:t>
            </a:r>
            <a:r>
              <a:t> — you must be able to show how a result was produced</a:t>
            </a:r>
          </a:p>
          <a:p>
            <a:r>
              <a:rPr b="1"/>
              <a:t> Data boundaries</a:t>
            </a:r>
            <a:r>
              <a:t> — what may go where is decided before the use case is</a:t>
            </a:r>
          </a:p>
          <a:p>
            <a:r>
              <a:rPr b="1"/>
              <a:t> Approval paths</a:t>
            </a:r>
            <a:r>
              <a:t> — proportional to consequence, and already defined</a:t>
            </a:r>
          </a:p>
          <a:p>
            <a:r>
              <a:rPr b="1"/>
              <a:t> The irreversible zone</a:t>
            </a:r>
            <a:r>
              <a:t> — some outputs simply do not get generated by a machine</a:t>
            </a:r>
          </a:p>
          <a:p>
            <a:r>
              <a:rPr b="1"/>
              <a:t> The practical consequence:</a:t>
            </a:r>
            <a:r>
              <a:t> start where the work is</a:t>
            </a:r>
            <a:r>
              <a:rPr i="1"/>
              <a:t> high-volume, internal, and</a:t>
            </a:r>
            <a:r>
              <a:t> . Build the track record there. Do not open with the hardest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pPr>
              <a:defRPr sz="3200"/>
            </a:pPr>
            <a:r>
              <a:rPr b="1"/>
              <a:t>Finding Candidates
</a:t>
            </a:r>
            <a:r>
              <a:t>Choosing Among Them
Exercise 4 — The Use-Case Portfolio
End of Day 1
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Finding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Technique 1 — The Friction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Ask your people one question: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Then listen for these words:</a:t>
            </a:r>
          </a:p>
          <a:p>
            <a:r>
              <a:rPr i="1" dirty="0"/>
              <a:t> "I copy it from here into there"</a:t>
            </a:r>
          </a:p>
          <a:p>
            <a:r>
              <a:rPr i="1" dirty="0"/>
              <a:t> "I have to read all of them to find the few that matter"</a:t>
            </a:r>
          </a:p>
          <a:p>
            <a:r>
              <a:rPr i="1" dirty="0"/>
              <a:t> "I reformat it for each audience"</a:t>
            </a:r>
          </a:p>
          <a:p>
            <a:r>
              <a:rPr i="1" dirty="0"/>
              <a:t> "I check every one against the standard"</a:t>
            </a:r>
          </a:p>
          <a:p>
            <a:r>
              <a:rPr i="1" dirty="0"/>
              <a:t> "It's always the same seven questions"</a:t>
            </a:r>
          </a:p>
          <a:p>
            <a:r>
              <a:rPr i="1" dirty="0"/>
              <a:t> "I'd do it if I had time"</a:t>
            </a:r>
          </a:p>
          <a:p>
            <a:r>
              <a:rPr dirty="0"/>
              <a:t> Every one of those is an AI-shaped problem, described by the person who owns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16343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"What part of your week do you resent?"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Technique 2 — Follow the Retyping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Wherever information is</a:t>
            </a:r>
            <a:r>
              <a:rPr b="1"/>
              <a:t> re-entered by hand</a:t>
            </a:r>
            <a:r>
              <a:t> , value is leaking.</a:t>
            </a:r>
          </a:p>
          <a:p>
            <a:r>
              <a:t> A PDF becomes a spreadsheet becomes a report becomes a slide</a:t>
            </a:r>
          </a:p>
          <a:p>
            <a:r>
              <a:t> The same facts entered into three systems</a:t>
            </a:r>
          </a:p>
          <a:p>
            <a:r>
              <a:t> A form filled out from a document someone already has</a:t>
            </a:r>
          </a:p>
          <a:p>
            <a:r>
              <a:rPr b="1"/>
              <a:t> Why this test works:</a:t>
            </a:r>
            <a:r>
              <a:t> retyping means the information is already written down but not in a usable form. That is exactly the gap this technology closes.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Technique 3 — Find the Queue and the Bottleneck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Where does work</a:t>
            </a:r>
            <a:r>
              <a:rPr b="1"/>
              <a:t> pile up</a:t>
            </a:r>
            <a:r>
              <a:t> waiting for one specific person?</a:t>
            </a:r>
          </a:p>
          <a:p>
            <a:r>
              <a:t> Which review step has a two-week turnaround?</a:t>
            </a:r>
          </a:p>
          <a:p>
            <a:r>
              <a:t> What is "on the list" and has been for three years?</a:t>
            </a:r>
          </a:p>
          <a:p>
            <a:r>
              <a:t> Speed and capacity gains at a bottleneck are worth more than efficiency gains anywhere else. Everywhere else, saving an hour just creates slack.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Technique 4 — Revisit Your "No"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What did you decline in the last three years because it was too expensive, too slow, or needed a data science team?</a:t>
            </a:r>
          </a:p>
          <a:p>
            <a:r>
              <a:t> Prices have fallen by orders of magnitude. Capability has risen. Some of those decisions were correct then and are wrong now.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5444331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This is the cheapest source of good use cases in your organization, and almost nobody checks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pPr>
              <a:defRPr sz="3200"/>
            </a:pPr>
            <a:r>
              <a:t>Finding Candidates
</a:t>
            </a:r>
            <a:r>
              <a:rPr b="1"/>
              <a:t>Choosing Among Them
</a:t>
            </a:r>
            <a:r>
              <a:t>Exercise 4 — The Use-Case Portfolio
End of Day 1
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Choosing Among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Score on Four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1. Business value</a:t>
            </a:r>
            <a:r>
              <a:t> — how much of cost / speed / quality / capacity / new capability, and can you put a number on it?</a:t>
            </a:r>
          </a:p>
          <a:p>
            <a:r>
              <a:rPr b="1"/>
              <a:t> 2. Feasibility</a:t>
            </a:r>
            <a:r>
              <a:t> — is the task narrow, well-defined, and language-shaped?</a:t>
            </a:r>
          </a:p>
          <a:p>
            <a:r>
              <a:rPr b="1"/>
              <a:t> 3. Data readiness</a:t>
            </a:r>
            <a:r>
              <a:t> — does the material exist, is it accessible, is it any good?</a:t>
            </a:r>
          </a:p>
          <a:p>
            <a:r>
              <a:rPr b="1"/>
              <a:t> 4. Risk</a:t>
            </a:r>
            <a:r>
              <a:t> — what does a wrong answer cost, and how reversible is it?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5444331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Data readiness is the one that kills projects. It is also the one that gets assessed last, if at all.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Portfolio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Don't pick</a:t>
            </a:r>
            <a:r>
              <a:rPr i="1"/>
              <a:t> the</a:t>
            </a:r>
            <a:r>
              <a:t> use case. Build a portfolio with three shelves:</a:t>
            </a:r>
          </a:p>
          <a:p>
            <a:r>
              <a:rPr b="1"/>
              <a:t> Quick wins</a:t>
            </a:r>
            <a:r>
              <a:t> — 90 days, narrow, low risk, visible.</a:t>
            </a:r>
            <a:r>
              <a:rPr i="1"/>
              <a:t> Purpose: proof, momentum, and permission for the next thing.</a:t>
            </a:r>
          </a:p>
          <a:p>
            <a:r>
              <a:rPr b="1"/>
              <a:t> Strategic bets</a:t>
            </a:r>
            <a:r>
              <a:t> — 6–18 months, real capability, real investment.</a:t>
            </a:r>
            <a:r>
              <a:rPr i="1"/>
              <a:t> Purpose: the actual value. Funded by the credibility the quick wins bought.</a:t>
            </a:r>
          </a:p>
          <a:p>
            <a:r>
              <a:rPr b="1"/>
              <a:t> Refuse, for now</a:t>
            </a:r>
            <a:r>
              <a:t> — write these down and say why.</a:t>
            </a:r>
            <a:r>
              <a:rPr i="1"/>
              <a:t> Purpose: this is how you stop wasting effort, and how you avoid saying no again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Sequencing: Capability, Not Just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Each project should leave behind something the next one reuses:</a:t>
            </a:r>
          </a:p>
          <a:p>
            <a:r>
              <a:t> Access to a document set that is now clean and governed</a:t>
            </a:r>
          </a:p>
          <a:p>
            <a:r>
              <a:t> An approval path someone has already walked</a:t>
            </a:r>
          </a:p>
          <a:p>
            <a:r>
              <a:t> A vendor relationship that survived a real deployment</a:t>
            </a:r>
          </a:p>
          <a:p>
            <a:r>
              <a:t> People who have now done this once</a:t>
            </a:r>
          </a:p>
          <a:p>
            <a:r>
              <a:t> A measurement approach the finance function accepts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52919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If project two is as hard as project one, you built a demo, not a capability.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Anti-Patterns: How Use Cases Go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The solution looking for a problem</a:t>
            </a:r>
            <a:r>
              <a:t> — "we should use AI for something"</a:t>
            </a:r>
          </a:p>
          <a:p>
            <a:r>
              <a:rPr b="1"/>
              <a:t> The unownable project</a:t>
            </a:r>
            <a:r>
              <a:t> — impressive, and no single person's job gets better</a:t>
            </a:r>
          </a:p>
          <a:p>
            <a:r>
              <a:rPr b="1"/>
              <a:t> The demo that can't scale</a:t>
            </a:r>
            <a:r>
              <a:t> — works on ten documents, dies on ten thousand</a:t>
            </a:r>
          </a:p>
          <a:p>
            <a:r>
              <a:rPr b="1"/>
              <a:t> The 100%-accuracy requirement</a:t>
            </a:r>
            <a:r>
              <a:t> — a task where any error is unacceptable and no human review is planned</a:t>
            </a:r>
          </a:p>
          <a:p>
            <a:r>
              <a:rPr b="1"/>
              <a:t> Boiling the ocean</a:t>
            </a:r>
            <a:r>
              <a:t> — "an assistant that knows everything about our organization"</a:t>
            </a:r>
          </a:p>
          <a:p>
            <a:r>
              <a:rPr b="1"/>
              <a:t> Tomorrow's free feature</a:t>
            </a:r>
            <a:r>
              <a:t> — six months of building something your existing software vendor will ship as a checkbox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Six Questions That Kill a Bad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Before anything gets funded:</a:t>
            </a:r>
          </a:p>
          <a:p>
            <a:r>
              <a:rPr b="1"/>
              <a:t> Whose job gets measurably better?</a:t>
            </a:r>
            <a:r>
              <a:t> (If nobody's — stop.)</a:t>
            </a:r>
          </a:p>
          <a:p>
            <a:r>
              <a:rPr b="1"/>
              <a:t> What does this cost us today?</a:t>
            </a:r>
            <a:r>
              <a:t> (If unknown — go find out first.)</a:t>
            </a:r>
          </a:p>
          <a:p>
            <a:r>
              <a:rPr b="1"/>
              <a:t> What happens when it's wrong, and who catches it?</a:t>
            </a:r>
          </a:p>
          <a:p>
            <a:r>
              <a:rPr b="1"/>
              <a:t> Does the data exist, and can we actually get to it?</a:t>
            </a:r>
          </a:p>
          <a:p>
            <a:r>
              <a:rPr b="1"/>
              <a:t> How will we know in 90 days whether it worked?</a:t>
            </a:r>
          </a:p>
          <a:p>
            <a:r>
              <a:rPr b="1"/>
              <a:t> What would make us stop?</a:t>
            </a:r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5749131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If a proposal cannot answer all six, it isn't ready. That's not a rejection — it's a to-do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pPr>
              <a:defRPr sz="3200"/>
            </a:pPr>
            <a:r>
              <a:t>Finding Candidates
Choosing Among Them
</a:t>
            </a:r>
            <a:r>
              <a:rPr b="1"/>
              <a:t>Exercise 4 — The Use-Case Portfolio
</a:t>
            </a:r>
            <a:r>
              <a:t>End of Day 1
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Exercise 4 — The Use-Case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— The Use-Case Portfolio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Format:</a:t>
            </a:r>
            <a:r>
              <a:t> teams of 3–4, 60 minutes. This is the biggest exercise of Day 1.</a:t>
            </a:r>
          </a:p>
          <a:p>
            <a:r>
              <a:rPr b="1"/>
              <a:t> Part 1 — Generate (20 min).</a:t>
            </a:r>
            <a:r>
              <a:t> Using the friction audit, the retyping test, the bottleneck question, and the "no" list, produce</a:t>
            </a:r>
            <a:r>
              <a:rPr b="1"/>
              <a:t> at least twelve</a:t>
            </a:r>
            <a:r>
              <a:t> candidates from your own organization. Quantity first. No filtering yet.</a:t>
            </a:r>
          </a:p>
          <a:p>
            <a:r>
              <a:rPr b="1"/>
              <a:t> Part 2 — Score (20 min).</a:t>
            </a:r>
            <a:r>
              <a:t> Score each on value, feasibility, data readiness, and risk. Place them on the grid.</a:t>
            </a:r>
          </a:p>
          <a:p>
            <a:r>
              <a:rPr b="1"/>
              <a:t> Part 3 — Choose (20 min).</a:t>
            </a:r>
            <a:r>
              <a:t> Pick one</a:t>
            </a:r>
            <a:r>
              <a:rPr b="1"/>
              <a:t> quick win</a:t>
            </a:r>
            <a:r>
              <a:t> and one</a:t>
            </a:r>
            <a:r>
              <a:rPr b="1"/>
              <a:t> strategic bet</a:t>
            </a:r>
            <a:r>
              <a:t> . Run both through the six questions. Prepare a two-minute defense of each.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— Debrief and Vote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Each team presents its quick win and its strategic bet. Two minutes each.</a:t>
            </a:r>
          </a:p>
          <a:p>
            <a:r>
              <a:t> The room challenges with the six questions.</a:t>
            </a:r>
          </a:p>
          <a:p>
            <a:r>
              <a:t> Then the room votes:</a:t>
            </a:r>
            <a:r>
              <a:rPr b="1"/>
              <a:t> which quick win would you fund on Monday?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— Carry This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Your scored portfolio is an input to the rest of the course:</a:t>
            </a:r>
          </a:p>
          <a:p>
            <a:r>
              <a:rPr b="1"/>
              <a:t> Module 5</a:t>
            </a:r>
            <a:r>
              <a:t> — does your maturity level support your strategic bet?</a:t>
            </a:r>
          </a:p>
          <a:p>
            <a:r>
              <a:rPr b="1"/>
              <a:t> Module 6</a:t>
            </a:r>
            <a:r>
              <a:t> — who resists this, and what do you say to them?</a:t>
            </a:r>
          </a:p>
          <a:p>
            <a:r>
              <a:rPr b="1"/>
              <a:t> Module 7</a:t>
            </a:r>
            <a:r>
              <a:t> — what controls does it need?</a:t>
            </a:r>
          </a:p>
          <a:p>
            <a:r>
              <a:rPr b="1"/>
              <a:t> Module 8</a:t>
            </a:r>
            <a:r>
              <a:t> — what is the business case, and can it be done no-code?</a:t>
            </a:r>
          </a:p>
          <a:p>
            <a:r>
              <a:rPr b="1"/>
              <a:t> Capstone</a:t>
            </a:r>
            <a:r>
              <a:t> — pitch it and defend it</a:t>
            </a:r>
          </a:p>
          <a:p>
            <a:r>
              <a:t> Keep the sheet. Bring it tomorrow.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4 —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Value comes from cost, speed, quality,</a:t>
            </a:r>
            <a:r>
              <a:rPr b="1"/>
              <a:t> capacity</a:t>
            </a:r>
            <a:r>
              <a:t> , and new capability — and capacity is the one you're undercounting</a:t>
            </a:r>
          </a:p>
          <a:p>
            <a:r>
              <a:t> Eight patterns cover nearly every real use case</a:t>
            </a:r>
          </a:p>
          <a:p>
            <a:r>
              <a:t> Find candidates by auditing friction, following the retyping, hunting the bottleneck, and revisiting your "no" list</a:t>
            </a:r>
          </a:p>
          <a:p>
            <a:r>
              <a:t> Score on value, feasibility,</a:t>
            </a:r>
            <a:r>
              <a:rPr b="1"/>
              <a:t> data readiness</a:t>
            </a:r>
            <a:r>
              <a:t> , and risk — data readiness kills more projects than anything else</a:t>
            </a:r>
          </a:p>
          <a:p>
            <a:r>
              <a:t> Build a portfolio: quick wins, strategic bets, and a documented "not now"</a:t>
            </a:r>
          </a:p>
          <a:p>
            <a:r>
              <a:t> Six questions kill a bad use case before it costs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pPr>
              <a:defRPr sz="3200"/>
            </a:pPr>
            <a:r>
              <a:t>Finding Candidates
Choosing Among Them
Exercise 4 — The Use-Case Portfolio
</a:t>
            </a:r>
            <a:r>
              <a:rPr b="1"/>
              <a:t>End of Day 1
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End of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Day 1 — 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In three words:</a:t>
            </a:r>
            <a:r>
              <a:t> what surprised you?</a:t>
            </a:r>
          </a:p>
          <a:p>
            <a:r>
              <a:rPr b="1"/>
              <a:t> One thing</a:t>
            </a:r>
            <a:r>
              <a:t> you now believe that you didn't at 9am.</a:t>
            </a:r>
          </a:p>
          <a:p>
            <a:r>
              <a:rPr b="1"/>
              <a:t> One thing</a:t>
            </a:r>
            <a:r>
              <a:t> you will try before tomorrow morning.</a:t>
            </a:r>
          </a:p>
          <a:p>
            <a:r>
              <a:rPr i="1"/>
              <a:t> Parking lot: anything unanswered goes on the board now, and gets answered tomorrow.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378298</TotalTime>
  <Words>2985</Words>
  <Application>Microsoft Macintosh PowerPoint</Application>
  <PresentationFormat>Custom</PresentationFormat>
  <Paragraphs>226</Paragraphs>
  <Slides>27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Finding and Prioritizing Business Value</vt:lpstr>
      <vt:lpstr>The Question This Module Answers</vt:lpstr>
      <vt:lpstr>Where AI Value Actually Comes From</vt:lpstr>
      <vt:lpstr>The Category Everyone Underestimates: Capacity</vt:lpstr>
      <vt:lpstr>The Patterns That Repeat Everywhere</vt:lpstr>
      <vt:lpstr>Document Understanding and Knowledge Search</vt:lpstr>
      <vt:lpstr>Classification, Routing, and Extraction</vt:lpstr>
      <vt:lpstr>Quality and Consistency Review</vt:lpstr>
      <vt:lpstr>Use Cases in Regulated and Safety-Critical Environments</vt:lpstr>
      <vt:lpstr>Finding Candidates</vt:lpstr>
      <vt:lpstr>Technique 1 — The Friction Audit</vt:lpstr>
      <vt:lpstr>Technique 2 — Follow the Retyping</vt:lpstr>
      <vt:lpstr>Technique 3 — Find the Queue and the Bottleneck</vt:lpstr>
      <vt:lpstr>Technique 4 — Revisit Your "No" List</vt:lpstr>
      <vt:lpstr>Choosing Among Them</vt:lpstr>
      <vt:lpstr>Score on Four Dimensions</vt:lpstr>
      <vt:lpstr>The Portfolio View</vt:lpstr>
      <vt:lpstr>Sequencing: Capability, Not Just Projects</vt:lpstr>
      <vt:lpstr>Anti-Patterns: How Use Cases Go Wrong</vt:lpstr>
      <vt:lpstr>The Six Questions That Kill a Bad Use Case</vt:lpstr>
      <vt:lpstr>Exercise 4 — The Use-Case Portfolio</vt:lpstr>
      <vt:lpstr>Exercise 4 — The Use-Case Portfolio</vt:lpstr>
      <vt:lpstr>Exercise 4 — Debrief and Vote</vt:lpstr>
      <vt:lpstr>Exercise 4 — Carry This Forward</vt:lpstr>
      <vt:lpstr>Module 4 — Takeaways</vt:lpstr>
      <vt:lpstr>End of Day 1</vt:lpstr>
      <vt:lpstr>Day 1 — Close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2026-09-22T03:02:08Z</dcterms:modified>
</cp:coreProperties>
</file>