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Open by clearing the parking lot from Day 1 before starting. It shows the board is real.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Avoid quoting a specific survey percentage — the numbers vary wildly and get outdated. The pattern is the point and nobody in the room will dispute it.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test is a keeper. Run it live on any strategy statement someone in the room offers.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Ask the room to place their organization before you explain the stages. Then explain. Then ask again. The answer usually moves down.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Almost every organization is further into stage 1 than leadership realizes, because stage 1 is happening on personal accounts and nobody's telling you.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most important slide in the module for most audiences. Ask how many pilots their organization has run and how many are in production. The silence is instructive.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phrase "AI systems are products, not projects" is worth putting on a slide of its own if this audience is project-organized. Most engineering organizations are.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Say the honest note out loud. It relieves enormous pressure in the room and it buys you credibility for everything else.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Use these two questions in Exercise 5. They are more diagnostic than any maturity questionnaire.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Question 2 is the one that stalls projects for months. Question 4 is the one that kills them after the money is spent. Both deserve a hard answer</a:t>
            </a:r>
            <a:r>
              <a:rPr i="1"/>
              <a:t> before</a:t>
            </a:r>
            <a:r>
              <a:t> funding.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Frame this positively — it reliably turns a disappointing project outcome into a valuable one, and leaders need that framing ready in advance.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The baseline point is the most commonly skipped step in the entire lifecycle and the most expensive to skip. It comes back in Module 8.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Emphasize the trajectory rather than the choice. The right answer changes as you move through the stages, and pretending otherwise causes reorganizations.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Ask: for your Day 1 quick win, who is the use-case owner? If nobody can be named, that is the finding.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Licence counts are the classic trap: procurement loves them, they prove nothing, and they collapse the moment someone asks what changed.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Present this as a shape to adapt, not a plan to copy. The pattern that matters is:</a:t>
            </a:r>
            <a:r>
              <a:rPr i="1"/>
              <a:t> credibility first, foundations second, ambition third.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Worksheet:</a:t>
            </a:r>
            <a:r>
              <a:rPr>
                <a:latin typeface="Courier New"/>
              </a:rPr>
              <a:t> exercises/05-maturity-assessment.md</a:t>
            </a:r>
            <a:r>
              <a:t> . Part 4 is the real exercise. Disagreement between people in the same organization about their own maturity is itself the finding.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That last question is the point of the whole module. Most teams find their ambition outruns their foundations by a stage and a half.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3200"/>
            </a:pPr>
            <a:r>
              <a:t>The Stages of AI Success</a:t>
            </a:r>
          </a:p>
          <a:p>
            <a:r>
              <a:t>The Foundations That Set Your Ceiling</a:t>
            </a:r>
          </a:p>
          <a:p>
            <a:r>
              <a:t>Organizing the Capability</a:t>
            </a:r>
          </a:p>
          <a:p>
            <a:r>
              <a:t>Exercise 5 — Honest Maturity Assessment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AI Strategy and the Stages of AI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Day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Yesterday: what it is, how to use it, where it breaks, where the value is.</a:t>
            </a:r>
          </a:p>
          <a:p>
            <a:r>
              <a:t> Today:</a:t>
            </a:r>
            <a:r>
              <a:rPr b="1"/>
              <a:t> how to actually get an organization to do it.</a:t>
            </a:r>
          </a:p>
          <a:p>
            <a:r>
              <a:t> That is a different problem, and a harder one. The technology is the easy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Uncomfortable Statistic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Most organizations that start AI projects have very little in production to show for it.</a:t>
            </a:r>
          </a:p>
          <a:p>
            <a:r>
              <a:t> The technology worked. The pilots succeeded. Nothing shipped.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5310745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failure is almost never technical. It is strategic, organizational, and operational — which is to say, it is yours.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First: The Direction of the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Wrong:</a:t>
            </a:r>
            <a:r>
              <a:t> </a:t>
            </a:r>
            <a:r>
              <a:rPr i="1"/>
              <a:t> "We need an AI strategy."</a:t>
            </a:r>
          </a:p>
          <a:p>
            <a:r>
              <a:rPr b="1"/>
              <a:t> Right:</a:t>
            </a:r>
            <a:r>
              <a:t> </a:t>
            </a:r>
            <a:r>
              <a:rPr i="1"/>
              <a:t> "We have a strategy. Where does AI make it achievable?"</a:t>
            </a:r>
          </a:p>
          <a:p>
            <a:r>
              <a:t> AI is not a destination. It is a means, and it is one of several. Sometimes the right answer is hiring someone, fixing a process, or buying different software.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0275" y="4669415"/>
            <a:ext cx="7507224" cy="2633472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If your AI strategy would still make sense with the words "AI" removed and something else substituted, it's a business strategy. Good. If it collapses, it was a technology shopping 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Questions Any AI Strategy Must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What business objective does this serve?</a:t>
            </a:r>
            <a:r>
              <a:t> Named, measurable, already on the plan.</a:t>
            </a:r>
          </a:p>
          <a:p>
            <a:r>
              <a:rPr b="1"/>
              <a:t> What must be true for it to work?</a:t>
            </a:r>
            <a:r>
              <a:t> Data, skills, access, governance, sponsorship, budget.</a:t>
            </a:r>
          </a:p>
          <a:p>
            <a:r>
              <a:rPr b="1"/>
              <a:t> How will we know, and when will we decide?</a:t>
            </a:r>
            <a:r>
              <a:t> A date and a criterion, before you start.</a:t>
            </a:r>
          </a:p>
          <a:p>
            <a:r>
              <a:t> If any of the three is missing, you have an aspiration, not a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3200"/>
            </a:pPr>
            <a:r>
              <a:rPr b="1"/>
              <a:t>The Stages of AI Success
</a:t>
            </a:r>
            <a:r>
              <a:t>The Foundations That Set Your Ceiling
Organizing the Capability
Exercise 5 — Honest Maturity Assessment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The Stages of AI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Stages, and the Trap in 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You cannot skip stages.</a:t>
            </a:r>
            <a:r>
              <a:rPr dirty="0"/>
              <a:t> You can move through them faster, and organizations that try to jump from 1 to 4 land back at 1 with less credibility.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479120"/>
              </p:ext>
            </p:extLst>
          </p:nvPr>
        </p:nvGraphicFramePr>
        <p:xfrm>
          <a:off x="237744" y="1100930"/>
          <a:ext cx="89154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670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What's happening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trap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1. Experimenting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Individuals trying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Never becomes organizational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2. Piloting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Sanctioned projects, small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Pilot purgatory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3. Operationalizing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First things running for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Ownership vacuum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4.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Repeatable, multiple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Fragmentation, shadow sprawl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5. Transforming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Processes redesigned around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Complacency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 — Experimenting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What it looks like:</a:t>
            </a:r>
            <a:r>
              <a:t> individuals using AI tools on their own initiative. Enthusiasm in pockets. Usually invisible to leadership. Often against policy.</a:t>
            </a:r>
          </a:p>
          <a:p>
            <a:r>
              <a:rPr b="1"/>
              <a:t> Why it matters:</a:t>
            </a:r>
            <a:r>
              <a:t> this is where your real early adopters are. They are already doing the work.</a:t>
            </a:r>
          </a:p>
          <a:p>
            <a:r>
              <a:rPr b="1"/>
              <a:t> The trap:</a:t>
            </a:r>
            <a:r>
              <a:t> it never becomes organizational. Three people get very good at this and nothing changes.</a:t>
            </a:r>
          </a:p>
          <a:p>
            <a:r>
              <a:rPr b="1"/>
              <a:t> How to move on:</a:t>
            </a:r>
            <a:r>
              <a:t> find them. Sanction it. Give them a legitimate tool and a forum. Ask them what they've learned, publicly.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 — Piloting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What it looks like:</a:t>
            </a:r>
            <a:r>
              <a:t> funded projects with a defined scope. A vendor, maybe. A steering group. Slides.</a:t>
            </a:r>
          </a:p>
          <a:p>
            <a:r>
              <a:rPr b="1"/>
              <a:t> The trap: pilot purgatory.</a:t>
            </a:r>
            <a:r>
              <a:t> Pilots succeed, get presented, get applauded, and never go to production. Then another pilot starts.</a:t>
            </a:r>
          </a:p>
          <a:p>
            <a:r>
              <a:rPr b="1"/>
              <a:t> Why it happens:</a:t>
            </a:r>
          </a:p>
          <a:p>
            <a:r>
              <a:t> No production owner was ever named</a:t>
            </a:r>
          </a:p>
          <a:p>
            <a:r>
              <a:t> Success criteria were "learn about AI"</a:t>
            </a:r>
          </a:p>
          <a:p>
            <a:r>
              <a:t> The path from pilot to production was never mapped</a:t>
            </a:r>
          </a:p>
          <a:p>
            <a:r>
              <a:t> The pilot was built in a way that cannot be operated</a:t>
            </a:r>
          </a:p>
          <a:p>
            <a:r>
              <a:t> Nobody's budget carries the running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Escaping Pilot Purgatory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Decide these</a:t>
            </a:r>
            <a:r>
              <a:rPr b="1"/>
              <a:t> before</a:t>
            </a:r>
            <a:r>
              <a:t> the pilot starts, not after:</a:t>
            </a:r>
          </a:p>
          <a:p>
            <a:r>
              <a:rPr b="1"/>
              <a:t> Who owns it in production</a:t>
            </a:r>
            <a:r>
              <a:t> — a named person whose job includes running it</a:t>
            </a:r>
          </a:p>
          <a:p>
            <a:r>
              <a:rPr b="1"/>
              <a:t> Which budget pays</a:t>
            </a:r>
            <a:r>
              <a:t> for it in year two</a:t>
            </a:r>
          </a:p>
          <a:p>
            <a:r>
              <a:rPr b="1"/>
              <a:t> What "it worked" means</a:t>
            </a:r>
            <a:r>
              <a:t> — a number, agreed with the people who'll be measured</a:t>
            </a:r>
          </a:p>
          <a:p>
            <a:r>
              <a:rPr b="1"/>
              <a:t> What happens if it works</a:t>
            </a:r>
            <a:r>
              <a:t> — the actual next step, with a date</a:t>
            </a:r>
          </a:p>
          <a:p>
            <a:r>
              <a:rPr b="1"/>
              <a:t> What happens if it doesn't</a:t>
            </a:r>
            <a:r>
              <a:t> — the kill criteria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5749131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pilot without a defined path to production is a demonstration. Call it that, budget accordingly, and stop expecting it to transform anything.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 — Operationalizing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What it looks like:</a:t>
            </a:r>
            <a:r>
              <a:t> something real is running. Actual users depend on it. It breaks sometimes.</a:t>
            </a:r>
          </a:p>
          <a:p>
            <a:r>
              <a:rPr b="1"/>
              <a:t> What you discover here:</a:t>
            </a:r>
            <a:r>
              <a:t> all the things a pilot didn't need — monitoring, support, retraining users, handling the edge cases, updating documents, paying the bill, answering "why did it say that?"</a:t>
            </a:r>
          </a:p>
          <a:p>
            <a:r>
              <a:rPr b="1"/>
              <a:t> The trap: the ownership vacuum.</a:t>
            </a:r>
            <a:r>
              <a:t> The project team disbanded. The line organization doesn't consider it theirs. It degrades quietly.</a:t>
            </a:r>
          </a:p>
          <a:p>
            <a:r>
              <a:rPr b="1"/>
              <a:t> How to move on:</a:t>
            </a:r>
            <a:r>
              <a:t> treat it as a product, with an owner, a budget line, and a lifecycle — not a project that finished.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 —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What it looks like:</a:t>
            </a:r>
            <a:r>
              <a:t> several things running across multiple areas. Patterns repeat. Second projects are cheaper than first ones.</a:t>
            </a:r>
          </a:p>
          <a:p>
            <a:r>
              <a:rPr b="1"/>
              <a:t> The trap: fragmentation.</a:t>
            </a:r>
            <a:r>
              <a:t> Four departments buy four tools, build four assistants over four copies of overlapping documents, with four sets of rules and no shared oversight.</a:t>
            </a:r>
          </a:p>
          <a:p>
            <a:r>
              <a:rPr b="1"/>
              <a:t> How to move on:</a:t>
            </a:r>
            <a:r>
              <a:t> shared foundations — one governance framework, a common approach to data and access, a tool inventory, reusable patterns. Federate the</a:t>
            </a:r>
            <a:r>
              <a:rPr i="1"/>
              <a:t> use cases</a:t>
            </a:r>
            <a:r>
              <a:t> , centralize the</a:t>
            </a:r>
            <a:r>
              <a:rPr i="1"/>
              <a:t> plumbing</a:t>
            </a:r>
            <a:r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 — Transforming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What it looks like:</a:t>
            </a:r>
            <a:r>
              <a:t> processes redesigned around what is now possible, rather than AI bolted onto processes designed for a different constraint.</a:t>
            </a:r>
          </a:p>
          <a:p>
            <a:r>
              <a:t> This is where the large returns are, and it is genuinely rare.</a:t>
            </a:r>
          </a:p>
          <a:p>
            <a:r>
              <a:rPr b="1"/>
              <a:t> The honest note:</a:t>
            </a:r>
            <a:r>
              <a:t> almost nobody is here in 2026. Anyone claiming to be is usually at stage 3 with better marketing.</a:t>
            </a:r>
          </a:p>
          <a:p>
            <a:r>
              <a:rPr b="1"/>
              <a:t> The trap:</a:t>
            </a:r>
            <a:r>
              <a:t> believing you have arrived, and stopping.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Are You, Honestly?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Two tests that cut through self-assessment: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If the answer to the first is nothing, you are at stage 1 or 2 regardless of how much has been spent.</a:t>
            </a:r>
          </a:p>
          <a:p>
            <a:r>
              <a:rPr dirty="0"/>
              <a:t> If the answer to the second is "everything," you have a person, not a capability.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17550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"Name something running in production today that a real user depends on."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" y="657013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"If your most AI-enthusiastic person left tomorrow, what would stop?"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3200"/>
            </a:pPr>
            <a:r>
              <a:t>The Stages of AI Success
</a:t>
            </a:r>
            <a:r>
              <a:rPr b="1"/>
              <a:t>The Foundations That Set Your Ceiling
</a:t>
            </a:r>
            <a:r>
              <a:t>Organizing the Capability
Exercise 5 — Honest Maturity Assessment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pPr>
              <a:defRPr sz="2000"/>
            </a:pPr>
            <a:r>
              <a:rPr sz="4200" b="1" i="0">
                <a:latin typeface="Times New Roman"/>
              </a:rPr>
              <a:t>The Foundations That Set Your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Data Determines Your Maximum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can buy a model. You cannot buy your own data in usable condition.</a:t>
            </a:r>
          </a:p>
          <a:p>
            <a:r>
              <a:t> Four questions, in order:</a:t>
            </a:r>
          </a:p>
          <a:p>
            <a:r>
              <a:rPr b="1"/>
              <a:t> Does it exist?</a:t>
            </a:r>
            <a:r>
              <a:t> Written down, or in someone's head?</a:t>
            </a:r>
          </a:p>
          <a:p>
            <a:r>
              <a:rPr b="1"/>
              <a:t> Can you get to it?</a:t>
            </a:r>
            <a:r>
              <a:t> Technically, and permission-wise?</a:t>
            </a:r>
          </a:p>
          <a:p>
            <a:r>
              <a:rPr b="1"/>
              <a:t> Is it any good?</a:t>
            </a:r>
            <a:r>
              <a:t> Current, consistent, correct?</a:t>
            </a:r>
          </a:p>
          <a:p>
            <a:r>
              <a:rPr b="1"/>
              <a:t> Are you allowed to use it that way?</a:t>
            </a:r>
            <a:r>
              <a:t> Classification, contracts, privacy.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Awkward Truth About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 AI assistant over your documents will faithfully surface:</a:t>
            </a:r>
          </a:p>
          <a:p>
            <a:r>
              <a:t> The procedure that contradicts the other procedure</a:t>
            </a:r>
          </a:p>
          <a:p>
            <a:r>
              <a:t> The standard that was superseded and never withdrawn</a:t>
            </a:r>
          </a:p>
          <a:p>
            <a:r>
              <a:t> The three versions of the same document, all in use</a:t>
            </a:r>
          </a:p>
          <a:p>
            <a:r>
              <a:t> The knowledge that only exists in one person's inbox</a:t>
            </a:r>
          </a:p>
          <a:p>
            <a:r>
              <a:rPr b="1"/>
              <a:t> This is not an AI problem. It is a finding.</a:t>
            </a:r>
            <a:r>
              <a:t> And it is usually worth more than the project that surfaced it.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5368131"/>
            <a:ext cx="7507224" cy="131673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Many organizations discover their real bottleneck was never AI readiness. It was document governance.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Readiness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Before a strategic bet, you need honest answers on:</a:t>
            </a:r>
          </a:p>
          <a:p>
            <a:r>
              <a:rPr b="1"/>
              <a:t> Data</a:t>
            </a:r>
            <a:r>
              <a:t> — exists, accessible, current, permitted</a:t>
            </a:r>
          </a:p>
          <a:p>
            <a:r>
              <a:rPr b="1"/>
              <a:t> Access</a:t>
            </a:r>
            <a:r>
              <a:t> — can the tool reach the systems, under what identity</a:t>
            </a:r>
          </a:p>
          <a:p>
            <a:r>
              <a:rPr b="1"/>
              <a:t> Skills</a:t>
            </a:r>
            <a:r>
              <a:t> — who configures, who operates, who reviews</a:t>
            </a:r>
          </a:p>
          <a:p>
            <a:r>
              <a:rPr b="1"/>
              <a:t> Governance</a:t>
            </a:r>
            <a:r>
              <a:t> — policy, approval path, risk proportionality</a:t>
            </a:r>
            <a:r>
              <a:rPr i="1"/>
              <a:t> (Module 7)</a:t>
            </a:r>
          </a:p>
          <a:p>
            <a:r>
              <a:rPr b="1"/>
              <a:t> Sponsorship</a:t>
            </a:r>
            <a:r>
              <a:t> — a leader whose objectives depend on it succeeding</a:t>
            </a:r>
          </a:p>
          <a:p>
            <a:r>
              <a:rPr b="1"/>
              <a:t> Budget</a:t>
            </a:r>
            <a:r>
              <a:t> — including year two, and the cost of the humans in the loop</a:t>
            </a:r>
          </a:p>
          <a:p>
            <a:r>
              <a:rPr b="1"/>
              <a:t> Measurement</a:t>
            </a:r>
            <a:r>
              <a:t> — a baseline, taken</a:t>
            </a:r>
            <a:r>
              <a:rPr i="1"/>
              <a:t> before</a:t>
            </a:r>
            <a:r>
              <a:t> you start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000" y="6712267"/>
            <a:ext cx="7507224" cy="131673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Take the baseline first. You cannot prove improvement against a number you never recorded.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3200"/>
            </a:pPr>
            <a:r>
              <a:t>The Stages of AI Success
The Foundations That Set Your Ceiling
</a:t>
            </a:r>
            <a:r>
              <a:rPr b="1"/>
              <a:t>Organizing the Capability
</a:t>
            </a:r>
            <a:r>
              <a:t>Exercise 5 — Honest Maturity Assessment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Organizing the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Centralized, Federated, or Embedded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Centralized</a:t>
            </a:r>
            <a:r>
              <a:t> — one team does AI for everyone.</a:t>
            </a:r>
            <a:r>
              <a:rPr i="1"/>
              <a:t> Consistent, governable, and a bottleneck. Loses domain knowledge.</a:t>
            </a:r>
          </a:p>
          <a:p>
            <a:r>
              <a:rPr b="1"/>
              <a:t> Federated</a:t>
            </a:r>
            <a:r>
              <a:t> — a small core sets standards and enables; the business units build.</a:t>
            </a:r>
            <a:r>
              <a:rPr i="1"/>
              <a:t> Best of both, hardest to run. Requires real authority in the core.</a:t>
            </a:r>
          </a:p>
          <a:p>
            <a:r>
              <a:rPr b="1"/>
              <a:t> Embedded</a:t>
            </a:r>
            <a:r>
              <a:t> — every unit does its own.</a:t>
            </a:r>
            <a:r>
              <a:rPr i="1"/>
              <a:t> Fast and close to the problem. Fragments quickly.</a:t>
            </a:r>
          </a:p>
          <a:p>
            <a:r>
              <a:rPr b="1"/>
              <a:t> Most organizations should aim at federated</a:t>
            </a:r>
            <a:r>
              <a:t> — but you usually</a:t>
            </a:r>
            <a:r>
              <a:rPr i="1"/>
              <a:t> start</a:t>
            </a:r>
            <a:r>
              <a:t> centralized, because at stage 2 you don't yet have standards worth federating.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You Actually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Not a data science department. Usually:</a:t>
            </a:r>
          </a:p>
          <a:p>
            <a:r>
              <a:rPr b="1"/>
              <a:t> An executive sponsor</a:t>
            </a:r>
            <a:r>
              <a:t> — with budget and the authority to remove obstacles</a:t>
            </a:r>
          </a:p>
          <a:p>
            <a:r>
              <a:rPr b="1"/>
              <a:t> A capability lead</a:t>
            </a:r>
            <a:r>
              <a:t> — owns standards, tooling, and the inventory</a:t>
            </a:r>
          </a:p>
          <a:p>
            <a:r>
              <a:rPr b="1"/>
              <a:t> Use-case owners</a:t>
            </a:r>
            <a:r>
              <a:t> — line managers who own the outcome, not the technology</a:t>
            </a:r>
          </a:p>
          <a:p>
            <a:r>
              <a:rPr b="1"/>
              <a:t> Champions</a:t>
            </a:r>
            <a:r>
              <a:t> — the enthusiasts from stage 1, given a legitimate role</a:t>
            </a:r>
          </a:p>
          <a:p>
            <a:r>
              <a:rPr b="1"/>
              <a:t> A governance partner</a:t>
            </a:r>
            <a:r>
              <a:t> — risk, legal, or compliance, involved early rather than as a gate at the end</a:t>
            </a:r>
          </a:p>
          <a:p>
            <a:r>
              <a:rPr b="1"/>
              <a:t> The most common missing role:</a:t>
            </a:r>
            <a:r>
              <a:t> the use-case owner. Technology without an accountable business owner does not survive contact with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 the Business, Not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Vanity metrics:</a:t>
            </a:r>
            <a:r>
              <a:t> number of users with a licence, number of prompts, number of pilots, "engagement," tokens consumed.</a:t>
            </a:r>
          </a:p>
          <a:p>
            <a:r>
              <a:rPr b="1"/>
              <a:t> Real metrics:</a:t>
            </a:r>
            <a:r>
              <a:t> hours returned to a named team, cycle time for a specific process, error or rework rate, backlog cleared, decisions made faster, work that now happens which previously didn't.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0275" y="5825331"/>
            <a:ext cx="7507224" cy="175564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If your AI dashboard would look identical whether or not the business improved, it is measuring the wrong thing.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Roadmap: Sequence Capability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defensible 18-month shape:</a:t>
            </a:r>
          </a:p>
          <a:p>
            <a:r>
              <a:rPr b="1"/>
              <a:t> Months 0–3</a:t>
            </a:r>
            <a:r>
              <a:t> — sanction tools, enable the enthusiasts, baseline a process, one quick win in flight</a:t>
            </a:r>
          </a:p>
          <a:p>
            <a:r>
              <a:rPr b="1"/>
              <a:t> Months 3–6</a:t>
            </a:r>
            <a:r>
              <a:t> — quick win in production with a named owner. Governance framework written. Second use case chosen using the first one's lessons.</a:t>
            </a:r>
          </a:p>
          <a:p>
            <a:r>
              <a:rPr b="1"/>
              <a:t> Months 6–12</a:t>
            </a:r>
            <a:r>
              <a:t> — strategic bet begins on foundations the quick win already built. Skills program running. Inventory maintained.</a:t>
            </a:r>
          </a:p>
          <a:p>
            <a:r>
              <a:rPr b="1"/>
              <a:t> Months 12–18</a:t>
            </a:r>
            <a:r>
              <a:t> — repeatable pattern. New use cases cost a fraction of the first. Now you can talk about redesigning a process.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>
              <a:defRPr sz="3200"/>
            </a:pPr>
            <a:r>
              <a:t>The Stages of AI Success
The Foundations That Set Your Ceiling
Organizing the Capability
</a:t>
            </a:r>
            <a:r>
              <a:rPr b="1"/>
              <a:t>Exercise 5 — Honest Maturity Assessment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pPr>
              <a:defRPr sz="2000"/>
            </a:pPr>
            <a:r>
              <a:rPr sz="4200" b="1" i="0">
                <a:latin typeface="Times New Roman"/>
              </a:rPr>
              <a:t>Exercise 5 — Honest Maturity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— Honest Maturity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Format:</a:t>
            </a:r>
            <a:r>
              <a:t> individual (10 min), then table discussion (20 min)</a:t>
            </a:r>
          </a:p>
          <a:p>
            <a:r>
              <a:rPr b="1"/>
              <a:t> Part 1.</a:t>
            </a:r>
            <a:r>
              <a:t> Place your organization on the five stages. Write down the</a:t>
            </a:r>
            <a:r>
              <a:rPr i="1"/>
              <a:t> evidence</a:t>
            </a:r>
            <a:r>
              <a:t> — not the intention.</a:t>
            </a:r>
          </a:p>
          <a:p>
            <a:r>
              <a:rPr b="1"/>
              <a:t> Part 2.</a:t>
            </a:r>
            <a:r>
              <a:t> Answer the two hard questions:</a:t>
            </a:r>
          </a:p>
          <a:p>
            <a:r>
              <a:t> Name something in production a real user depends on.</a:t>
            </a:r>
          </a:p>
          <a:p>
            <a:r>
              <a:t> If your most AI-enthusiastic person left tomorrow, what stops?</a:t>
            </a:r>
          </a:p>
          <a:p>
            <a:r>
              <a:rPr b="1"/>
              <a:t> Part 3.</a:t>
            </a:r>
            <a:r>
              <a:t> Score the readiness checklist: data, access, skills, governance, sponsorship, budget, measurement. Mark each</a:t>
            </a:r>
            <a:r>
              <a:rPr b="1"/>
              <a:t> green / yellow / red.</a:t>
            </a:r>
          </a:p>
          <a:p>
            <a:r>
              <a:rPr b="1"/>
              <a:t> Part 4.</a:t>
            </a:r>
            <a:r>
              <a:t> Compare at your table. Where do people from the same organization disagree —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— Deliverable and 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Deliverable:</a:t>
            </a:r>
            <a:r>
              <a:t> your stage, with evidence, and your top three</a:t>
            </a:r>
            <a:r>
              <a:rPr b="1"/>
              <a:t> red</a:t>
            </a:r>
            <a:r>
              <a:t> foundations.</a:t>
            </a:r>
          </a:p>
          <a:p>
            <a:r>
              <a:t> Those three reds are your actual roadmap for the next six months — more than any use case is.</a:t>
            </a:r>
          </a:p>
          <a:p>
            <a:r>
              <a:rPr b="1"/>
              <a:t> Debrief:</a:t>
            </a:r>
          </a:p>
          <a:p>
            <a:r>
              <a:t> Who moved themselves down after the two questions?</a:t>
            </a:r>
          </a:p>
          <a:p>
            <a:r>
              <a:t> Which foundation was red most often across the room?</a:t>
            </a:r>
          </a:p>
          <a:p>
            <a:r>
              <a:t> Whose strategic bet from yesterday requires a foundation they scored 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—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 serves the business objective. If the strategy collapses without the word "AI," it was a shopping list</a:t>
            </a:r>
          </a:p>
          <a:p>
            <a:r>
              <a:t> Five stages, each with a trap.</a:t>
            </a:r>
            <a:r>
              <a:rPr b="1"/>
              <a:t> You cannot skip them</a:t>
            </a:r>
          </a:p>
          <a:p>
            <a:r>
              <a:t> Pilot purgatory is the default outcome — beat it by naming the production owner, the budget, and the kill criteria</a:t>
            </a:r>
            <a:r>
              <a:rPr b="1"/>
              <a:t> before</a:t>
            </a:r>
            <a:r>
              <a:t> you start</a:t>
            </a:r>
          </a:p>
          <a:p>
            <a:r>
              <a:t> Your data and documents set your ceiling, and AI will expose their condition</a:t>
            </a:r>
          </a:p>
          <a:p>
            <a:r>
              <a:t> Federated is usually the destination; centralized is usually the start</a:t>
            </a:r>
          </a:p>
          <a:p>
            <a:r>
              <a:t> Measure the business, not the technology.</a:t>
            </a:r>
            <a:r>
              <a:rPr b="1"/>
              <a:t> Take the baseline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378294</TotalTime>
  <Words>3021</Words>
  <Application>Microsoft Macintosh PowerPoint</Application>
  <PresentationFormat>Custom</PresentationFormat>
  <Paragraphs>224</Paragraphs>
  <Slides>27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AI Strategy and the Stages of AI Success</vt:lpstr>
      <vt:lpstr>Welcome to Day 2</vt:lpstr>
      <vt:lpstr>The Uncomfortable Statistic</vt:lpstr>
      <vt:lpstr>Strategy First: The Direction of the Sentence</vt:lpstr>
      <vt:lpstr>Three Questions Any AI Strategy Must Answer</vt:lpstr>
      <vt:lpstr>The Stages of AI Success</vt:lpstr>
      <vt:lpstr>Five Stages, and the Trap in Each</vt:lpstr>
      <vt:lpstr>Stage 1 — Experimenting</vt:lpstr>
      <vt:lpstr>Stage 2 — Piloting</vt:lpstr>
      <vt:lpstr>Escaping Pilot Purgatory</vt:lpstr>
      <vt:lpstr>Stage 3 — Operationalizing</vt:lpstr>
      <vt:lpstr>Stage 4 — Scaling</vt:lpstr>
      <vt:lpstr>Stage 5 — Transforming</vt:lpstr>
      <vt:lpstr>Where Are You, Honestly?</vt:lpstr>
      <vt:lpstr>The Foundations That Set Your Ceiling</vt:lpstr>
      <vt:lpstr>Your Data Determines Your Maximum</vt:lpstr>
      <vt:lpstr>The Awkward Truth About Documents</vt:lpstr>
      <vt:lpstr>Readiness Checklist</vt:lpstr>
      <vt:lpstr>Organizing the Capability</vt:lpstr>
      <vt:lpstr>Centralized, Federated, or Embedded</vt:lpstr>
      <vt:lpstr>Roles You Actually Need</vt:lpstr>
      <vt:lpstr>Measure the Business, Not the Technology</vt:lpstr>
      <vt:lpstr>The Roadmap: Sequence Capability</vt:lpstr>
      <vt:lpstr>Exercise 5 — Honest Maturity Assessment</vt:lpstr>
      <vt:lpstr>Exercise 5 — Honest Maturity Assessment</vt:lpstr>
      <vt:lpstr>Exercise 5 — Deliverable and Debrief</vt:lpstr>
      <vt:lpstr>Module 5 — Takeaways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2026-09-23T02:44:56Z</dcterms:modified>
</cp:coreProperties>
</file>