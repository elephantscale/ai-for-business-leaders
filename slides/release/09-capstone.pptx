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51" r:id="rId1"/>
  </p:sldMasterIdLst>
  <p:notesMasterIdLst>
    <p:notesMasterId r:id="rId17"/>
  </p:notesMasterIdLst>
  <p:handoutMasterIdLst>
    <p:handoutMasterId r:id="rId18"/>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372600" cy="8297863"/>
  <p:notesSz cx="7315200" cy="9601200"/>
  <p:defaultTextStyle>
    <a:defPPr>
      <a:defRPr lang="en-US"/>
    </a:defPPr>
    <a:lvl1pPr algn="l" rtl="0" fontAlgn="base">
      <a:spcBef>
        <a:spcPct val="0"/>
      </a:spcBef>
      <a:spcAft>
        <a:spcPct val="0"/>
      </a:spcAft>
      <a:defRPr sz="1000" kern="1200">
        <a:solidFill>
          <a:schemeClr val="tx1"/>
        </a:solidFill>
        <a:latin typeface="Garamond" pitchFamily="18" charset="0"/>
        <a:ea typeface="ＭＳ Ｐゴシック"/>
        <a:cs typeface="ＭＳ Ｐゴシック"/>
      </a:defRPr>
    </a:lvl1pPr>
    <a:lvl2pPr marL="457200" algn="l" rtl="0" fontAlgn="base">
      <a:spcBef>
        <a:spcPct val="0"/>
      </a:spcBef>
      <a:spcAft>
        <a:spcPct val="0"/>
      </a:spcAft>
      <a:defRPr sz="1000" kern="1200">
        <a:solidFill>
          <a:schemeClr val="tx1"/>
        </a:solidFill>
        <a:latin typeface="Garamond" pitchFamily="18" charset="0"/>
        <a:ea typeface="ＭＳ Ｐゴシック"/>
        <a:cs typeface="ＭＳ Ｐゴシック"/>
      </a:defRPr>
    </a:lvl2pPr>
    <a:lvl3pPr marL="914400" algn="l" rtl="0" fontAlgn="base">
      <a:spcBef>
        <a:spcPct val="0"/>
      </a:spcBef>
      <a:spcAft>
        <a:spcPct val="0"/>
      </a:spcAft>
      <a:defRPr sz="1000" kern="1200">
        <a:solidFill>
          <a:schemeClr val="tx1"/>
        </a:solidFill>
        <a:latin typeface="Garamond" pitchFamily="18" charset="0"/>
        <a:ea typeface="ＭＳ Ｐゴシック"/>
        <a:cs typeface="ＭＳ Ｐゴシック"/>
      </a:defRPr>
    </a:lvl3pPr>
    <a:lvl4pPr marL="1371600" algn="l" rtl="0" fontAlgn="base">
      <a:spcBef>
        <a:spcPct val="0"/>
      </a:spcBef>
      <a:spcAft>
        <a:spcPct val="0"/>
      </a:spcAft>
      <a:defRPr sz="1000" kern="1200">
        <a:solidFill>
          <a:schemeClr val="tx1"/>
        </a:solidFill>
        <a:latin typeface="Garamond" pitchFamily="18" charset="0"/>
        <a:ea typeface="ＭＳ Ｐゴシック"/>
        <a:cs typeface="ＭＳ Ｐゴシック"/>
      </a:defRPr>
    </a:lvl4pPr>
    <a:lvl5pPr marL="1828800" algn="l" rtl="0" fontAlgn="base">
      <a:spcBef>
        <a:spcPct val="0"/>
      </a:spcBef>
      <a:spcAft>
        <a:spcPct val="0"/>
      </a:spcAft>
      <a:defRPr sz="1000" kern="1200">
        <a:solidFill>
          <a:schemeClr val="tx1"/>
        </a:solidFill>
        <a:latin typeface="Garamond" pitchFamily="18" charset="0"/>
        <a:ea typeface="ＭＳ Ｐゴシック"/>
        <a:cs typeface="ＭＳ Ｐゴシック"/>
      </a:defRPr>
    </a:lvl5pPr>
    <a:lvl6pPr marL="2286000" algn="l" defTabSz="914400" rtl="0" eaLnBrk="1" latinLnBrk="0" hangingPunct="1">
      <a:defRPr sz="1000" kern="1200">
        <a:solidFill>
          <a:schemeClr val="tx1"/>
        </a:solidFill>
        <a:latin typeface="Garamond" pitchFamily="18" charset="0"/>
        <a:ea typeface="ＭＳ Ｐゴシック"/>
        <a:cs typeface="ＭＳ Ｐゴシック"/>
      </a:defRPr>
    </a:lvl6pPr>
    <a:lvl7pPr marL="2743200" algn="l" defTabSz="914400" rtl="0" eaLnBrk="1" latinLnBrk="0" hangingPunct="1">
      <a:defRPr sz="1000" kern="1200">
        <a:solidFill>
          <a:schemeClr val="tx1"/>
        </a:solidFill>
        <a:latin typeface="Garamond" pitchFamily="18" charset="0"/>
        <a:ea typeface="ＭＳ Ｐゴシック"/>
        <a:cs typeface="ＭＳ Ｐゴシック"/>
      </a:defRPr>
    </a:lvl7pPr>
    <a:lvl8pPr marL="3200400" algn="l" defTabSz="914400" rtl="0" eaLnBrk="1" latinLnBrk="0" hangingPunct="1">
      <a:defRPr sz="1000" kern="1200">
        <a:solidFill>
          <a:schemeClr val="tx1"/>
        </a:solidFill>
        <a:latin typeface="Garamond" pitchFamily="18" charset="0"/>
        <a:ea typeface="ＭＳ Ｐゴシック"/>
        <a:cs typeface="ＭＳ Ｐゴシック"/>
      </a:defRPr>
    </a:lvl8pPr>
    <a:lvl9pPr marL="3657600" algn="l" defTabSz="914400" rtl="0" eaLnBrk="1" latinLnBrk="0" hangingPunct="1">
      <a:defRPr sz="1000" kern="1200">
        <a:solidFill>
          <a:schemeClr val="tx1"/>
        </a:solidFill>
        <a:latin typeface="Garamond" pitchFamily="18" charset="0"/>
        <a:ea typeface="ＭＳ Ｐゴシック"/>
        <a:cs typeface="ＭＳ Ｐゴシック"/>
      </a:defRPr>
    </a:lvl9pPr>
  </p:defaultTextStyle>
  <p:extLst>
    <p:ext uri="{EFAFB233-063F-42B5-8137-9DF3F51BA10A}">
      <p15:sldGuideLst xmlns:p15="http://schemas.microsoft.com/office/powerpoint/2012/main">
        <p15:guide id="1" orient="horz" pos="2614" userDrawn="1">
          <p15:clr>
            <a:srgbClr val="A4A3A4"/>
          </p15:clr>
        </p15:guide>
        <p15:guide id="2" pos="2952" userDrawn="1">
          <p15:clr>
            <a:srgbClr val="A4A3A4"/>
          </p15:clr>
        </p15:guide>
      </p15:sldGuideLst>
    </p:ext>
    <p:ext uri="{2D200454-40CA-4A62-9FC3-DE9A4176ACB9}">
      <p15:notesGuideLst xmlns:p15="http://schemas.microsoft.com/office/powerpoint/2012/main">
        <p15:guide id="1" orient="horz" pos="3024">
          <p15:clr>
            <a:srgbClr val="A4A3A4"/>
          </p15:clr>
        </p15:guide>
        <p15:guide id="2" pos="2308">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y Conlee" initials="MC" lastIdx="1" clrIdx="0"/>
  <p:cmAuthor id="2" name="Mark Kerzner" initials="MK" lastIdx="6" clrIdx="1"/>
  <p:cmAuthor id="3" name="Mary Beth Conlee" initials="MBC" lastIdx="7" clrIdx="2"/>
  <p:cmAuthor id="4" name="Michelle" initials="M" lastIdx="5" clrIdx="3"/>
  <p:cmAuthor id="5" name="Tricia Murphy" initials="TM" lastIdx="4" clrIdx="4"/>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1A1A"/>
    <a:srgbClr val="D6B8EB"/>
    <a:srgbClr val="A77EC7"/>
    <a:srgbClr val="B59BC7"/>
    <a:srgbClr val="C7AAD9"/>
    <a:srgbClr val="C89EDF"/>
    <a:srgbClr val="BD83DF"/>
    <a:srgbClr val="CB89DF"/>
    <a:srgbClr val="CA87D1"/>
    <a:srgbClr val="CF86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959" autoAdjust="0"/>
    <p:restoredTop sz="86027" autoAdjust="0"/>
  </p:normalViewPr>
  <p:slideViewPr>
    <p:cSldViewPr>
      <p:cViewPr varScale="1">
        <p:scale>
          <a:sx n="90" d="100"/>
          <a:sy n="90" d="100"/>
        </p:scale>
        <p:origin x="3312" y="192"/>
      </p:cViewPr>
      <p:guideLst>
        <p:guide orient="horz" pos="2614"/>
        <p:guide pos="29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85" d="100"/>
        <a:sy n="85" d="100"/>
      </p:scale>
      <p:origin x="0" y="0"/>
    </p:cViewPr>
  </p:sorterViewPr>
  <p:notesViewPr>
    <p:cSldViewPr>
      <p:cViewPr>
        <p:scale>
          <a:sx n="80" d="100"/>
          <a:sy n="80" d="100"/>
        </p:scale>
        <p:origin x="3296" y="-56"/>
      </p:cViewPr>
      <p:guideLst>
        <p:guide orient="horz" pos="3024"/>
        <p:guide pos="23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8" name="Rectangle 4"/>
          <p:cNvSpPr>
            <a:spLocks noGrp="1" noChangeArrowheads="1"/>
          </p:cNvSpPr>
          <p:nvPr>
            <p:ph type="ftr" sz="quarter" idx="2"/>
          </p:nvPr>
        </p:nvSpPr>
        <p:spPr bwMode="auto">
          <a:xfrm>
            <a:off x="0" y="9123363"/>
            <a:ext cx="3170238"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defTabSz="965200">
              <a:defRPr sz="1200">
                <a:latin typeface="Times New Roman" pitchFamily="18" charset="0"/>
              </a:defRPr>
            </a:lvl1pPr>
          </a:lstStyle>
          <a:p>
            <a:pPr>
              <a:defRPr/>
            </a:pPr>
            <a:r>
              <a:rPr lang="en-US" dirty="0"/>
              <a:t>Copyright © 2017 Elephant Scale. All rights reserved.</a:t>
            </a:r>
          </a:p>
        </p:txBody>
      </p:sp>
      <p:sp>
        <p:nvSpPr>
          <p:cNvPr id="1029" name="Rectangle 5"/>
          <p:cNvSpPr>
            <a:spLocks noGrp="1" noChangeArrowheads="1"/>
          </p:cNvSpPr>
          <p:nvPr>
            <p:ph type="sldNum" sz="quarter" idx="3"/>
          </p:nvPr>
        </p:nvSpPr>
        <p:spPr bwMode="auto">
          <a:xfrm>
            <a:off x="4144963" y="9123363"/>
            <a:ext cx="3170237" cy="477837"/>
          </a:xfrm>
          <a:prstGeom prst="rect">
            <a:avLst/>
          </a:prstGeom>
          <a:noFill/>
          <a:ln w="9525">
            <a:noFill/>
            <a:miter lim="800000"/>
            <a:headEnd/>
            <a:tailEnd/>
          </a:ln>
        </p:spPr>
        <p:txBody>
          <a:bodyPr vert="horz" wrap="square" lIns="96603" tIns="48303" rIns="96603" bIns="48303" numCol="1" anchor="b" anchorCtr="0" compatLnSpc="1">
            <a:prstTxWarp prst="textNoShape">
              <a:avLst/>
            </a:prstTxWarp>
          </a:bodyPr>
          <a:lstStyle>
            <a:lvl1pPr algn="r" defTabSz="965200">
              <a:defRPr sz="1200">
                <a:latin typeface="Times New Roman" pitchFamily="18" charset="0"/>
              </a:defRPr>
            </a:lvl1pPr>
          </a:lstStyle>
          <a:p>
            <a:pPr>
              <a:defRPr/>
            </a:pPr>
            <a:fld id="{97E62689-8C7D-4291-A094-4E689FEC4C3B}" type="slidenum">
              <a:rPr lang="en-US"/>
              <a:pPr>
                <a:defRPr/>
              </a:pPr>
              <a:t>‹#›</a:t>
            </a:fld>
            <a:endParaRPr lang="en-US" dirty="0"/>
          </a:p>
        </p:txBody>
      </p:sp>
    </p:spTree>
    <p:extLst>
      <p:ext uri="{BB962C8B-B14F-4D97-AF65-F5344CB8AC3E}">
        <p14:creationId xmlns:p14="http://schemas.microsoft.com/office/powerpoint/2010/main" val="323929152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4"/>
          <p:cNvSpPr>
            <a:spLocks noGrp="1" noRot="1" noChangeAspect="1" noChangeArrowheads="1" noTextEdit="1"/>
          </p:cNvSpPr>
          <p:nvPr>
            <p:ph type="sldImg" idx="2"/>
          </p:nvPr>
        </p:nvSpPr>
        <p:spPr bwMode="auto">
          <a:xfrm>
            <a:off x="968375" y="473075"/>
            <a:ext cx="5365750" cy="4751388"/>
          </a:xfrm>
          <a:prstGeom prst="rect">
            <a:avLst/>
          </a:prstGeom>
          <a:noFill/>
          <a:ln w="12700">
            <a:solidFill>
              <a:srgbClr val="000000"/>
            </a:solidFill>
            <a:miter lim="800000"/>
            <a:headEnd/>
            <a:tailEnd/>
          </a:ln>
        </p:spPr>
      </p:sp>
      <p:sp>
        <p:nvSpPr>
          <p:cNvPr id="438280" name="Rectangle 8"/>
          <p:cNvSpPr>
            <a:spLocks noGrp="1" noChangeArrowheads="1"/>
          </p:cNvSpPr>
          <p:nvPr>
            <p:ph type="ftr" sz="quarter" idx="4"/>
          </p:nvPr>
        </p:nvSpPr>
        <p:spPr bwMode="auto">
          <a:xfrm>
            <a:off x="1365250" y="9388475"/>
            <a:ext cx="4578350" cy="173038"/>
          </a:xfrm>
          <a:prstGeom prst="rect">
            <a:avLst/>
          </a:prstGeom>
          <a:noFill/>
          <a:ln w="9525">
            <a:noFill/>
            <a:miter lim="800000"/>
            <a:headEnd/>
            <a:tailEnd/>
          </a:ln>
          <a:effectLst/>
        </p:spPr>
        <p:txBody>
          <a:bodyPr vert="horz" wrap="square" lIns="0" tIns="0" rIns="0" bIns="0" numCol="1" anchor="b" anchorCtr="1" compatLnSpc="1">
            <a:prstTxWarp prst="textNoShape">
              <a:avLst/>
            </a:prstTxWarp>
          </a:bodyPr>
          <a:lstStyle>
            <a:lvl1pPr algn="ctr" defTabSz="965200" eaLnBrk="0" hangingPunct="0">
              <a:defRPr sz="900">
                <a:latin typeface="Arial" charset="0"/>
              </a:defRPr>
            </a:lvl1pPr>
          </a:lstStyle>
          <a:p>
            <a:pPr>
              <a:defRPr/>
            </a:pPr>
            <a:r>
              <a:rPr lang="en-US" dirty="0"/>
              <a:t>Copyright © 2017 Elephant Scale. All rights reserved.</a:t>
            </a:r>
          </a:p>
        </p:txBody>
      </p:sp>
      <p:sp>
        <p:nvSpPr>
          <p:cNvPr id="438281" name="Rectangle 9"/>
          <p:cNvSpPr>
            <a:spLocks noGrp="1" noChangeArrowheads="1"/>
          </p:cNvSpPr>
          <p:nvPr>
            <p:ph type="sldNum" sz="quarter" idx="5"/>
          </p:nvPr>
        </p:nvSpPr>
        <p:spPr bwMode="auto">
          <a:xfrm>
            <a:off x="6400800" y="9388475"/>
            <a:ext cx="554038" cy="173038"/>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defTabSz="965200" eaLnBrk="0" hangingPunct="0">
              <a:defRPr b="1">
                <a:latin typeface="Arial" charset="0"/>
              </a:defRPr>
            </a:lvl1pPr>
          </a:lstStyle>
          <a:p>
            <a:pPr>
              <a:defRPr/>
            </a:pPr>
            <a:fld id="{EFAADD5D-AF76-45EE-AA5F-6DAC73BF167A}" type="slidenum">
              <a:rPr lang="en-US"/>
              <a:pPr>
                <a:defRPr/>
              </a:pPr>
              <a:t>‹#›</a:t>
            </a:fld>
            <a:endParaRPr lang="en-US" dirty="0"/>
          </a:p>
        </p:txBody>
      </p:sp>
      <p:sp>
        <p:nvSpPr>
          <p:cNvPr id="438306" name="Text Box 34"/>
          <p:cNvSpPr txBox="1">
            <a:spLocks noChangeArrowheads="1"/>
          </p:cNvSpPr>
          <p:nvPr/>
        </p:nvSpPr>
        <p:spPr bwMode="auto">
          <a:xfrm>
            <a:off x="271463" y="5176838"/>
            <a:ext cx="617537" cy="254000"/>
          </a:xfrm>
          <a:prstGeom prst="rect">
            <a:avLst/>
          </a:prstGeom>
          <a:noFill/>
          <a:ln w="9525">
            <a:noFill/>
            <a:miter lim="800000"/>
            <a:headEnd/>
            <a:tailEnd/>
          </a:ln>
        </p:spPr>
        <p:txBody>
          <a:bodyPr wrap="none" lIns="96386" tIns="48194" rIns="96386" bIns="48194"/>
          <a:lstStyle/>
          <a:p>
            <a:pPr defTabSz="960438">
              <a:defRPr/>
            </a:pPr>
            <a:r>
              <a:rPr lang="en-US" sz="1200" b="1" u="sng" dirty="0">
                <a:latin typeface="Times New Roman" pitchFamily="18" charset="0"/>
                <a:cs typeface="Times New Roman" pitchFamily="18" charset="0"/>
              </a:rPr>
              <a:t>Notes:</a:t>
            </a:r>
          </a:p>
        </p:txBody>
      </p:sp>
      <p:sp>
        <p:nvSpPr>
          <p:cNvPr id="438309" name="Rectangle 37"/>
          <p:cNvSpPr>
            <a:spLocks noGrp="1" noChangeArrowheads="1"/>
          </p:cNvSpPr>
          <p:nvPr>
            <p:ph type="body" sz="quarter" idx="3"/>
          </p:nvPr>
        </p:nvSpPr>
        <p:spPr bwMode="gray">
          <a:xfrm>
            <a:off x="322263" y="5462588"/>
            <a:ext cx="6607175" cy="3751262"/>
          </a:xfrm>
          <a:prstGeom prst="rect">
            <a:avLst/>
          </a:prstGeom>
          <a:noFill/>
          <a:ln w="9525">
            <a:noFill/>
            <a:miter lim="800000"/>
            <a:headEnd/>
            <a:tailEnd/>
          </a:ln>
        </p:spPr>
        <p:txBody>
          <a:bodyPr vert="horz" wrap="square" lIns="91537" tIns="45768" rIns="91537" bIns="45768" numCol="1" anchor="t" anchorCtr="0" compatLnSpc="1">
            <a:prstTxWarp prst="textNoShape">
              <a:avLst/>
            </a:prstTxWarp>
          </a:bodyPr>
          <a:lstStyle/>
          <a:p>
            <a:pPr lvl="0"/>
            <a:endParaRPr lang="en-US" noProof="0" dirty="0"/>
          </a:p>
        </p:txBody>
      </p:sp>
      <p:sp>
        <p:nvSpPr>
          <p:cNvPr id="438317" name="Line 45"/>
          <p:cNvSpPr>
            <a:spLocks noChangeShapeType="1"/>
          </p:cNvSpPr>
          <p:nvPr/>
        </p:nvSpPr>
        <p:spPr bwMode="auto">
          <a:xfrm>
            <a:off x="322263" y="9324975"/>
            <a:ext cx="6653212" cy="0"/>
          </a:xfrm>
          <a:prstGeom prst="line">
            <a:avLst/>
          </a:prstGeom>
          <a:noFill/>
          <a:ln w="12700">
            <a:solidFill>
              <a:srgbClr val="000000"/>
            </a:solidFill>
            <a:round/>
            <a:headEnd/>
            <a:tailEnd/>
          </a:ln>
          <a:effectLst/>
        </p:spPr>
        <p:txBody>
          <a:bodyPr/>
          <a:lstStyle/>
          <a:p>
            <a:pPr algn="ctr">
              <a:spcBef>
                <a:spcPct val="30000"/>
              </a:spcBef>
              <a:defRPr/>
            </a:pPr>
            <a:endParaRPr lang="en-US" dirty="0">
              <a:latin typeface="Garamond" pitchFamily="-110" charset="0"/>
              <a:ea typeface="+mn-ea"/>
              <a:cs typeface="+mn-cs"/>
            </a:endParaRPr>
          </a:p>
        </p:txBody>
      </p:sp>
    </p:spTree>
    <p:extLst>
      <p:ext uri="{BB962C8B-B14F-4D97-AF65-F5344CB8AC3E}">
        <p14:creationId xmlns:p14="http://schemas.microsoft.com/office/powerpoint/2010/main" val="953744030"/>
      </p:ext>
    </p:extLst>
  </p:cSld>
  <p:clrMap bg1="lt1" tx1="dk1" bg2="lt2" tx2="dk2" accent1="accent1" accent2="accent2" accent3="accent3" accent4="accent4" accent5="accent5" accent6="accent6" hlink="hlink" folHlink="folHlink"/>
  <p:hf dt="0"/>
  <p:notesStyle>
    <a:lvl1pPr marL="0" indent="0" algn="l" rtl="0" eaLnBrk="0" fontAlgn="base" hangingPunct="0">
      <a:spcBef>
        <a:spcPct val="30000"/>
      </a:spcBef>
      <a:spcAft>
        <a:spcPct val="0"/>
      </a:spcAft>
      <a:buSzPct val="65000"/>
      <a:buFont typeface="Wingdings" pitchFamily="2" charset="2"/>
      <a:buNone/>
      <a:defRPr sz="1200" kern="1200">
        <a:solidFill>
          <a:schemeClr val="tx1"/>
        </a:solidFill>
        <a:latin typeface="Times New Roman" pitchFamily="-110" charset="0"/>
        <a:ea typeface="ＭＳ Ｐゴシック" pitchFamily="-110" charset="-128"/>
        <a:cs typeface="ＭＳ Ｐゴシック" pitchFamily="-110" charset="-128"/>
      </a:defRPr>
    </a:lvl1pPr>
    <a:lvl2pPr marL="282575" indent="0" algn="l" rtl="0" eaLnBrk="0" fontAlgn="base" hangingPunct="0">
      <a:spcBef>
        <a:spcPct val="30000"/>
      </a:spcBef>
      <a:spcAft>
        <a:spcPct val="0"/>
      </a:spcAft>
      <a:buNone/>
      <a:defRPr sz="1200" kern="1200">
        <a:solidFill>
          <a:schemeClr val="tx1"/>
        </a:solidFill>
        <a:latin typeface="Times New Roman" pitchFamily="-110" charset="0"/>
        <a:ea typeface="ＭＳ Ｐゴシック" pitchFamily="-110" charset="-128"/>
        <a:cs typeface="ＭＳ Ｐゴシック"/>
      </a:defRPr>
    </a:lvl2pPr>
    <a:lvl3pPr marL="744538" indent="-173038" algn="l" rtl="0" eaLnBrk="0" fontAlgn="base" hangingPunct="0">
      <a:spcBef>
        <a:spcPct val="30000"/>
      </a:spcBef>
      <a:spcAft>
        <a:spcPct val="0"/>
      </a:spcAft>
      <a:buChar char="•"/>
      <a:defRPr sz="1200" kern="1200">
        <a:solidFill>
          <a:schemeClr val="tx1"/>
        </a:solidFill>
        <a:latin typeface="Times New Roman" pitchFamily="-110" charset="0"/>
        <a:ea typeface="ＭＳ Ｐゴシック" pitchFamily="-110" charset="-128"/>
        <a:cs typeface="ＭＳ Ｐゴシック"/>
      </a:defRPr>
    </a:lvl3pPr>
    <a:lvl4pPr marL="16002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4pPr>
    <a:lvl5pPr marL="2057400" indent="-228600" algn="l" rtl="0" eaLnBrk="0" fontAlgn="base" hangingPunct="0">
      <a:spcBef>
        <a:spcPct val="30000"/>
      </a:spcBef>
      <a:spcAft>
        <a:spcPct val="0"/>
      </a:spcAft>
      <a:defRPr sz="1200" kern="1200">
        <a:solidFill>
          <a:schemeClr val="tx1"/>
        </a:solidFill>
        <a:latin typeface="Times New Roman" pitchFamily="-110" charset="0"/>
        <a:ea typeface="ＭＳ Ｐゴシック" pitchFamily="-110" charset="-128"/>
        <a:cs typeface="ＭＳ Ｐゴシック"/>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Keep the energy up. This is the payoff and it should feel like one.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Say this explicitly. Politeness produces useless practice. One well-aimed hard question from a peer is worth an hour of instructor feedback.</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Hold the five minutes strictly. The time limit is part of the lesson — real executive attention is scarcer than this.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"what did you score red yesterday" question is the sharpest one in the set. It connects the ambition directly to the maturity assessment and it usually finds something.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The "I don't know is acceptable" rule is important — otherwise teams bluff, and bluffing is the behavior you're trying to train out of them.</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Scoring sharpens attention. Collect the cards and give each team its profile — the pattern across six dimensions is more useful than a total.</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Adapt to what actually happened, but these five recur across deliveries. Naming the pattern is what converts eight individual pitches into one shared lesson.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Have people write it on paper and keep it. Optionally: pair up and exchange plans with a commitment to check in at 30 days. That single step measurably raises follow-through.</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Read this list out. Two days is a significant investment of executive time and people should leave knowing exactly what they got for it.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If they remember nothing else in a year, these three are the ones that matter. Deliver them slowly, then stop talking.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Slide Number Placeholder 2"/>
          <p:cNvSpPr>
            <a:spLocks noGrp="1"/>
          </p:cNvSpPr>
          <p:nvPr>
            <p:ph type="sldNum" sz="quarter" idx="5"/>
          </p:nvPr>
        </p:nvSpPr>
        <p:spPr/>
      </p:sp>
      <p:sp>
        <p:nvSpPr>
          <p:cNvPr id="4" name="Notes Placeholder 3"/>
          <p:cNvSpPr>
            <a:spLocks noGrp="1"/>
          </p:cNvSpPr>
          <p:nvPr>
            <p:ph type="body" sz="quarter" idx="3"/>
          </p:nvPr>
        </p:nvSpPr>
        <p:spPr/>
        <p:txBody>
          <a:bodyPr/>
          <a:lstStyle/>
          <a:p>
            <a:r>
              <a:t> Return to the "what do you want to walk out with" list from the very first session and check items off publicly. It closes the loop and it is the single highest-rated moment in most deliveries.</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tx1"/>
        </a:solidFill>
        <a:effectLst/>
      </p:bgPr>
    </p:bg>
    <p:spTree>
      <p:nvGrpSpPr>
        <p:cNvPr id="1" name=""/>
        <p:cNvGrpSpPr/>
        <p:nvPr/>
      </p:nvGrpSpPr>
      <p:grpSpPr>
        <a:xfrm>
          <a:off x="0" y="0"/>
          <a:ext cx="0" cy="0"/>
          <a:chOff x="0" y="0"/>
          <a:chExt cx="0" cy="0"/>
        </a:xfrm>
      </p:grpSpPr>
      <p:pic>
        <p:nvPicPr>
          <p:cNvPr id="4" name="Picture 7"/>
          <p:cNvPicPr preferRelativeResize="0">
            <a:picLocks noChangeArrowheads="1"/>
          </p:cNvPicPr>
          <p:nvPr/>
        </p:nvPicPr>
        <p:blipFill rotWithShape="1">
          <a:blip r:embed="rId2"/>
          <a:srcRect t="19473"/>
          <a:stretch/>
        </p:blipFill>
        <p:spPr bwMode="auto">
          <a:xfrm>
            <a:off x="1" y="-1801"/>
            <a:ext cx="2498725" cy="8308927"/>
          </a:xfrm>
          <a:prstGeom prst="rect">
            <a:avLst/>
          </a:prstGeom>
          <a:noFill/>
          <a:ln w="9525">
            <a:noFill/>
            <a:miter lim="800000"/>
            <a:headEnd/>
            <a:tailEnd/>
          </a:ln>
        </p:spPr>
      </p:pic>
      <p:sp>
        <p:nvSpPr>
          <p:cNvPr id="1104898" name="Rectangle 2"/>
          <p:cNvSpPr>
            <a:spLocks noGrp="1" noChangeArrowheads="1"/>
          </p:cNvSpPr>
          <p:nvPr>
            <p:ph type="subTitle" sz="quarter" idx="1"/>
          </p:nvPr>
        </p:nvSpPr>
        <p:spPr>
          <a:xfrm>
            <a:off x="2498726" y="4984481"/>
            <a:ext cx="6335713" cy="400685"/>
          </a:xfrm>
        </p:spPr>
        <p:txBody>
          <a:bodyPr>
            <a:spAutoFit/>
          </a:bodyPr>
          <a:lstStyle>
            <a:lvl1pPr marL="0" indent="0" algn="r">
              <a:buFont typeface="Monotype Sorts" pitchFamily="-110" charset="2"/>
              <a:buNone/>
              <a:defRPr sz="2000"/>
            </a:lvl1pPr>
          </a:lstStyle>
          <a:p>
            <a:r>
              <a:rPr lang="en-US"/>
              <a:t>Click to edit Master subtitle style</a:t>
            </a:r>
          </a:p>
        </p:txBody>
      </p:sp>
      <p:sp>
        <p:nvSpPr>
          <p:cNvPr id="1104900" name="Rectangle 4"/>
          <p:cNvSpPr>
            <a:spLocks noGrp="1" noChangeArrowheads="1"/>
          </p:cNvSpPr>
          <p:nvPr>
            <p:ph type="ctrTitle" sz="quarter"/>
          </p:nvPr>
        </p:nvSpPr>
        <p:spPr>
          <a:xfrm>
            <a:off x="704850" y="3226947"/>
            <a:ext cx="8121650" cy="1469414"/>
          </a:xfrm>
        </p:spPr>
        <p:txBody>
          <a:bodyPr lIns="91440" anchor="ctr"/>
          <a:lstStyle>
            <a:lvl1pPr algn="ctr" defTabSz="1825625">
              <a:defRPr/>
            </a:lvl1pPr>
          </a:lstStyle>
          <a:p>
            <a:r>
              <a:rPr lang="en-US"/>
              <a:t>Click to edit Master title style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Footer Placeholder 7"/>
          <p:cNvSpPr>
            <a:spLocks noGrp="1"/>
          </p:cNvSpPr>
          <p:nvPr>
            <p:ph type="ftr" sz="quarter" idx="11"/>
          </p:nvPr>
        </p:nvSpPr>
        <p:spPr/>
        <p:txBody>
          <a:bodyPr/>
          <a:lstStyle/>
          <a:p>
            <a:pPr algn="l">
              <a:defRPr/>
            </a:pPr>
            <a:r>
              <a:rPr lang="en-US" dirty="0"/>
              <a:t>Copyright © 2017 Elephant Scale. All rights reserved.</a:t>
            </a:r>
          </a:p>
        </p:txBody>
      </p:sp>
      <p:sp>
        <p:nvSpPr>
          <p:cNvPr id="9" name="Slide Number Placeholder 8"/>
          <p:cNvSpPr>
            <a:spLocks noGrp="1"/>
          </p:cNvSpPr>
          <p:nvPr>
            <p:ph type="sldNum" sz="quarter" idx="12"/>
          </p:nvPr>
        </p:nvSpPr>
        <p:spPr/>
        <p:txBody>
          <a:bodyPr/>
          <a:lstStyle/>
          <a:p>
            <a:pPr>
              <a:defRPr/>
            </a:pPr>
            <a:fld id="{77EF9825-4C23-4085-A4E3-B5565466BD91}" type="slidenum">
              <a:rPr lang="en-US"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762500" y="994975"/>
            <a:ext cx="4375150" cy="33210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762500" y="4500439"/>
            <a:ext cx="4375150" cy="3322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sldNum" sz="quarter" idx="11"/>
          </p:nvPr>
        </p:nvSpPr>
        <p:spPr>
          <a:ln/>
        </p:spPr>
        <p:txBody>
          <a:bodyPr/>
          <a:lstStyle>
            <a:lvl1pPr>
              <a:defRPr/>
            </a:lvl1pPr>
          </a:lstStyle>
          <a:p>
            <a:pPr>
              <a:defRPr/>
            </a:pPr>
            <a:fld id="{040E4B02-67B9-4228-B08B-2561CEE6B946}" type="slidenum">
              <a:rPr lang="en-US"/>
              <a:pPr>
                <a:defRPr/>
              </a:pPr>
              <a:t>‹#›</a:t>
            </a:fld>
            <a:endParaRPr lang="en-US" dirty="0"/>
          </a:p>
        </p:txBody>
      </p:sp>
      <p:sp>
        <p:nvSpPr>
          <p:cNvPr id="8"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04850" y="1"/>
            <a:ext cx="8667750" cy="835549"/>
          </a:xfrm>
        </p:spPr>
        <p:txBody>
          <a:bodyPr/>
          <a:lstStyle/>
          <a:p>
            <a:r>
              <a:rPr lang="en-US"/>
              <a:t>Click to edit Master title style</a:t>
            </a:r>
          </a:p>
        </p:txBody>
      </p:sp>
      <p:sp>
        <p:nvSpPr>
          <p:cNvPr id="3" name="Text Placeholder 2"/>
          <p:cNvSpPr>
            <a:spLocks noGrp="1"/>
          </p:cNvSpPr>
          <p:nvPr>
            <p:ph type="body" sz="half" idx="1"/>
          </p:nvPr>
        </p:nvSpPr>
        <p:spPr>
          <a:xfrm>
            <a:off x="23495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62500" y="994976"/>
            <a:ext cx="4375150" cy="6828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4"/>
          <p:cNvSpPr>
            <a:spLocks noGrp="1" noChangeArrowheads="1"/>
          </p:cNvSpPr>
          <p:nvPr>
            <p:ph type="sldNum" sz="quarter" idx="11"/>
          </p:nvPr>
        </p:nvSpPr>
        <p:spPr>
          <a:ln/>
        </p:spPr>
        <p:txBody>
          <a:bodyPr/>
          <a:lstStyle>
            <a:lvl1pPr>
              <a:defRPr/>
            </a:lvl1pPr>
          </a:lstStyle>
          <a:p>
            <a:pPr>
              <a:defRPr/>
            </a:pPr>
            <a:fld id="{A86CC632-9864-46F1-8EAB-FCD3BB9CEC9A}" type="slidenum">
              <a:rPr lang="en-US"/>
              <a:pPr>
                <a:defRPr/>
              </a:pPr>
              <a:t>‹#›</a:t>
            </a:fld>
            <a:endParaRPr lang="en-US" dirty="0"/>
          </a:p>
        </p:txBody>
      </p:sp>
      <p:sp>
        <p:nvSpPr>
          <p:cNvPr id="7" name="Rectangle 5"/>
          <p:cNvSpPr>
            <a:spLocks noGrp="1" noChangeArrowheads="1"/>
          </p:cNvSpPr>
          <p:nvPr>
            <p:ph type="ftr" sz="quarter" idx="12"/>
          </p:nvPr>
        </p:nvSpPr>
        <p:spPr>
          <a:ln/>
        </p:spPr>
        <p:txBody>
          <a:bodyPr/>
          <a:lstStyle>
            <a:lvl1pPr>
              <a:defRPr/>
            </a:lvl1pPr>
          </a:lstStyle>
          <a:p>
            <a:pPr algn="l">
              <a:defRPr/>
            </a:pPr>
            <a:r>
              <a:rPr lang="en-US" dirty="0"/>
              <a:t>Copyright © 2017 Elephant Scale. All rights reserved.</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tx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body" idx="1"/>
          </p:nvPr>
        </p:nvSpPr>
        <p:spPr bwMode="auto">
          <a:xfrm>
            <a:off x="234950" y="994976"/>
            <a:ext cx="8902700" cy="6828450"/>
          </a:xfrm>
          <a:prstGeom prst="rect">
            <a:avLst/>
          </a:prstGeom>
          <a:noFill/>
          <a:ln w="9525">
            <a:noFill/>
            <a:miter lim="800000"/>
            <a:headEnd/>
            <a:tailEnd/>
          </a:ln>
        </p:spPr>
        <p:txBody>
          <a:bodyPr vert="horz" wrap="square" lIns="92007" tIns="46005" rIns="92007" bIns="46005" numCol="1" anchor="t" anchorCtr="0" compatLnSpc="1">
            <a:prstTxWarp prst="textNoShape">
              <a:avLst/>
            </a:prstTxWarp>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03876" name="Rectangle 4"/>
          <p:cNvSpPr>
            <a:spLocks noGrp="1" noChangeArrowheads="1"/>
          </p:cNvSpPr>
          <p:nvPr>
            <p:ph type="sldNum" sz="quarter" idx="4"/>
          </p:nvPr>
        </p:nvSpPr>
        <p:spPr bwMode="hidden">
          <a:xfrm>
            <a:off x="8777288" y="7961724"/>
            <a:ext cx="546100" cy="272754"/>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r" eaLnBrk="0" hangingPunct="0">
              <a:defRPr b="1">
                <a:solidFill>
                  <a:srgbClr val="000000"/>
                </a:solidFill>
                <a:latin typeface="Arial" charset="0"/>
                <a:ea typeface="ＭＳ Ｐゴシック" charset="0"/>
                <a:cs typeface="ＭＳ Ｐゴシック" charset="0"/>
              </a:defRPr>
            </a:lvl1pPr>
          </a:lstStyle>
          <a:p>
            <a:pPr>
              <a:defRPr/>
            </a:pPr>
            <a:fld id="{77EF9825-4C23-4085-A4E3-B5565466BD91}" type="slidenum">
              <a:rPr lang="en-US"/>
              <a:pPr>
                <a:defRPr/>
              </a:pPr>
              <a:t>‹#›</a:t>
            </a:fld>
            <a:endParaRPr lang="en-US" dirty="0"/>
          </a:p>
        </p:txBody>
      </p:sp>
      <p:sp>
        <p:nvSpPr>
          <p:cNvPr id="1103877" name="Rectangle 5"/>
          <p:cNvSpPr>
            <a:spLocks noGrp="1" noChangeArrowheads="1"/>
          </p:cNvSpPr>
          <p:nvPr>
            <p:ph type="ftr" sz="quarter" idx="3"/>
          </p:nvPr>
        </p:nvSpPr>
        <p:spPr bwMode="hidden">
          <a:xfrm>
            <a:off x="234950" y="8032785"/>
            <a:ext cx="5441950" cy="138499"/>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algn="ctr" eaLnBrk="0" hangingPunct="0">
              <a:spcBef>
                <a:spcPct val="0"/>
              </a:spcBef>
              <a:defRPr sz="900">
                <a:solidFill>
                  <a:srgbClr val="000000"/>
                </a:solidFill>
                <a:latin typeface="+mn-lt"/>
                <a:ea typeface="+mn-ea"/>
                <a:cs typeface="+mn-cs"/>
              </a:defRPr>
            </a:lvl1pPr>
          </a:lstStyle>
          <a:p>
            <a:pPr algn="l">
              <a:defRPr/>
            </a:pPr>
            <a:r>
              <a:rPr lang="en-US" dirty="0"/>
              <a:t>Copyright © 2017 Elephant Scale. All rights reserved.</a:t>
            </a:r>
          </a:p>
        </p:txBody>
      </p:sp>
      <p:pic>
        <p:nvPicPr>
          <p:cNvPr id="1030" name="Picture 6"/>
          <p:cNvPicPr preferRelativeResize="0">
            <a:picLocks noChangeArrowheads="1"/>
          </p:cNvPicPr>
          <p:nvPr/>
        </p:nvPicPr>
        <p:blipFill>
          <a:blip r:embed="rId6"/>
          <a:srcRect/>
          <a:stretch>
            <a:fillRect/>
          </a:stretch>
        </p:blipFill>
        <p:spPr bwMode="ltGray">
          <a:xfrm>
            <a:off x="0" y="1"/>
            <a:ext cx="704850" cy="835549"/>
          </a:xfrm>
          <a:prstGeom prst="rect">
            <a:avLst/>
          </a:prstGeom>
          <a:noFill/>
          <a:ln w="9525">
            <a:noFill/>
            <a:miter lim="800000"/>
            <a:headEnd/>
            <a:tailEnd/>
          </a:ln>
        </p:spPr>
      </p:pic>
      <p:sp>
        <p:nvSpPr>
          <p:cNvPr id="1031" name="Rectangle 7"/>
          <p:cNvSpPr>
            <a:spLocks noGrp="1" noChangeArrowheads="1"/>
          </p:cNvSpPr>
          <p:nvPr>
            <p:ph type="title"/>
          </p:nvPr>
        </p:nvSpPr>
        <p:spPr bwMode="invGray">
          <a:xfrm>
            <a:off x="704850" y="1"/>
            <a:ext cx="8667750" cy="835549"/>
          </a:xfrm>
          <a:prstGeom prst="rect">
            <a:avLst/>
          </a:prstGeom>
          <a:solidFill>
            <a:schemeClr val="tx2"/>
          </a:solidFill>
          <a:ln w="9525">
            <a:noFill/>
            <a:miter lim="800000"/>
            <a:headEnd/>
            <a:tailEnd/>
          </a:ln>
        </p:spPr>
        <p:txBody>
          <a:bodyPr vert="horz" wrap="square" lIns="92007" tIns="46005" rIns="92007" bIns="46005" numCol="1" anchor="b" anchorCtr="0" compatLnSpc="1">
            <a:prstTxWarp prst="textNoShape">
              <a:avLst/>
            </a:prstTxWarp>
          </a:bodyPr>
          <a:lstStyle/>
          <a:p>
            <a:pPr lvl="0"/>
            <a:r>
              <a:rPr lang="en-US" dirty="0"/>
              <a:t>Click to edit Master title style</a:t>
            </a:r>
          </a:p>
        </p:txBody>
      </p:sp>
    </p:spTree>
  </p:cSld>
  <p:clrMap bg1="dk2" tx1="lt1" bg2="dk1" tx2="lt2" accent1="accent1" accent2="accent2" accent3="accent3" accent4="accent4" accent5="accent5" accent6="accent6" hlink="hlink" folHlink="folHlink"/>
  <p:sldLayoutIdLst>
    <p:sldLayoutId id="2147483656" r:id="rId1"/>
    <p:sldLayoutId id="2147483655" r:id="rId2"/>
    <p:sldLayoutId id="2147483654" r:id="rId3"/>
    <p:sldLayoutId id="2147483653" r:id="rId4"/>
  </p:sldLayoutIdLst>
  <p:hf hdr="0" dt="0"/>
  <p:txStyles>
    <p:titleStyle>
      <a:lvl1pPr algn="l" rtl="0" eaLnBrk="0" fontAlgn="base" hangingPunct="0">
        <a:spcBef>
          <a:spcPct val="0"/>
        </a:spcBef>
        <a:spcAft>
          <a:spcPct val="0"/>
        </a:spcAft>
        <a:defRPr sz="2600" b="1">
          <a:solidFill>
            <a:schemeClr val="tx1"/>
          </a:solidFill>
          <a:latin typeface="+mj-lt"/>
          <a:ea typeface="ＭＳ Ｐゴシック" pitchFamily="-110" charset="-128"/>
          <a:cs typeface="ＭＳ Ｐゴシック" pitchFamily="-110" charset="-128"/>
        </a:defRPr>
      </a:lvl1pPr>
      <a:lvl2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2pPr>
      <a:lvl3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3pPr>
      <a:lvl4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4pPr>
      <a:lvl5pPr algn="l" rtl="0" eaLnBrk="0" fontAlgn="base" hangingPunct="0">
        <a:spcBef>
          <a:spcPct val="0"/>
        </a:spcBef>
        <a:spcAft>
          <a:spcPct val="0"/>
        </a:spcAft>
        <a:defRPr sz="2600" b="1">
          <a:solidFill>
            <a:schemeClr val="tx1"/>
          </a:solidFill>
          <a:latin typeface="Verdana" pitchFamily="-110" charset="0"/>
          <a:ea typeface="ＭＳ Ｐゴシック" pitchFamily="-110" charset="-128"/>
          <a:cs typeface="ＭＳ Ｐゴシック" pitchFamily="-110" charset="-128"/>
        </a:defRPr>
      </a:lvl5pPr>
      <a:lvl6pPr marL="457200" algn="l" rtl="0" eaLnBrk="0" fontAlgn="base" hangingPunct="0">
        <a:spcBef>
          <a:spcPct val="0"/>
        </a:spcBef>
        <a:spcAft>
          <a:spcPct val="0"/>
        </a:spcAft>
        <a:defRPr sz="2600" b="1">
          <a:solidFill>
            <a:schemeClr val="tx1"/>
          </a:solidFill>
          <a:latin typeface="Verdana" pitchFamily="-110" charset="0"/>
        </a:defRPr>
      </a:lvl6pPr>
      <a:lvl7pPr marL="914400" algn="l" rtl="0" eaLnBrk="0" fontAlgn="base" hangingPunct="0">
        <a:spcBef>
          <a:spcPct val="0"/>
        </a:spcBef>
        <a:spcAft>
          <a:spcPct val="0"/>
        </a:spcAft>
        <a:defRPr sz="2600" b="1">
          <a:solidFill>
            <a:schemeClr val="tx1"/>
          </a:solidFill>
          <a:latin typeface="Verdana" pitchFamily="-110" charset="0"/>
        </a:defRPr>
      </a:lvl7pPr>
      <a:lvl8pPr marL="1371600" algn="l" rtl="0" eaLnBrk="0" fontAlgn="base" hangingPunct="0">
        <a:spcBef>
          <a:spcPct val="0"/>
        </a:spcBef>
        <a:spcAft>
          <a:spcPct val="0"/>
        </a:spcAft>
        <a:defRPr sz="2600" b="1">
          <a:solidFill>
            <a:schemeClr val="tx1"/>
          </a:solidFill>
          <a:latin typeface="Verdana" pitchFamily="-110" charset="0"/>
        </a:defRPr>
      </a:lvl8pPr>
      <a:lvl9pPr marL="1828800" algn="l" rtl="0" eaLnBrk="0" fontAlgn="base" hangingPunct="0">
        <a:spcBef>
          <a:spcPct val="0"/>
        </a:spcBef>
        <a:spcAft>
          <a:spcPct val="0"/>
        </a:spcAft>
        <a:defRPr sz="2600" b="1">
          <a:solidFill>
            <a:schemeClr val="tx1"/>
          </a:solidFill>
          <a:latin typeface="Verdana" pitchFamily="-110" charset="0"/>
        </a:defRPr>
      </a:lvl9pPr>
    </p:titleStyle>
    <p:bodyStyle>
      <a:lvl1pPr marL="290513" indent="-290513" algn="l" rtl="0" eaLnBrk="0" fontAlgn="base" hangingPunct="0">
        <a:spcBef>
          <a:spcPct val="20000"/>
        </a:spcBef>
        <a:spcAft>
          <a:spcPct val="0"/>
        </a:spcAft>
        <a:buClr>
          <a:schemeClr val="tx2"/>
        </a:buClr>
        <a:buSzPct val="65000"/>
        <a:buFont typeface="Wingdings" pitchFamily="2" charset="2"/>
        <a:buChar char=""/>
        <a:defRPr sz="2400">
          <a:solidFill>
            <a:srgbClr val="000000"/>
          </a:solidFill>
          <a:latin typeface="+mn-lt"/>
          <a:ea typeface="ＭＳ Ｐゴシック" pitchFamily="-110" charset="-128"/>
          <a:cs typeface="ＭＳ Ｐゴシック" pitchFamily="-110" charset="-128"/>
        </a:defRPr>
      </a:lvl1pPr>
      <a:lvl2pPr marL="633413" indent="-228600" algn="l" rtl="0" eaLnBrk="0" fontAlgn="base" hangingPunct="0">
        <a:spcBef>
          <a:spcPct val="20000"/>
        </a:spcBef>
        <a:spcAft>
          <a:spcPct val="0"/>
        </a:spcAft>
        <a:buClr>
          <a:srgbClr val="000000"/>
        </a:buClr>
        <a:buChar char="–"/>
        <a:defRPr sz="2200">
          <a:solidFill>
            <a:srgbClr val="000000"/>
          </a:solidFill>
          <a:latin typeface="+mn-lt"/>
          <a:ea typeface="ＭＳ Ｐゴシック" pitchFamily="-110" charset="-128"/>
          <a:cs typeface="ＭＳ Ｐゴシック"/>
        </a:defRPr>
      </a:lvl2pPr>
      <a:lvl3pPr marL="969963" indent="-222250" algn="l" rtl="0" eaLnBrk="0" fontAlgn="base" hangingPunct="0">
        <a:spcBef>
          <a:spcPct val="20000"/>
        </a:spcBef>
        <a:spcAft>
          <a:spcPct val="0"/>
        </a:spcAft>
        <a:buChar char="•"/>
        <a:defRPr sz="2000">
          <a:solidFill>
            <a:srgbClr val="000000"/>
          </a:solidFill>
          <a:latin typeface="+mn-lt"/>
          <a:ea typeface="ＭＳ Ｐゴシック" pitchFamily="-110" charset="-128"/>
          <a:cs typeface="ＭＳ Ｐゴシック"/>
        </a:defRPr>
      </a:lvl3pPr>
      <a:lvl4pPr marL="1258888" indent="-228600" algn="l" rtl="0" eaLnBrk="0" fontAlgn="base" hangingPunct="0">
        <a:spcBef>
          <a:spcPct val="0"/>
        </a:spcBef>
        <a:spcAft>
          <a:spcPct val="0"/>
        </a:spcAft>
        <a:buClr>
          <a:srgbClr val="5F5F5F"/>
        </a:buClr>
        <a:buSzPct val="65000"/>
        <a:buFont typeface="Arial Bold" pitchFamily="34" charset="0"/>
        <a:buChar char="‒"/>
        <a:defRPr lang="en-US" dirty="0">
          <a:solidFill>
            <a:srgbClr val="000000"/>
          </a:solidFill>
          <a:latin typeface="+mn-lt"/>
          <a:ea typeface="ＭＳ Ｐゴシック" pitchFamily="-110" charset="-128"/>
          <a:cs typeface="ＭＳ Ｐゴシック"/>
        </a:defRPr>
      </a:lvl4pPr>
      <a:lvl5pPr marL="20558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cs typeface="ＭＳ Ｐゴシック"/>
        </a:defRPr>
      </a:lvl5pPr>
      <a:lvl6pPr marL="25130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6pPr>
      <a:lvl7pPr marL="29702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7pPr>
      <a:lvl8pPr marL="34274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8pPr>
      <a:lvl9pPr marL="3884613" indent="-230188" algn="l" rtl="0" eaLnBrk="0" fontAlgn="base" hangingPunct="0">
        <a:spcBef>
          <a:spcPct val="20000"/>
        </a:spcBef>
        <a:spcAft>
          <a:spcPct val="0"/>
        </a:spcAft>
        <a:buClr>
          <a:schemeClr val="tx1"/>
        </a:buClr>
        <a:defRPr sz="800">
          <a:solidFill>
            <a:schemeClr val="tx1"/>
          </a:solidFill>
          <a:latin typeface="Times New Roman" pitchFamily="-110" charset="0"/>
          <a:ea typeface="ＭＳ Ｐゴシック" pitchFamily="-110"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t>After the Pitches</a:t>
            </a:r>
          </a:p>
        </p:txBody>
      </p:sp>
      <p:sp>
        <p:nvSpPr>
          <p:cNvPr id="3" name="Title 2"/>
          <p:cNvSpPr>
            <a:spLocks noGrp="1"/>
          </p:cNvSpPr>
          <p:nvPr>
            <p:ph type="ctrTitle" sz="quarter"/>
          </p:nvPr>
        </p:nvSpPr>
        <p:spPr/>
        <p:txBody>
          <a:bodyPr wrap="square">
            <a:noAutofit/>
          </a:bodyPr>
          <a:lstStyle/>
          <a:p>
            <a:r>
              <a:rPr sz="4200" b="1" i="0">
                <a:latin typeface="Times New Roman"/>
              </a:rPr>
              <a:t>Capstone — Pitch and Challenge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Last Two Hours</a:t>
            </a:r>
          </a:p>
        </p:txBody>
      </p:sp>
      <p:sp>
        <p:nvSpPr>
          <p:cNvPr id="3" name="Content Placeholder 2"/>
          <p:cNvSpPr>
            <a:spLocks noGrp="1"/>
          </p:cNvSpPr>
          <p:nvPr>
            <p:ph idx="1"/>
          </p:nvPr>
        </p:nvSpPr>
        <p:spPr/>
        <p:txBody>
          <a:bodyPr/>
          <a:lstStyle/>
          <a:p>
            <a:r>
              <a:t> Everything you've built over two days converges here.</a:t>
            </a:r>
          </a:p>
          <a:p>
            <a:r>
              <a:rPr b="1"/>
              <a:t> You pitch. The room challenges. Then you leave with a plan.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Format</a:t>
            </a:r>
          </a:p>
        </p:txBody>
      </p:sp>
      <p:sp>
        <p:nvSpPr>
          <p:cNvPr id="3" name="Content Placeholder 2"/>
          <p:cNvSpPr>
            <a:spLocks noGrp="1"/>
          </p:cNvSpPr>
          <p:nvPr>
            <p:ph idx="1"/>
          </p:nvPr>
        </p:nvSpPr>
        <p:spPr/>
        <p:txBody>
          <a:bodyPr/>
          <a:lstStyle/>
          <a:p>
            <a:r>
              <a:rPr b="1"/>
              <a:t> Five minutes</a:t>
            </a:r>
            <a:r>
              <a:t> to pitch, per team</a:t>
            </a:r>
          </a:p>
          <a:p>
            <a:r>
              <a:rPr b="1"/>
              <a:t> Five minutes</a:t>
            </a:r>
            <a:r>
              <a:t> of challenge from the room</a:t>
            </a:r>
          </a:p>
          <a:p>
            <a:r>
              <a:t> The rest of the room is the</a:t>
            </a:r>
            <a:r>
              <a:rPr b="1"/>
              <a:t> investment committee</a:t>
            </a:r>
          </a:p>
          <a:p>
            <a:r>
              <a:t> Everyone asks at least one question over the session</a:t>
            </a:r>
          </a:p>
          <a:p>
            <a:r>
              <a:rPr b="1"/>
              <a:t> The committee's job is not to be kind.</a:t>
            </a:r>
            <a:r>
              <a:t> It is to ask what your actual funding board will ask, while it is still free to get the answer wrong.</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to Cover in Five Minutes</a:t>
            </a:r>
          </a:p>
        </p:txBody>
      </p:sp>
      <p:sp>
        <p:nvSpPr>
          <p:cNvPr id="3" name="Content Placeholder 2"/>
          <p:cNvSpPr>
            <a:spLocks noGrp="1"/>
          </p:cNvSpPr>
          <p:nvPr>
            <p:ph idx="1"/>
          </p:nvPr>
        </p:nvSpPr>
        <p:spPr/>
        <p:txBody>
          <a:bodyPr/>
          <a:lstStyle/>
          <a:p>
            <a:r>
              <a:rPr b="1"/>
              <a:t> The problem</a:t>
            </a:r>
            <a:r>
              <a:t> — what happens today, and what it costs</a:t>
            </a:r>
          </a:p>
          <a:p>
            <a:r>
              <a:rPr b="1"/>
              <a:t> The proposal</a:t>
            </a:r>
            <a:r>
              <a:t> — what you'd build, and how</a:t>
            </a:r>
            <a:r>
              <a:rPr i="1"/>
              <a:t> (which rung of the ladder)</a:t>
            </a:r>
          </a:p>
          <a:p>
            <a:r>
              <a:rPr b="1"/>
              <a:t> The value</a:t>
            </a:r>
            <a:r>
              <a:t> — which of the five, quantified</a:t>
            </a:r>
          </a:p>
          <a:p>
            <a:r>
              <a:rPr b="1"/>
              <a:t> The cost</a:t>
            </a:r>
            <a:r>
              <a:t> — the whole iceberg, including review time</a:t>
            </a:r>
          </a:p>
          <a:p>
            <a:r>
              <a:rPr b="1"/>
              <a:t> What happens when it's wrong</a:t>
            </a:r>
            <a:r>
              <a:t> — controls, review, accountability</a:t>
            </a:r>
          </a:p>
          <a:p>
            <a:r>
              <a:rPr b="1"/>
              <a:t> The 90-day pilot</a:t>
            </a:r>
            <a:r>
              <a:t> — baseline, target, decision date, kill criteria</a:t>
            </a: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704088" y="6425063"/>
            <a:ext cx="7507224" cy="877824"/>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If you can't do it in five minutes, the scope is too wide. That's the first finding.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Challenge Checklist</a:t>
            </a:r>
          </a:p>
        </p:txBody>
      </p:sp>
      <p:sp>
        <p:nvSpPr>
          <p:cNvPr id="3" name="Content Placeholder 2"/>
          <p:cNvSpPr>
            <a:spLocks noGrp="1"/>
          </p:cNvSpPr>
          <p:nvPr>
            <p:ph idx="1"/>
          </p:nvPr>
        </p:nvSpPr>
        <p:spPr/>
        <p:txBody>
          <a:bodyPr/>
          <a:lstStyle/>
          <a:p>
            <a:r>
              <a:t> The committee works from this. So should you, before you stand up.</a:t>
            </a:r>
          </a:p>
          <a:p>
            <a:r>
              <a:rPr b="1"/>
              <a:t> On the use case</a:t>
            </a:r>
          </a:p>
          <a:p>
            <a:r>
              <a:t> Whose job gets measurably better? Name them.</a:t>
            </a:r>
          </a:p>
          <a:p>
            <a:r>
              <a:t> Is this a real problem or an available technology?</a:t>
            </a:r>
          </a:p>
          <a:p>
            <a:r>
              <a:t> What do you do today, and what does that cost?</a:t>
            </a:r>
          </a:p>
          <a:p>
            <a:r>
              <a:rPr b="1"/>
              <a:t> On feasibility</a:t>
            </a:r>
          </a:p>
          <a:p>
            <a:r>
              <a:t> Does the data exist, and can you actually get to it?</a:t>
            </a:r>
          </a:p>
          <a:p>
            <a:r>
              <a:t> Have you tried it in a chat window for two hours?</a:t>
            </a:r>
          </a:p>
          <a:p>
            <a:r>
              <a:t> Why this rung of the ladder and not the one above it?</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Challenge Checklist (continued)</a:t>
            </a:r>
          </a:p>
        </p:txBody>
      </p:sp>
      <p:sp>
        <p:nvSpPr>
          <p:cNvPr id="3" name="Content Placeholder 2"/>
          <p:cNvSpPr>
            <a:spLocks noGrp="1"/>
          </p:cNvSpPr>
          <p:nvPr>
            <p:ph idx="1"/>
          </p:nvPr>
        </p:nvSpPr>
        <p:spPr/>
        <p:txBody>
          <a:bodyPr/>
          <a:lstStyle/>
          <a:p>
            <a:r>
              <a:rPr b="1"/>
              <a:t> On risk</a:t>
            </a:r>
          </a:p>
          <a:p>
            <a:r>
              <a:t> What happens when it's wrong? Who catches it, and do they have time?</a:t>
            </a:r>
          </a:p>
          <a:p>
            <a:r>
              <a:t> Cost and reversibility of an error — where does this sit on the grid?</a:t>
            </a:r>
          </a:p>
          <a:p>
            <a:r>
              <a:t> What's the risk tier, and who approves?</a:t>
            </a:r>
          </a:p>
          <a:p>
            <a:r>
              <a:rPr b="1"/>
              <a:t> On the organization</a:t>
            </a:r>
          </a:p>
          <a:p>
            <a:r>
              <a:t> Who owns this in production? Whose budget in year two?</a:t>
            </a:r>
          </a:p>
          <a:p>
            <a:r>
              <a:t> Who resists this, and what do you say to them?</a:t>
            </a:r>
          </a:p>
          <a:p>
            <a:r>
              <a:t> What foundation does this need that you scored red yesterday?</a:t>
            </a:r>
          </a:p>
          <a:p>
            <a:r>
              <a:rPr b="1"/>
              <a:t> On the decision</a:t>
            </a:r>
          </a:p>
          <a:p>
            <a:r>
              <a:t> How will you know in 90 days?</a:t>
            </a:r>
          </a:p>
          <a:p>
            <a:r>
              <a:t> What would make you stop?</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Rules for the Committee</a:t>
            </a:r>
          </a:p>
        </p:txBody>
      </p:sp>
      <p:sp>
        <p:nvSpPr>
          <p:cNvPr id="3" name="Content Placeholder 2"/>
          <p:cNvSpPr>
            <a:spLocks noGrp="1"/>
          </p:cNvSpPr>
          <p:nvPr>
            <p:ph idx="1"/>
          </p:nvPr>
        </p:nvSpPr>
        <p:spPr/>
        <p:txBody>
          <a:bodyPr/>
          <a:lstStyle/>
          <a:p>
            <a:r>
              <a:rPr b="1"/>
              <a:t> Ask the hard question.</a:t>
            </a:r>
            <a:r>
              <a:t> You are doing them a favor.</a:t>
            </a:r>
          </a:p>
          <a:p>
            <a:r>
              <a:rPr b="1"/>
              <a:t> Attack the proposal, never the person.</a:t>
            </a:r>
          </a:p>
          <a:p>
            <a:r>
              <a:rPr b="1"/>
              <a:t> "I don't know" is an acceptable answer</a:t>
            </a:r>
            <a:r>
              <a:t> — and it goes on their to-do list, not against their score.</a:t>
            </a:r>
          </a:p>
          <a:p>
            <a:r>
              <a:rPr b="1"/>
              <a:t> Note the best question you hear.</a:t>
            </a:r>
            <a:r>
              <a:t> You'll want it on Monday.</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Scoring — Optional, and Effective</a:t>
            </a:r>
          </a:p>
        </p:txBody>
      </p:sp>
      <p:sp>
        <p:nvSpPr>
          <p:cNvPr id="3" name="Content Placeholder 2"/>
          <p:cNvSpPr>
            <a:spLocks noGrp="1"/>
          </p:cNvSpPr>
          <p:nvPr>
            <p:ph idx="1"/>
          </p:nvPr>
        </p:nvSpPr>
        <p:spPr/>
        <p:txBody>
          <a:bodyPr/>
          <a:lstStyle/>
          <a:p>
            <a:r>
              <a:t> Each committee member scores each pitch, 1–5:</a:t>
            </a:r>
          </a:p>
          <a:p>
            <a:endParaRPr/>
          </a:p>
          <a:p>
            <a:endParaRPr/>
          </a:p>
          <a:p>
            <a:endParaRPr/>
          </a:p>
          <a:p>
            <a:endParaRPr/>
          </a:p>
          <a:p>
            <a:endParaRPr/>
          </a:p>
          <a:p>
            <a:endParaRPr/>
          </a:p>
          <a:p>
            <a:endParaRPr/>
          </a:p>
          <a:p>
            <a:endParaRP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graphicFrame>
        <p:nvGraphicFramePr>
          <p:cNvPr id="5" name="Table 4"/>
          <p:cNvGraphicFramePr>
            <a:graphicFrameLocks noGrp="1"/>
          </p:cNvGraphicFramePr>
          <p:nvPr>
            <p:extLst>
              <p:ext uri="{D42A27DB-BD31-4B8C-83A1-F6EECF244321}">
                <p14:modId xmlns:p14="http://schemas.microsoft.com/office/powerpoint/2010/main" val="3339884579"/>
              </p:ext>
            </p:extLst>
          </p:nvPr>
        </p:nvGraphicFramePr>
        <p:xfrm>
          <a:off x="203200" y="1939131"/>
          <a:ext cx="8915400" cy="36576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gridCol w="2971800">
                  <a:extLst>
                    <a:ext uri="{9D8B030D-6E8A-4147-A177-3AD203B41FA5}">
                      <a16:colId xmlns:a16="http://schemas.microsoft.com/office/drawing/2014/main" val="20002"/>
                    </a:ext>
                  </a:extLst>
                </a:gridCol>
              </a:tblGrid>
              <a:tr h="0">
                <a:tc>
                  <a:txBody>
                    <a:bodyPr/>
                    <a:lstStyle/>
                    <a:p>
                      <a:endParaRPr/>
                    </a:p>
                  </a:txBody>
                  <a:tcPr/>
                </a:tc>
                <a:tc>
                  <a:txBody>
                    <a:bodyPr/>
                    <a:lstStyle/>
                    <a:p>
                      <a:r>
                        <a:t>Weak (1)</a:t>
                      </a:r>
                    </a:p>
                  </a:txBody>
                  <a:tcPr/>
                </a:tc>
                <a:tc>
                  <a:txBody>
                    <a:bodyPr/>
                    <a:lstStyle/>
                    <a:p>
                      <a:r>
                        <a:t>Strong (5)</a:t>
                      </a:r>
                    </a:p>
                  </a:txBody>
                  <a:tcPr/>
                </a:tc>
                <a:extLst>
                  <a:ext uri="{0D108BD9-81ED-4DB2-BD59-A6C34878D82A}">
                    <a16:rowId xmlns:a16="http://schemas.microsoft.com/office/drawing/2014/main" val="10000"/>
                  </a:ext>
                </a:extLst>
              </a:tr>
              <a:tr h="457200">
                <a:tc>
                  <a:txBody>
                    <a:bodyPr/>
                    <a:lstStyle/>
                    <a:p>
                      <a:r>
                        <a:rPr b="1"/>
                        <a:t>Real problem</a:t>
                      </a:r>
                    </a:p>
                  </a:txBody>
                  <a:tcPr/>
                </a:tc>
                <a:tc>
                  <a:txBody>
                    <a:bodyPr/>
                    <a:lstStyle/>
                    <a:p>
                      <a:r>
                        <a:t>Technology looking for a use</a:t>
                      </a:r>
                    </a:p>
                  </a:txBody>
                  <a:tcPr/>
                </a:tc>
                <a:tc>
                  <a:txBody>
                    <a:bodyPr/>
                    <a:lstStyle/>
                    <a:p>
                      <a:r>
                        <a:t>Named pain, quantified</a:t>
                      </a:r>
                    </a:p>
                  </a:txBody>
                  <a:tcPr/>
                </a:tc>
                <a:extLst>
                  <a:ext uri="{0D108BD9-81ED-4DB2-BD59-A6C34878D82A}">
                    <a16:rowId xmlns:a16="http://schemas.microsoft.com/office/drawing/2014/main" val="10001"/>
                  </a:ext>
                </a:extLst>
              </a:tr>
              <a:tr h="457200">
                <a:tc>
                  <a:txBody>
                    <a:bodyPr/>
                    <a:lstStyle/>
                    <a:p>
                      <a:r>
                        <a:rPr b="1"/>
                        <a:t>Feasible</a:t>
                      </a:r>
                    </a:p>
                  </a:txBody>
                  <a:tcPr/>
                </a:tc>
                <a:tc>
                  <a:txBody>
                    <a:bodyPr/>
                    <a:lstStyle/>
                    <a:p>
                      <a:r>
                        <a:t>Hand-waving</a:t>
                      </a:r>
                    </a:p>
                  </a:txBody>
                  <a:tcPr/>
                </a:tc>
                <a:tc>
                  <a:txBody>
                    <a:bodyPr/>
                    <a:lstStyle/>
                    <a:p>
                      <a:r>
                        <a:t>Tried it, knows the limits</a:t>
                      </a:r>
                    </a:p>
                  </a:txBody>
                  <a:tcPr/>
                </a:tc>
                <a:extLst>
                  <a:ext uri="{0D108BD9-81ED-4DB2-BD59-A6C34878D82A}">
                    <a16:rowId xmlns:a16="http://schemas.microsoft.com/office/drawing/2014/main" val="10002"/>
                  </a:ext>
                </a:extLst>
              </a:tr>
              <a:tr h="457200">
                <a:tc>
                  <a:txBody>
                    <a:bodyPr/>
                    <a:lstStyle/>
                    <a:p>
                      <a:r>
                        <a:rPr b="1"/>
                        <a:t>Honest costs</a:t>
                      </a:r>
                    </a:p>
                  </a:txBody>
                  <a:tcPr/>
                </a:tc>
                <a:tc>
                  <a:txBody>
                    <a:bodyPr/>
                    <a:lstStyle/>
                    <a:p>
                      <a:r>
                        <a:t>Licence fee only</a:t>
                      </a:r>
                    </a:p>
                  </a:txBody>
                  <a:tcPr/>
                </a:tc>
                <a:tc>
                  <a:txBody>
                    <a:bodyPr/>
                    <a:lstStyle/>
                    <a:p>
                      <a:r>
                        <a:t>Full iceberg, review time</a:t>
                      </a:r>
                    </a:p>
                  </a:txBody>
                  <a:tcPr/>
                </a:tc>
                <a:extLst>
                  <a:ext uri="{0D108BD9-81ED-4DB2-BD59-A6C34878D82A}">
                    <a16:rowId xmlns:a16="http://schemas.microsoft.com/office/drawing/2014/main" val="10003"/>
                  </a:ext>
                </a:extLst>
              </a:tr>
              <a:tr h="457200">
                <a:tc>
                  <a:txBody>
                    <a:bodyPr/>
                    <a:lstStyle/>
                    <a:p>
                      <a:r>
                        <a:rPr b="1"/>
                        <a:t>Risk handled</a:t>
                      </a:r>
                    </a:p>
                  </a:txBody>
                  <a:tcPr/>
                </a:tc>
                <a:tc>
                  <a:txBody>
                    <a:bodyPr/>
                    <a:lstStyle/>
                    <a:p>
                      <a:r>
                        <a:t>"A human reviews it"</a:t>
                      </a:r>
                    </a:p>
                  </a:txBody>
                  <a:tcPr/>
                </a:tc>
                <a:tc>
                  <a:txBody>
                    <a:bodyPr/>
                    <a:lstStyle/>
                    <a:p>
                      <a:r>
                        <a:t>Named reviewer, real authority, logged</a:t>
                      </a:r>
                    </a:p>
                  </a:txBody>
                  <a:tcPr/>
                </a:tc>
                <a:extLst>
                  <a:ext uri="{0D108BD9-81ED-4DB2-BD59-A6C34878D82A}">
                    <a16:rowId xmlns:a16="http://schemas.microsoft.com/office/drawing/2014/main" val="10004"/>
                  </a:ext>
                </a:extLst>
              </a:tr>
              <a:tr h="457200">
                <a:tc>
                  <a:txBody>
                    <a:bodyPr/>
                    <a:lstStyle/>
                    <a:p>
                      <a:r>
                        <a:rPr b="1"/>
                        <a:t>Owned</a:t>
                      </a:r>
                    </a:p>
                  </a:txBody>
                  <a:tcPr/>
                </a:tc>
                <a:tc>
                  <a:txBody>
                    <a:bodyPr/>
                    <a:lstStyle/>
                    <a:p>
                      <a:r>
                        <a:t>Nobody named</a:t>
                      </a:r>
                    </a:p>
                  </a:txBody>
                  <a:tcPr/>
                </a:tc>
                <a:tc>
                  <a:txBody>
                    <a:bodyPr/>
                    <a:lstStyle/>
                    <a:p>
                      <a:r>
                        <a:t>Named owner, named budget</a:t>
                      </a:r>
                    </a:p>
                  </a:txBody>
                  <a:tcPr/>
                </a:tc>
                <a:extLst>
                  <a:ext uri="{0D108BD9-81ED-4DB2-BD59-A6C34878D82A}">
                    <a16:rowId xmlns:a16="http://schemas.microsoft.com/office/drawing/2014/main" val="10005"/>
                  </a:ext>
                </a:extLst>
              </a:tr>
              <a:tr h="457200">
                <a:tc>
                  <a:txBody>
                    <a:bodyPr/>
                    <a:lstStyle/>
                    <a:p>
                      <a:r>
                        <a:rPr b="1"/>
                        <a:t>Decidable</a:t>
                      </a:r>
                    </a:p>
                  </a:txBody>
                  <a:tcPr/>
                </a:tc>
                <a:tc>
                  <a:txBody>
                    <a:bodyPr/>
                    <a:lstStyle/>
                    <a:p>
                      <a:r>
                        <a:t>"We'll see how it goes"</a:t>
                      </a:r>
                    </a:p>
                  </a:txBody>
                  <a:tcPr/>
                </a:tc>
                <a:tc>
                  <a:txBody>
                    <a:bodyPr/>
                    <a:lstStyle/>
                    <a:p>
                      <a:r>
                        <a:rPr dirty="0"/>
                        <a:t>Date, criterion, kill switch</a:t>
                      </a:r>
                    </a:p>
                  </a:txBody>
                  <a:tcPr/>
                </a:tc>
                <a:extLst>
                  <a:ext uri="{0D108BD9-81ED-4DB2-BD59-A6C34878D82A}">
                    <a16:rowId xmlns:a16="http://schemas.microsoft.com/office/drawing/2014/main" val="10006"/>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sz="quarter" idx="1"/>
          </p:nvPr>
        </p:nvSpPr>
        <p:spPr/>
        <p:txBody>
          <a:bodyPr/>
          <a:lstStyle/>
          <a:p>
            <a:pPr>
              <a:defRPr sz="3200"/>
            </a:pPr>
            <a:r>
              <a:rPr b="1"/>
              <a:t>After the Pitches
</a:t>
            </a:r>
          </a:p>
        </p:txBody>
      </p:sp>
      <p:sp>
        <p:nvSpPr>
          <p:cNvPr id="3" name="Title 2"/>
          <p:cNvSpPr>
            <a:spLocks noGrp="1"/>
          </p:cNvSpPr>
          <p:nvPr>
            <p:ph type="ctrTitle" sz="quarter"/>
          </p:nvPr>
        </p:nvSpPr>
        <p:spPr/>
        <p:txBody>
          <a:bodyPr wrap="square">
            <a:noAutofit/>
          </a:bodyPr>
          <a:lstStyle/>
          <a:p>
            <a:r>
              <a:rPr sz="4200" b="1" i="0">
                <a:latin typeface="Times New Roman"/>
              </a:rPr>
              <a:t>After the Pitches</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Room Learned</a:t>
            </a:r>
          </a:p>
        </p:txBody>
      </p:sp>
      <p:sp>
        <p:nvSpPr>
          <p:cNvPr id="3" name="Content Placeholder 2"/>
          <p:cNvSpPr>
            <a:spLocks noGrp="1"/>
          </p:cNvSpPr>
          <p:nvPr>
            <p:ph idx="1"/>
          </p:nvPr>
        </p:nvSpPr>
        <p:spPr/>
        <p:txBody>
          <a:bodyPr/>
          <a:lstStyle/>
          <a:p>
            <a:r>
              <a:t> Common patterns worth naming out loud in the debrief:</a:t>
            </a:r>
          </a:p>
          <a:p>
            <a:r>
              <a:t> The strongest pitches were the</a:t>
            </a:r>
            <a:r>
              <a:rPr b="1"/>
              <a:t> narrowest</a:t>
            </a:r>
          </a:p>
          <a:p>
            <a:r>
              <a:t> Almost every team underestimated</a:t>
            </a:r>
            <a:r>
              <a:rPr b="1"/>
              <a:t> review time</a:t>
            </a:r>
          </a:p>
          <a:p>
            <a:r>
              <a:t> The ownership question was the hardest to answer</a:t>
            </a:r>
          </a:p>
          <a:p>
            <a:r>
              <a:t> Data access came up in nearly every challenge</a:t>
            </a:r>
          </a:p>
          <a:p>
            <a:r>
              <a:t> The "what would make us stop" answers got much better by the third pitch</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Your 30/60/90 Day Plan</a:t>
            </a:r>
          </a:p>
        </p:txBody>
      </p:sp>
      <p:sp>
        <p:nvSpPr>
          <p:cNvPr id="3" name="Content Placeholder 2"/>
          <p:cNvSpPr>
            <a:spLocks noGrp="1"/>
          </p:cNvSpPr>
          <p:nvPr>
            <p:ph idx="1"/>
          </p:nvPr>
        </p:nvSpPr>
        <p:spPr/>
        <p:txBody>
          <a:bodyPr/>
          <a:lstStyle/>
          <a:p>
            <a:r>
              <a:t> Ten minutes, individually. Be specific and be realistic.</a:t>
            </a:r>
          </a:p>
          <a:p>
            <a:r>
              <a:rPr b="1"/>
              <a:t> Next 30 days</a:t>
            </a:r>
          </a:p>
          <a:p>
            <a:r>
              <a:t> One thing you will personally do with AI, weekly</a:t>
            </a:r>
          </a:p>
          <a:p>
            <a:r>
              <a:t> One conversation you will have — and with whom</a:t>
            </a:r>
          </a:p>
          <a:p>
            <a:r>
              <a:t> One thing you will find out</a:t>
            </a:r>
            <a:r>
              <a:rPr i="1"/>
              <a:t> (data access? shadow usage? the correction rate?)</a:t>
            </a:r>
          </a:p>
          <a:p>
            <a:r>
              <a:rPr b="1"/>
              <a:t> Next 60 days</a:t>
            </a:r>
          </a:p>
          <a:p>
            <a:r>
              <a:t> One use case moving, with a named owner</a:t>
            </a:r>
          </a:p>
          <a:p>
            <a:r>
              <a:t> One governance thing started — the one-page rule, or the inventory</a:t>
            </a:r>
          </a:p>
          <a:p>
            <a:r>
              <a:rPr b="1"/>
              <a:t> Next 90 days</a:t>
            </a:r>
          </a:p>
          <a:p>
            <a:r>
              <a:t> One pilot running against a real baseline, with a decision date on the calendar</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Six Questions, One Last Time</a:t>
            </a:r>
          </a:p>
        </p:txBody>
      </p:sp>
      <p:sp>
        <p:nvSpPr>
          <p:cNvPr id="3" name="Content Placeholder 2"/>
          <p:cNvSpPr>
            <a:spLocks noGrp="1"/>
          </p:cNvSpPr>
          <p:nvPr>
            <p:ph idx="1"/>
          </p:nvPr>
        </p:nvSpPr>
        <p:spPr/>
        <p:txBody>
          <a:bodyPr/>
          <a:lstStyle/>
          <a:p>
            <a:r>
              <a:t> Keep these. They are the most portable thing in this course.</a:t>
            </a:r>
          </a:p>
          <a:p>
            <a:r>
              <a:rPr b="1"/>
              <a:t> Whose job gets measurably better?</a:t>
            </a:r>
          </a:p>
          <a:p>
            <a:r>
              <a:rPr b="1"/>
              <a:t> What does this cost us today?</a:t>
            </a:r>
          </a:p>
          <a:p>
            <a:r>
              <a:rPr b="1"/>
              <a:t> What happens when it's wrong, and who catches it?</a:t>
            </a:r>
          </a:p>
          <a:p>
            <a:r>
              <a:rPr b="1"/>
              <a:t> Does the data exist, and can we get to it?</a:t>
            </a:r>
          </a:p>
          <a:p>
            <a:r>
              <a:rPr b="1"/>
              <a:t> How will we know in 90 days?</a:t>
            </a:r>
          </a:p>
          <a:p>
            <a:r>
              <a:rPr b="1"/>
              <a:t> What would make us stop?</a:t>
            </a:r>
          </a:p>
          <a:p>
            <a:endParaRPr b="1"/>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
        <p:nvSpPr>
          <p:cNvPr id="5" name="Rectangle 4"/>
          <p:cNvSpPr/>
          <p:nvPr/>
        </p:nvSpPr>
        <p:spPr>
          <a:xfrm>
            <a:off x="495300" y="5596731"/>
            <a:ext cx="7507224" cy="1316736"/>
          </a:xfrm>
          <a:prstGeom prst="rect">
            <a:avLst/>
          </a:prstGeom>
          <a:solidFill>
            <a:srgbClr val="F2F2F2"/>
          </a:solidFill>
          <a:ln>
            <a:solidFill>
              <a:srgbClr val="D9D9D9"/>
            </a:solidFill>
          </a:ln>
        </p:spPr>
        <p:style>
          <a:lnRef idx="1">
            <a:schemeClr val="accent1"/>
          </a:lnRef>
          <a:fillRef idx="3">
            <a:schemeClr val="accent1"/>
          </a:fillRef>
          <a:effectRef idx="2">
            <a:schemeClr val="accent1"/>
          </a:effectRef>
          <a:fontRef idx="minor">
            <a:schemeClr val="lt1"/>
          </a:fontRef>
        </p:style>
        <p:txBody>
          <a:bodyPr lIns="128016" tIns="73152" rIns="128016" bIns="73152" rtlCol="0" anchor="ctr"/>
          <a:lstStyle/>
          <a:p>
            <a:pPr algn="ctr"/>
            <a:r>
              <a:rPr sz="1800" i="1">
                <a:solidFill>
                  <a:srgbClr val="333333"/>
                </a:solidFill>
              </a:rPr>
              <a:t>You will sit in a meeting within a month where nobody asks any of these. Be the person who does.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You're Taking With You</a:t>
            </a:r>
          </a:p>
        </p:txBody>
      </p:sp>
      <p:sp>
        <p:nvSpPr>
          <p:cNvPr id="3" name="Content Placeholder 2"/>
          <p:cNvSpPr>
            <a:spLocks noGrp="1"/>
          </p:cNvSpPr>
          <p:nvPr>
            <p:ph idx="1"/>
          </p:nvPr>
        </p:nvSpPr>
        <p:spPr/>
        <p:txBody>
          <a:bodyPr/>
          <a:lstStyle/>
          <a:p>
            <a:r>
              <a:t> A</a:t>
            </a:r>
            <a:r>
              <a:rPr b="1"/>
              <a:t> prompt library</a:t>
            </a:r>
            <a:r>
              <a:t> you'll actually use</a:t>
            </a:r>
          </a:p>
          <a:p>
            <a:r>
              <a:rPr b="1"/>
              <a:t> Trust thresholds</a:t>
            </a:r>
            <a:r>
              <a:t> for three of your own tasks</a:t>
            </a:r>
          </a:p>
          <a:p>
            <a:r>
              <a:t> A</a:t>
            </a:r>
            <a:r>
              <a:rPr b="1"/>
              <a:t> scored use-case portfolio</a:t>
            </a:r>
          </a:p>
          <a:p>
            <a:r>
              <a:t> An</a:t>
            </a:r>
            <a:r>
              <a:rPr b="1"/>
              <a:t> honest maturity assessment</a:t>
            </a:r>
            <a:r>
              <a:t> and your three red foundations</a:t>
            </a:r>
          </a:p>
          <a:p>
            <a:r>
              <a:t> A</a:t>
            </a:r>
            <a:r>
              <a:rPr b="1"/>
              <a:t> communication playbook</a:t>
            </a:r>
            <a:r>
              <a:t> for the four reactions</a:t>
            </a:r>
          </a:p>
          <a:p>
            <a:r>
              <a:rPr b="1"/>
              <a:t> Three governance controls</a:t>
            </a:r>
            <a:r>
              <a:t> you could implement next week</a:t>
            </a:r>
          </a:p>
          <a:p>
            <a:r>
              <a:t> A</a:t>
            </a:r>
            <a:r>
              <a:rPr b="1"/>
              <a:t> one-page business case</a:t>
            </a:r>
            <a:r>
              <a:t> , challenged and improved</a:t>
            </a:r>
          </a:p>
          <a:p>
            <a:r>
              <a:t> A</a:t>
            </a:r>
            <a:r>
              <a:rPr b="1"/>
              <a:t> 30/60/90 day plan</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Three Things Worth Remembering</a:t>
            </a:r>
          </a:p>
        </p:txBody>
      </p:sp>
      <p:sp>
        <p:nvSpPr>
          <p:cNvPr id="3" name="Content Placeholder 2"/>
          <p:cNvSpPr>
            <a:spLocks noGrp="1"/>
          </p:cNvSpPr>
          <p:nvPr>
            <p:ph idx="1"/>
          </p:nvPr>
        </p:nvSpPr>
        <p:spPr/>
        <p:txBody>
          <a:bodyPr/>
          <a:lstStyle/>
          <a:p>
            <a:r>
              <a:rPr b="1"/>
              <a:t> 1. The scarce skill is choosing problems, not building models.</a:t>
            </a:r>
            <a:r>
              <a:t> That is your job, and it always was.</a:t>
            </a:r>
          </a:p>
          <a:p>
            <a:r>
              <a:rPr b="1"/>
              <a:t> 2. Confidence is not accuracy.</a:t>
            </a:r>
            <a:r>
              <a:t> Design around it. Match the checking to the cost and reversibility of being wrong.</a:t>
            </a:r>
          </a:p>
          <a:p>
            <a:r>
              <a:rPr b="1"/>
              <a:t> 3. Accountability concentrates on a named person, or it evaporates.</a:t>
            </a:r>
            <a:r>
              <a:t> "The AI did it" is not a defense.</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Close</a:t>
            </a:r>
          </a:p>
        </p:txBody>
      </p:sp>
      <p:sp>
        <p:nvSpPr>
          <p:cNvPr id="3" name="Content Placeholder 2"/>
          <p:cNvSpPr>
            <a:spLocks noGrp="1"/>
          </p:cNvSpPr>
          <p:nvPr>
            <p:ph idx="1"/>
          </p:nvPr>
        </p:nvSpPr>
        <p:spPr/>
        <p:txBody>
          <a:bodyPr/>
          <a:lstStyle/>
          <a:p>
            <a:r>
              <a:t> Parking lot — anything still unanswered</a:t>
            </a:r>
          </a:p>
          <a:p>
            <a:r>
              <a:t> What you wanted on Day 1: did you get it?</a:t>
            </a:r>
          </a:p>
          <a:p>
            <a:r>
              <a:t> Questions, now and afterwards</a:t>
            </a:r>
          </a:p>
          <a:p>
            <a:r>
              <a:rPr b="1"/>
              <a:t> Elephant Scale</a:t>
            </a:r>
            <a:r>
              <a:t> https://elephantscale.com/ · info@elephantscale.com</a:t>
            </a:r>
          </a:p>
        </p:txBody>
      </p:sp>
      <p:sp>
        <p:nvSpPr>
          <p:cNvPr id="4" name="TextBox 3"/>
          <p:cNvSpPr txBox="1"/>
          <p:nvPr/>
        </p:nvSpPr>
        <p:spPr>
          <a:xfrm>
            <a:off x="704088" y="8065008"/>
            <a:ext cx="8915400" cy="228600"/>
          </a:xfrm>
          <a:prstGeom prst="rect">
            <a:avLst/>
          </a:prstGeom>
          <a:noFill/>
        </p:spPr>
        <p:txBody>
          <a:bodyPr wrap="none">
            <a:spAutoFit/>
          </a:bodyPr>
          <a:lstStyle/>
          <a:p>
            <a:r>
              <a:rPr sz="800">
                <a:solidFill>
                  <a:srgbClr val="000000"/>
                </a:solidFill>
              </a:rPr>
              <a:t>Copyright © 2026 by Elephant Scale, All Rights Reserved</a:t>
            </a:r>
          </a:p>
        </p:txBody>
      </p:sp>
    </p:spTree>
  </p:cSld>
  <p:clrMapOvr>
    <a:masterClrMapping/>
  </p:clrMapOvr>
</p:sld>
</file>

<file path=ppt/theme/theme1.xml><?xml version="1.0" encoding="utf-8"?>
<a:theme xmlns:a="http://schemas.openxmlformats.org/drawingml/2006/main" name="LPc_New">
  <a:themeElements>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fontScheme name="LPc_New">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30000"/>
          </a:spcBef>
          <a:spcAft>
            <a:spcPct val="0"/>
          </a:spcAft>
          <a:buClrTx/>
          <a:buSzTx/>
          <a:buFontTx/>
          <a:buNone/>
          <a:tabLst/>
          <a:defRPr kumimoji="0" lang="en-US" sz="1000" b="0" i="0" u="none" strike="noStrike" cap="none" normalizeH="0" baseline="0">
            <a:ln>
              <a:noFill/>
            </a:ln>
            <a:solidFill>
              <a:schemeClr val="tx1"/>
            </a:solidFill>
            <a:effectLst/>
            <a:latin typeface="Garamond" pitchFamily="-110" charset="0"/>
          </a:defRPr>
        </a:defPPr>
      </a:lstStyle>
    </a:lnDef>
  </a:objectDefaults>
  <a:extraClrSchemeLst>
    <a:extraClrScheme>
      <a:clrScheme name="LPc_New 1">
        <a:dk1>
          <a:srgbClr val="000099"/>
        </a:dk1>
        <a:lt1>
          <a:srgbClr val="FFFFFF"/>
        </a:lt1>
        <a:dk2>
          <a:srgbClr val="0000FF"/>
        </a:dk2>
        <a:lt2>
          <a:srgbClr val="FFFF00"/>
        </a:lt2>
        <a:accent1>
          <a:srgbClr val="FF6633"/>
        </a:accent1>
        <a:accent2>
          <a:srgbClr val="FF00FF"/>
        </a:accent2>
        <a:accent3>
          <a:srgbClr val="AAAAFF"/>
        </a:accent3>
        <a:accent4>
          <a:srgbClr val="DADADA"/>
        </a:accent4>
        <a:accent5>
          <a:srgbClr val="FFB8AD"/>
        </a:accent5>
        <a:accent6>
          <a:srgbClr val="E700E7"/>
        </a:accent6>
        <a:hlink>
          <a:srgbClr val="FF0000"/>
        </a:hlink>
        <a:folHlink>
          <a:srgbClr val="808080"/>
        </a:folHlink>
      </a:clrScheme>
      <a:clrMap bg1="dk2" tx1="lt1" bg2="dk1" tx2="lt2" accent1="accent1" accent2="accent2" accent3="accent3" accent4="accent4" accent5="accent5" accent6="accent6" hlink="hlink" folHlink="folHlink"/>
    </a:extraClrScheme>
    <a:extraClrScheme>
      <a:clrScheme name="LPc_New 2">
        <a:dk1>
          <a:srgbClr val="000066"/>
        </a:dk1>
        <a:lt1>
          <a:srgbClr val="CCECFF"/>
        </a:lt1>
        <a:dk2>
          <a:srgbClr val="000080"/>
        </a:dk2>
        <a:lt2>
          <a:srgbClr val="000000"/>
        </a:lt2>
        <a:accent1>
          <a:srgbClr val="9999FF"/>
        </a:accent1>
        <a:accent2>
          <a:srgbClr val="CC00FF"/>
        </a:accent2>
        <a:accent3>
          <a:srgbClr val="E2F4FF"/>
        </a:accent3>
        <a:accent4>
          <a:srgbClr val="000056"/>
        </a:accent4>
        <a:accent5>
          <a:srgbClr val="CACAFF"/>
        </a:accent5>
        <a:accent6>
          <a:srgbClr val="B900E7"/>
        </a:accent6>
        <a:hlink>
          <a:srgbClr val="00CC99"/>
        </a:hlink>
        <a:folHlink>
          <a:srgbClr val="0099CC"/>
        </a:folHlink>
      </a:clrScheme>
      <a:clrMap bg1="lt1" tx1="dk1" bg2="lt2" tx2="dk2" accent1="accent1" accent2="accent2" accent3="accent3" accent4="accent4" accent5="accent5" accent6="accent6" hlink="hlink" folHlink="folHlink"/>
    </a:extraClrScheme>
    <a:extraClrScheme>
      <a:clrScheme name="LPc_New 3">
        <a:dk1>
          <a:srgbClr val="000000"/>
        </a:dk1>
        <a:lt1>
          <a:srgbClr val="FFFFFF"/>
        </a:lt1>
        <a:dk2>
          <a:srgbClr val="000000"/>
        </a:dk2>
        <a:lt2>
          <a:srgbClr val="393939"/>
        </a:lt2>
        <a:accent1>
          <a:srgbClr val="B2B2B2"/>
        </a:accent1>
        <a:accent2>
          <a:srgbClr val="868686"/>
        </a:accent2>
        <a:accent3>
          <a:srgbClr val="FFFFFF"/>
        </a:accent3>
        <a:accent4>
          <a:srgbClr val="000000"/>
        </a:accent4>
        <a:accent5>
          <a:srgbClr val="D5D5D5"/>
        </a:accent5>
        <a:accent6>
          <a:srgbClr val="797979"/>
        </a:accent6>
        <a:hlink>
          <a:srgbClr val="5F5F5F"/>
        </a:hlink>
        <a:folHlink>
          <a:srgbClr val="DDDDDD"/>
        </a:folHlink>
      </a:clrScheme>
      <a:clrMap bg1="lt1" tx1="dk1" bg2="lt2" tx2="dk2" accent1="accent1" accent2="accent2" accent3="accent3" accent4="accent4" accent5="accent5" accent6="accent6" hlink="hlink" folHlink="folHlink"/>
    </a:extraClrScheme>
    <a:extraClrScheme>
      <a:clrScheme name="LPc_New 4">
        <a:dk1>
          <a:srgbClr val="000000"/>
        </a:dk1>
        <a:lt1>
          <a:srgbClr val="FFFFFF"/>
        </a:lt1>
        <a:dk2>
          <a:srgbClr val="660033"/>
        </a:dk2>
        <a:lt2>
          <a:srgbClr val="FFFF66"/>
        </a:lt2>
        <a:accent1>
          <a:srgbClr val="FF0033"/>
        </a:accent1>
        <a:accent2>
          <a:srgbClr val="CC6600"/>
        </a:accent2>
        <a:accent3>
          <a:srgbClr val="B8AAAD"/>
        </a:accent3>
        <a:accent4>
          <a:srgbClr val="DADADA"/>
        </a:accent4>
        <a:accent5>
          <a:srgbClr val="FFAAAD"/>
        </a:accent5>
        <a:accent6>
          <a:srgbClr val="B95C00"/>
        </a:accent6>
        <a:hlink>
          <a:srgbClr val="999933"/>
        </a:hlink>
        <a:folHlink>
          <a:srgbClr val="A50021"/>
        </a:folHlink>
      </a:clrScheme>
      <a:clrMap bg1="dk2" tx1="lt1" bg2="dk1" tx2="lt2" accent1="accent1" accent2="accent2" accent3="accent3" accent4="accent4" accent5="accent5" accent6="accent6" hlink="hlink" folHlink="folHlink"/>
    </a:extraClrScheme>
    <a:extraClrScheme>
      <a:clrScheme name="LPc_New 5">
        <a:dk1>
          <a:srgbClr val="000000"/>
        </a:dk1>
        <a:lt1>
          <a:srgbClr val="FFFFFF"/>
        </a:lt1>
        <a:dk2>
          <a:srgbClr val="CCECFF"/>
        </a:dk2>
        <a:lt2>
          <a:srgbClr val="000080"/>
        </a:lt2>
        <a:accent1>
          <a:srgbClr val="9999FF"/>
        </a:accent1>
        <a:accent2>
          <a:srgbClr val="CC00FF"/>
        </a:accent2>
        <a:accent3>
          <a:srgbClr val="E2F4FF"/>
        </a:accent3>
        <a:accent4>
          <a:srgbClr val="DADADA"/>
        </a:accent4>
        <a:accent5>
          <a:srgbClr val="CACAFF"/>
        </a:accent5>
        <a:accent6>
          <a:srgbClr val="B900E7"/>
        </a:accent6>
        <a:hlink>
          <a:srgbClr val="00CC99"/>
        </a:hlink>
        <a:folHlink>
          <a:srgbClr val="0099CC"/>
        </a:folHlink>
      </a:clrScheme>
      <a:clrMap bg1="dk2" tx1="lt1" bg2="dk1" tx2="lt2" accent1="accent1" accent2="accent2" accent3="accent3" accent4="accent4" accent5="accent5" accent6="accent6" hlink="hlink" folHlink="folHlink"/>
    </a:extraClrScheme>
    <a:extraClrScheme>
      <a:clrScheme name="LPc_New 6">
        <a:dk1>
          <a:srgbClr val="000000"/>
        </a:dk1>
        <a:lt1>
          <a:srgbClr val="FFFFFF"/>
        </a:lt1>
        <a:dk2>
          <a:srgbClr val="CCECFF"/>
        </a:dk2>
        <a:lt2>
          <a:srgbClr val="003399"/>
        </a:lt2>
        <a:accent1>
          <a:srgbClr val="9999FF"/>
        </a:accent1>
        <a:accent2>
          <a:srgbClr val="800080"/>
        </a:accent2>
        <a:accent3>
          <a:srgbClr val="E2F4FF"/>
        </a:accent3>
        <a:accent4>
          <a:srgbClr val="DADADA"/>
        </a:accent4>
        <a:accent5>
          <a:srgbClr val="CACA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
      <a:clrScheme name="LPc_New 7">
        <a:dk1>
          <a:srgbClr val="000000"/>
        </a:dk1>
        <a:lt1>
          <a:srgbClr val="FFFFFF"/>
        </a:lt1>
        <a:dk2>
          <a:srgbClr val="CCECFF"/>
        </a:dk2>
        <a:lt2>
          <a:srgbClr val="003399"/>
        </a:lt2>
        <a:accent1>
          <a:srgbClr val="0794FF"/>
        </a:accent1>
        <a:accent2>
          <a:srgbClr val="800080"/>
        </a:accent2>
        <a:accent3>
          <a:srgbClr val="E2F4FF"/>
        </a:accent3>
        <a:accent4>
          <a:srgbClr val="DADADA"/>
        </a:accent4>
        <a:accent5>
          <a:srgbClr val="AAC8FF"/>
        </a:accent5>
        <a:accent6>
          <a:srgbClr val="730073"/>
        </a:accent6>
        <a:hlink>
          <a:srgbClr val="FF0000"/>
        </a:hlink>
        <a:folHlink>
          <a:srgbClr val="FFFFD2"/>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378292</TotalTime>
  <Words>1507</Words>
  <Application>Microsoft Macintosh PowerPoint</Application>
  <PresentationFormat>Custom</PresentationFormat>
  <Paragraphs>147</Paragraphs>
  <Slides>15</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Arial Bold</vt:lpstr>
      <vt:lpstr>Garamond</vt:lpstr>
      <vt:lpstr>Monotype Sorts</vt:lpstr>
      <vt:lpstr>Times New Roman</vt:lpstr>
      <vt:lpstr>Verdana</vt:lpstr>
      <vt:lpstr>Wingdings</vt:lpstr>
      <vt:lpstr>LPc_New</vt:lpstr>
      <vt:lpstr>Capstone — Pitch and Challenge</vt:lpstr>
      <vt:lpstr>The Last Two Hours</vt:lpstr>
      <vt:lpstr>The Format</vt:lpstr>
      <vt:lpstr>What to Cover in Five Minutes</vt:lpstr>
      <vt:lpstr>The Challenge Checklist</vt:lpstr>
      <vt:lpstr>The Challenge Checklist (continued)</vt:lpstr>
      <vt:lpstr>Rules for the Committee</vt:lpstr>
      <vt:lpstr>Scoring — Optional, and Effective</vt:lpstr>
      <vt:lpstr>After the Pitches</vt:lpstr>
      <vt:lpstr>What the Room Learned</vt:lpstr>
      <vt:lpstr>Your 30/60/90 Day Plan</vt:lpstr>
      <vt:lpstr>The Six Questions, One Last Time</vt:lpstr>
      <vt:lpstr>What You're Taking With You</vt:lpstr>
      <vt:lpstr>The Three Things Worth Remembering</vt:lpstr>
      <vt:lpstr>Close</vt:lpstr>
    </vt:vector>
  </TitlesOfParts>
  <Company>Elephant Scale LLC &amp; LearningPatterns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Spark</dc:title>
  <dc:subject>Spark</dc:subject>
  <dc:creator>Elephant Scale</dc:creator>
  <cp:lastModifiedBy>Brent Borgundvaag</cp:lastModifiedBy>
  <cp:revision>4136</cp:revision>
  <cp:lastPrinted>2010-01-03T02:41:41Z</cp:lastPrinted>
  <dcterms:created xsi:type="dcterms:W3CDTF">2010-07-13T15:22:01Z</dcterms:created>
  <dcterms:modified xsi:type="dcterms:W3CDTF">2026-09-23T02:53:40Z</dcterms:modified>
</cp:coreProperties>
</file>