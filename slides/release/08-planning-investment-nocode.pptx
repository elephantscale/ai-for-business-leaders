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29"/>
  </p:notesMasterIdLst>
  <p:handoutMasterIdLst>
    <p:handoutMasterId r:id="rId3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59" autoAdjust="0"/>
    <p:restoredTop sz="86027" autoAdjust="0"/>
  </p:normalViewPr>
  <p:slideViewPr>
    <p:cSldViewPr>
      <p:cViewPr varScale="1">
        <p:scale>
          <a:sx n="90" d="100"/>
          <a:sy n="90" d="100"/>
        </p:scale>
        <p:origin x="3312" y="192"/>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last teaching module. Everything here feeds directly into the capstone pitch, so keep pointing forward to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Kill criteria written in advance are the difference between a portfolio and a collection of projects nobody can cancel. Ask who has ever cancelled an AI project.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slide gets rueful laughter from anyone who has been in a steering group.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Ask which option their organization defaults to. Most default to buy or build and skip the two middle options, which is where most of the value is.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ladder is one of the most practically valuable slides in the course. It reliably saves organizations a large amount of money.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Insist on this. It is the cheapest risk reduction available and almost nobody does it before writing a business case.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slide is followed by a live build. Do not just describe it — the demonstration is the point of the module.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Step 5 and 6 are the pedagogical core. Show the failure, then fix it with the four-line grounding instruction from Module 3. That connection makes the whole course cohere. Use a public document set — never anything sensitive, on principle and in front of witnesses.</a:t>
            </a:r>
          </a:p>
          <a:p>
            <a:r>
              <a:rPr b="1"/>
              <a:t> Keep this demo SHORT — five minutes, not ten.</a:t>
            </a:r>
            <a:r>
              <a:t> It is now the setup for a hands-on lab, not the main event. Build one assistant fast, hit the fail-then-fix beat once, then hand straight to</a:t>
            </a:r>
            <a:r>
              <a:rPr b="1"/>
              <a:t> Exercise 8b — Build Your Own Grounded Assistant</a:t>
            </a:r>
            <a:r>
              <a:t> , where every participant does it themselves on their Enterprise seat. Don't spend the room's energy watching; spend it building. Use the MTS source packet so it grounds on material they already know.</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hands-on centrepiece of the module. Hand out / point to Exercise 8b. Protect the fail-then-fix beat (steps 3–4) — that is where the learning is. If Custom GPT creation is locked in the tenant, the lab's fallback (a single chat with an uploaded file) delivers the same lesson. Full facilitator guide in</a:t>
            </a:r>
            <a:r>
              <a:rPr>
                <a:latin typeface="Courier New"/>
              </a:rPr>
              <a:t> exercises/08b-build-your-assistant.md</a:t>
            </a:r>
            <a:r>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module's key strategic message. It also reframes no-code from "toy" to "requirements-gathering that produces a working artifact."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answers the scheduled/automated-runs question this room raised directly (the plugins/scheduled-tasks and "repeatable work evolutions" people). Keep it at leader altitude — do</a:t>
            </a:r>
            <a:r>
              <a:rPr b="1"/>
              <a:t> not</a:t>
            </a:r>
            <a:r>
              <a:t> teach trigger/action wiring here; that is a build skill. The four questions are the slide; the mechanics are just enough to make them concrete. For anyone who wants to actually build it, the honest pointer is the</a:t>
            </a:r>
            <a:r>
              <a:rPr b="1"/>
              <a:t> No-Code AI Solutions</a:t>
            </a:r>
            <a:r>
              <a:t> course — its automation module is exactly this, hands-on. Ties straight back to Module 7: a scheduled job that acts unattended is a governance event, and it goes in the inventory.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Tie back to Module 7 explicitly. Democratized building is a governance event, and the inventory is how you keep it from becoming shadow AI with a friendlier face.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rPr dirty="0"/>
              <a:t> Ask which of these appeared in the last business case anyone in the room saw. Usually the first line and nothing else.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one arithmetic slide has saved organizations from more bad business cases than any other content in the course.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Do a worked example on the board with the room's own numbers from Exercise 4. It demystifies the cost question in about ninety seconds.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Exercise 8 template. Hand it out and let them fill it in.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first question is the best one in the list. A vendor who has a rehearsed failure mode to show you understands their own product.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Template:</a:t>
            </a:r>
            <a:r>
              <a:rPr>
                <a:latin typeface="Courier New"/>
              </a:rPr>
              <a:t> exercises/08-business-case.md</a:t>
            </a:r>
            <a:r>
              <a:t> . Some teams will discover their quick win doesn't pay for itself once review time is included. Celebrate that — they just saved a year of effort in forty-five minutes.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Show the six questions again now. Teams that see them before pitching produce far better pitches, and the point of the exercise is the thinking, not the ambush.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a:defRPr/>
            </a:pPr>
            <a:r>
              <a:rPr lang="en-US"/>
              <a:t>Copyright © 2017 Elephant Scale. All rights reserved.</a:t>
            </a:r>
            <a:endParaRPr lang="en-US" dirty="0"/>
          </a:p>
        </p:txBody>
      </p:sp>
      <p:sp>
        <p:nvSpPr>
          <p:cNvPr id="5" name="Slide Number Placeholder 4"/>
          <p:cNvSpPr>
            <a:spLocks noGrp="1"/>
          </p:cNvSpPr>
          <p:nvPr>
            <p:ph type="sldNum" sz="quarter" idx="5"/>
          </p:nvPr>
        </p:nvSpPr>
        <p:spPr/>
        <p:txBody>
          <a:bodyPr/>
          <a:lstStyle/>
          <a:p>
            <a:pPr>
              <a:defRPr/>
            </a:pPr>
            <a:fld id="{EFAADD5D-AF76-45EE-AA5F-6DAC73BF167A}" type="slidenum">
              <a:rPr lang="en-US" smtClean="0"/>
              <a:pPr>
                <a:defRPr/>
              </a:pPr>
              <a:t>27</a:t>
            </a:fld>
            <a:endParaRPr lang="en-US" dirty="0"/>
          </a:p>
        </p:txBody>
      </p:sp>
    </p:spTree>
    <p:extLst>
      <p:ext uri="{BB962C8B-B14F-4D97-AF65-F5344CB8AC3E}">
        <p14:creationId xmlns:p14="http://schemas.microsoft.com/office/powerpoint/2010/main" val="19441533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Buy, Configure, Build — or No-Code</a:t>
            </a:r>
          </a:p>
          <a:p>
            <a:r>
              <a:t>What No-Code Can Actually Do</a:t>
            </a:r>
          </a:p>
          <a:p>
            <a:r>
              <a:t>What It Actually Costs</a:t>
            </a:r>
          </a:p>
          <a:p>
            <a:r>
              <a:t>Exercise 8 — The Business Case</a:t>
            </a:r>
          </a:p>
        </p:txBody>
      </p:sp>
      <p:sp>
        <p:nvSpPr>
          <p:cNvPr id="3" name="Title 2"/>
          <p:cNvSpPr>
            <a:spLocks noGrp="1"/>
          </p:cNvSpPr>
          <p:nvPr>
            <p:ph type="ctrTitle" sz="quarter"/>
          </p:nvPr>
        </p:nvSpPr>
        <p:spPr/>
        <p:txBody>
          <a:bodyPr wrap="square">
            <a:noAutofit/>
          </a:bodyPr>
          <a:lstStyle/>
          <a:p>
            <a:r>
              <a:rPr sz="4200" b="1" i="0">
                <a:latin typeface="Times New Roman"/>
              </a:rPr>
              <a:t>Planning, Investing, and No-Code Enablement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We Are</a:t>
            </a:r>
          </a:p>
        </p:txBody>
      </p:sp>
      <p:sp>
        <p:nvSpPr>
          <p:cNvPr id="3" name="Content Placeholder 2"/>
          <p:cNvSpPr>
            <a:spLocks noGrp="1"/>
          </p:cNvSpPr>
          <p:nvPr>
            <p:ph idx="1"/>
          </p:nvPr>
        </p:nvSpPr>
        <p:spPr/>
        <p:txBody>
          <a:bodyPr/>
          <a:lstStyle/>
          <a:p>
            <a:r>
              <a:t> You have a use case, an honest maturity assessment, a communication plan, and a set of controls.</a:t>
            </a:r>
          </a:p>
          <a:p>
            <a:r>
              <a:rPr b="1"/>
              <a:t> Now: how do you build it, what does it cost, and how do you get it funded?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Use Case to Project</a:t>
            </a:r>
          </a:p>
        </p:txBody>
      </p:sp>
      <p:sp>
        <p:nvSpPr>
          <p:cNvPr id="3" name="Content Placeholder 2"/>
          <p:cNvSpPr>
            <a:spLocks noGrp="1"/>
          </p:cNvSpPr>
          <p:nvPr>
            <p:ph idx="1"/>
          </p:nvPr>
        </p:nvSpPr>
        <p:spPr/>
        <p:txBody>
          <a:bodyPr/>
          <a:lstStyle/>
          <a:p>
            <a:r>
              <a:t> Five things, before anyone starts building:</a:t>
            </a:r>
          </a:p>
          <a:p>
            <a:r>
              <a:rPr b="1"/>
              <a:t> Scope</a:t>
            </a:r>
            <a:r>
              <a:t> — one process, one user group, one measurable outcome. Narrower than feels satisfying.</a:t>
            </a:r>
          </a:p>
          <a:p>
            <a:r>
              <a:rPr b="1"/>
              <a:t> Owner</a:t>
            </a:r>
            <a:r>
              <a:t> — a named person in the line organization whose job includes this working.</a:t>
            </a:r>
          </a:p>
          <a:p>
            <a:r>
              <a:rPr b="1"/>
              <a:t> Success criteria</a:t>
            </a:r>
            <a:r>
              <a:t> — a number, agreed with the people who will be measured, and a</a:t>
            </a:r>
            <a:r>
              <a:rPr b="1"/>
              <a:t> baseline taken first</a:t>
            </a:r>
            <a:r>
              <a:t> .</a:t>
            </a:r>
          </a:p>
          <a:p>
            <a:r>
              <a:rPr b="1"/>
              <a:t> Decision date</a:t>
            </a:r>
            <a:r>
              <a:t> — when we decide to scale, adjust, or stop.</a:t>
            </a:r>
          </a:p>
          <a:p>
            <a:r>
              <a:rPr b="1"/>
              <a:t> Kill criteria</a:t>
            </a:r>
            <a:r>
              <a:t> — what would make us stop. Written down in advance.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Kill Criteria Matter More Here</a:t>
            </a:r>
          </a:p>
        </p:txBody>
      </p:sp>
      <p:sp>
        <p:nvSpPr>
          <p:cNvPr id="3" name="Content Placeholder 2"/>
          <p:cNvSpPr>
            <a:spLocks noGrp="1"/>
          </p:cNvSpPr>
          <p:nvPr>
            <p:ph idx="1"/>
          </p:nvPr>
        </p:nvSpPr>
        <p:spPr/>
        <p:txBody>
          <a:bodyPr/>
          <a:lstStyle/>
          <a:p>
            <a:r>
              <a:t> AI projects are unusually hard to cancel:</a:t>
            </a:r>
          </a:p>
          <a:p>
            <a:r>
              <a:t> The demo is always impressive, even when the system isn't working</a:t>
            </a:r>
          </a:p>
          <a:p>
            <a:r>
              <a:t> "It just needs a better prompt" is always available and sometimes true</a:t>
            </a:r>
          </a:p>
          <a:p>
            <a:r>
              <a:t> Cancelling reads as being against innovation</a:t>
            </a:r>
          </a:p>
          <a:p>
            <a:r>
              <a:t> Nobody wants to be the person who stopped the AI project</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571500" y="5291931"/>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Decide in advance what failure looks like, while everyone is still calm and nobody's reputation is attached.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rPr b="1"/>
              <a:t>Buy, Configure, Build — or No-Code
</a:t>
            </a:r>
            <a:r>
              <a:t>What No-Code Can Actually Do
What It Actually Costs
Exercise 8 — The Business Case
</a:t>
            </a:r>
          </a:p>
        </p:txBody>
      </p:sp>
      <p:sp>
        <p:nvSpPr>
          <p:cNvPr id="3" name="Title 2"/>
          <p:cNvSpPr>
            <a:spLocks noGrp="1"/>
          </p:cNvSpPr>
          <p:nvPr>
            <p:ph type="ctrTitle" sz="quarter"/>
          </p:nvPr>
        </p:nvSpPr>
        <p:spPr/>
        <p:txBody>
          <a:bodyPr wrap="square">
            <a:noAutofit/>
          </a:bodyPr>
          <a:lstStyle/>
          <a:p>
            <a:r>
              <a:rPr sz="4200" b="1" i="0">
                <a:latin typeface="Times New Roman"/>
              </a:rPr>
              <a:t>Buy, Configure, Build — or No-Code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Four Options</a:t>
            </a:r>
          </a:p>
        </p:txBody>
      </p:sp>
      <p:sp>
        <p:nvSpPr>
          <p:cNvPr id="3" name="Content Placeholder 2"/>
          <p:cNvSpPr>
            <a:spLocks noGrp="1"/>
          </p:cNvSpPr>
          <p:nvPr>
            <p:ph idx="1"/>
          </p:nvPr>
        </p:nvSpPr>
        <p:spPr/>
        <p:txBody>
          <a:bodyPr/>
          <a:lstStyle/>
          <a:p>
            <a:r>
              <a:rPr b="1"/>
              <a:t> Buy</a:t>
            </a:r>
            <a:r>
              <a:t> — a product that already does this. Fastest, least control, ongoing licence.</a:t>
            </a:r>
          </a:p>
          <a:p>
            <a:r>
              <a:rPr b="1"/>
              <a:t> Configure</a:t>
            </a:r>
            <a:r>
              <a:t> — a platform you already own, set up for your case. Usually the best value, and usually overlooked.</a:t>
            </a:r>
          </a:p>
          <a:p>
            <a:r>
              <a:rPr b="1"/>
              <a:t> No-code, by the business</a:t>
            </a:r>
            <a:r>
              <a:t> — the people who own the process build it themselves, in hours, with no engineering.</a:t>
            </a:r>
            <a:r>
              <a:rPr i="1"/>
              <a:t> The option most organizations don't know they have.</a:t>
            </a:r>
          </a:p>
          <a:p>
            <a:r>
              <a:rPr b="1"/>
              <a:t> Build</a:t>
            </a:r>
            <a:r>
              <a:t> — engineering effort, custom integration. Most control, most cost, slowest, and yours to maintain forever.</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Start at the Top and Work Down</a:t>
            </a:r>
          </a:p>
        </p:txBody>
      </p:sp>
      <p:sp>
        <p:nvSpPr>
          <p:cNvPr id="3" name="Content Placeholder 2"/>
          <p:cNvSpPr>
            <a:spLocks noGrp="1"/>
          </p:cNvSpPr>
          <p:nvPr>
            <p:ph idx="1"/>
          </p:nvPr>
        </p:nvSpPr>
        <p:spPr/>
        <p:txBody>
          <a:bodyPr/>
          <a:lstStyle/>
          <a:p>
            <a:r>
              <a:t> The order is not arbitrary:</a:t>
            </a:r>
          </a:p>
          <a:p>
            <a:r>
              <a:rPr b="1"/>
              <a:t> Can we do this with a prompt?</a:t>
            </a:r>
            <a:r>
              <a:t> Free. Today. Genuinely — try it first.</a:t>
            </a:r>
          </a:p>
          <a:p>
            <a:r>
              <a:rPr b="1"/>
              <a:t> Can a business user configure an assistant to do it?</a:t>
            </a:r>
            <a:r>
              <a:t> Hours. No engineering.</a:t>
            </a:r>
          </a:p>
          <a:p>
            <a:r>
              <a:rPr b="1"/>
              <a:t> Does a tool we already own do this?</a:t>
            </a:r>
            <a:r>
              <a:t> Check before buying anything.</a:t>
            </a:r>
          </a:p>
          <a:p>
            <a:r>
              <a:rPr b="1"/>
              <a:t> Can we buy it?</a:t>
            </a:r>
            <a:r>
              <a:t> Compare against the running cost of building.</a:t>
            </a:r>
          </a:p>
          <a:p>
            <a:r>
              <a:rPr b="1"/>
              <a:t> Do we have to build it?</a:t>
            </a:r>
            <a:r>
              <a:t> Now you know why, and you can defend the answer.</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704088" y="6227204"/>
            <a:ext cx="7507224" cy="1755648"/>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Most organizations start at 5 and work up. That is how you spend six months proving something a prompt could have shown you on day 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Prototype Rule</a:t>
            </a:r>
          </a:p>
        </p:txBody>
      </p:sp>
      <p:sp>
        <p:nvSpPr>
          <p:cNvPr id="3" name="Content Placeholder 2"/>
          <p:cNvSpPr>
            <a:spLocks noGrp="1"/>
          </p:cNvSpPr>
          <p:nvPr>
            <p:ph idx="1"/>
          </p:nvPr>
        </p:nvSpPr>
        <p:spPr/>
        <p:txBody>
          <a:bodyPr/>
          <a:lstStyle/>
          <a:p>
            <a:r>
              <a:rPr dirty="0"/>
              <a:t> Before funding anything:</a:t>
            </a:r>
          </a:p>
          <a:p>
            <a:endParaRPr lang="en-US" dirty="0"/>
          </a:p>
          <a:p>
            <a:endParaRPr lang="en-US" dirty="0"/>
          </a:p>
          <a:p>
            <a:endParaRPr lang="en-US" dirty="0"/>
          </a:p>
          <a:p>
            <a:endParaRPr lang="en-US" dirty="0"/>
          </a:p>
          <a:p>
            <a:endParaRPr dirty="0"/>
          </a:p>
          <a:p>
            <a:r>
              <a:rPr dirty="0"/>
              <a:t> You will learn, at zero cost:</a:t>
            </a:r>
          </a:p>
          <a:p>
            <a:r>
              <a:rPr dirty="0"/>
              <a:t> Whether the model can do this at all</a:t>
            </a:r>
          </a:p>
          <a:p>
            <a:r>
              <a:rPr dirty="0"/>
              <a:t> What information it actually needs to succeed</a:t>
            </a:r>
          </a:p>
          <a:p>
            <a:r>
              <a:rPr dirty="0"/>
              <a:t> Where it fails and how badly</a:t>
            </a:r>
          </a:p>
          <a:p>
            <a:r>
              <a:rPr dirty="0"/>
              <a:t> What "good" looks like, in enough detail to write a specification</a:t>
            </a:r>
          </a:p>
          <a:p>
            <a:r>
              <a:rPr b="1" dirty="0"/>
              <a:t> If it can't be made to work by hand in a chat window, it will not work automated.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239712" y="1710531"/>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dirty="0">
                <a:solidFill>
                  <a:srgbClr val="333333"/>
                </a:solidFill>
              </a:rPr>
              <a:t>Spend two hours in a chat window doing the task by hand.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Buy, Configure, Build — or No-Code
</a:t>
            </a:r>
            <a:r>
              <a:rPr b="1"/>
              <a:t>What No-Code Can Actually Do
</a:t>
            </a:r>
            <a:r>
              <a:t>What It Actually Costs
Exercise 8 — The Business Case
</a:t>
            </a:r>
          </a:p>
        </p:txBody>
      </p:sp>
      <p:sp>
        <p:nvSpPr>
          <p:cNvPr id="3" name="Title 2"/>
          <p:cNvSpPr>
            <a:spLocks noGrp="1"/>
          </p:cNvSpPr>
          <p:nvPr>
            <p:ph type="ctrTitle" sz="quarter"/>
          </p:nvPr>
        </p:nvSpPr>
        <p:spPr/>
        <p:txBody>
          <a:bodyPr wrap="square">
            <a:noAutofit/>
          </a:bodyPr>
          <a:lstStyle/>
          <a:p>
            <a:r>
              <a:rPr sz="4200" b="1" i="0">
                <a:latin typeface="Times New Roman"/>
              </a:rPr>
              <a:t>What No-Code Can Actually Do</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No-Code AI, Honestly Assessed</a:t>
            </a:r>
          </a:p>
        </p:txBody>
      </p:sp>
      <p:sp>
        <p:nvSpPr>
          <p:cNvPr id="3" name="Content Placeholder 2"/>
          <p:cNvSpPr>
            <a:spLocks noGrp="1"/>
          </p:cNvSpPr>
          <p:nvPr>
            <p:ph idx="1"/>
          </p:nvPr>
        </p:nvSpPr>
        <p:spPr/>
        <p:txBody>
          <a:bodyPr/>
          <a:lstStyle/>
          <a:p>
            <a:r>
              <a:t> Genuinely achievable by a non-programmer, today, in hours:</a:t>
            </a:r>
          </a:p>
          <a:p>
            <a:r>
              <a:rPr b="1"/>
              <a:t> A custom assistant</a:t>
            </a:r>
            <a:r>
              <a:t> with fixed instructions, a defined role, and rules</a:t>
            </a:r>
          </a:p>
          <a:p>
            <a:r>
              <a:rPr b="1"/>
              <a:t> Grounded on your own documents</a:t>
            </a:r>
            <a:r>
              <a:t> — upload a document set, get cited answers</a:t>
            </a:r>
          </a:p>
          <a:p>
            <a:r>
              <a:rPr b="1"/>
              <a:t> Shared with a team</a:t>
            </a:r>
            <a:r>
              <a:t> , so everyone gets the same behavior</a:t>
            </a:r>
          </a:p>
          <a:p>
            <a:r>
              <a:rPr b="1"/>
              <a:t> AI inside the tools people already use</a:t>
            </a:r>
            <a:r>
              <a:t> — documents, email, spreadsheets, meetings</a:t>
            </a:r>
          </a:p>
          <a:p>
            <a:r>
              <a:rPr b="1"/>
              <a:t> An AI step inside an automated workflow</a:t>
            </a:r>
            <a:r>
              <a:t> — triggered by an event, output to a system, no code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Live Demonstration — Build an Assistant in Ten Minutes</a:t>
            </a:r>
          </a:p>
        </p:txBody>
      </p:sp>
      <p:sp>
        <p:nvSpPr>
          <p:cNvPr id="3" name="Content Placeholder 2"/>
          <p:cNvSpPr>
            <a:spLocks noGrp="1"/>
          </p:cNvSpPr>
          <p:nvPr>
            <p:ph idx="1"/>
          </p:nvPr>
        </p:nvSpPr>
        <p:spPr/>
        <p:txBody>
          <a:bodyPr/>
          <a:lstStyle/>
          <a:p>
            <a:r>
              <a:t> In front of the room, from nothing:</a:t>
            </a:r>
          </a:p>
          <a:p>
            <a:r>
              <a:t> Create a custom assistant</a:t>
            </a:r>
          </a:p>
          <a:p>
            <a:r>
              <a:t> Write its instructions — role, rules, what to do when it doesn't know</a:t>
            </a:r>
          </a:p>
          <a:p>
            <a:r>
              <a:t> Upload a document set</a:t>
            </a:r>
          </a:p>
          <a:p>
            <a:r>
              <a:t> Ask it a question — get a cited answer</a:t>
            </a:r>
          </a:p>
          <a:p>
            <a:r>
              <a:t> Ask it something</a:t>
            </a:r>
            <a:r>
              <a:rPr b="1"/>
              <a:t> not</a:t>
            </a:r>
            <a:r>
              <a:t> in the documents — see whether it declines</a:t>
            </a:r>
          </a:p>
          <a:p>
            <a:r>
              <a:t> Fix the instructions so it does decline</a:t>
            </a:r>
          </a:p>
          <a:p>
            <a:r>
              <a:t> Share it</a:t>
            </a:r>
          </a:p>
          <a:p>
            <a:r>
              <a:rPr b="1"/>
              <a:t> No code. No project. No procurement.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Now You Build One — Exercise 8b</a:t>
            </a:r>
          </a:p>
        </p:txBody>
      </p:sp>
      <p:sp>
        <p:nvSpPr>
          <p:cNvPr id="3" name="Content Placeholder 2"/>
          <p:cNvSpPr>
            <a:spLocks noGrp="1"/>
          </p:cNvSpPr>
          <p:nvPr>
            <p:ph idx="1"/>
          </p:nvPr>
        </p:nvSpPr>
        <p:spPr/>
        <p:txBody>
          <a:bodyPr/>
          <a:lstStyle/>
          <a:p>
            <a:r>
              <a:rPr b="1"/>
              <a:t> You just watched it. Now do it — on your own seat, in thirty minutes.</a:t>
            </a:r>
          </a:p>
          <a:p>
            <a:r>
              <a:t> Create a Custom GPT, ground it on the MTS packet</a:t>
            </a:r>
          </a:p>
          <a:p>
            <a:r>
              <a:t> Ask it three questions you know the answers to</a:t>
            </a:r>
          </a:p>
          <a:p>
            <a:r>
              <a:rPr b="1"/>
              <a:t> Ask it something that isn't in the document — watch it make something up</a:t>
            </a:r>
          </a:p>
          <a:p>
            <a:r>
              <a:t> Fix it with four lines of instruction</a:t>
            </a:r>
          </a:p>
          <a:p>
            <a:r>
              <a:t> Share it</a:t>
            </a:r>
          </a:p>
          <a:p>
            <a:r>
              <a:t> The one that made something up in step 3 is the lesson. Everyone will hit it.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Limits of No-Code — Be Honest</a:t>
            </a:r>
          </a:p>
        </p:txBody>
      </p:sp>
      <p:sp>
        <p:nvSpPr>
          <p:cNvPr id="3" name="Content Placeholder 2"/>
          <p:cNvSpPr>
            <a:spLocks noGrp="1"/>
          </p:cNvSpPr>
          <p:nvPr>
            <p:ph idx="1"/>
          </p:nvPr>
        </p:nvSpPr>
        <p:spPr/>
        <p:txBody>
          <a:bodyPr/>
          <a:lstStyle/>
          <a:p>
            <a:r>
              <a:t> You need engineering when you need:</a:t>
            </a:r>
          </a:p>
          <a:p>
            <a:r>
              <a:rPr b="1"/>
              <a:t> Integration</a:t>
            </a:r>
            <a:r>
              <a:t> — reading from or writing to your real systems of record</a:t>
            </a:r>
          </a:p>
          <a:p>
            <a:r>
              <a:rPr b="1"/>
              <a:t> Scale</a:t>
            </a:r>
            <a:r>
              <a:t> — thousands of documents or requests, reliably, on a schedule</a:t>
            </a:r>
          </a:p>
          <a:p>
            <a:r>
              <a:rPr b="1"/>
              <a:t> Control over data flow</a:t>
            </a:r>
            <a:r>
              <a:t> — specific handling, residency, or isolation requirements</a:t>
            </a:r>
          </a:p>
          <a:p>
            <a:r>
              <a:rPr b="1"/>
              <a:t> Auditability</a:t>
            </a:r>
            <a:r>
              <a:t> — evidence-grade logging of what happened and why</a:t>
            </a:r>
          </a:p>
          <a:p>
            <a:r>
              <a:rPr b="1"/>
              <a:t> Custom retrieval</a:t>
            </a:r>
            <a:r>
              <a:t> — sophisticated search over large, complex, or structured content</a:t>
            </a:r>
          </a:p>
          <a:p>
            <a:r>
              <a:rPr b="1"/>
              <a:t> A defined service level</a:t>
            </a:r>
            <a:r>
              <a:t> — because now someone depends on it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Signals You've Outgrown No-Code</a:t>
            </a:r>
          </a:p>
        </p:txBody>
      </p:sp>
      <p:sp>
        <p:nvSpPr>
          <p:cNvPr id="3" name="Content Placeholder 2"/>
          <p:cNvSpPr>
            <a:spLocks noGrp="1"/>
          </p:cNvSpPr>
          <p:nvPr>
            <p:ph idx="1"/>
          </p:nvPr>
        </p:nvSpPr>
        <p:spPr/>
        <p:txBody>
          <a:bodyPr/>
          <a:lstStyle/>
          <a:p>
            <a:r>
              <a:t> Watch for these. They are good news — they mean something is working:</a:t>
            </a:r>
          </a:p>
          <a:p>
            <a:r>
              <a:rPr i="1"/>
              <a:t> "Can we run this on all of them automatically?"</a:t>
            </a:r>
          </a:p>
          <a:p>
            <a:r>
              <a:rPr i="1"/>
              <a:t> "Can it write the result back into the system?"</a:t>
            </a:r>
          </a:p>
          <a:p>
            <a:r>
              <a:rPr i="1"/>
              <a:t> "Can we prove what it did last March?"</a:t>
            </a:r>
          </a:p>
          <a:p>
            <a:r>
              <a:rPr i="1"/>
              <a:t> "What happens when it's down?"</a:t>
            </a:r>
          </a:p>
          <a:p>
            <a:r>
              <a:rPr i="1"/>
              <a:t> "Several teams need their own version of this"</a:t>
            </a:r>
          </a:p>
          <a:p>
            <a:endParaRPr i="1"/>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495300" y="4987131"/>
            <a:ext cx="7507224" cy="2633472"/>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dirty="0">
                <a:solidFill>
                  <a:srgbClr val="333333"/>
                </a:solidFill>
              </a:rPr>
              <a:t>The right sequence is almost always: no-code proves the value, then engineering makes it a system. Reversing that order is how organizations spend a year building something nobody wanted.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Scheduled &amp; Automated Runs — at a Leader's Altitude</a:t>
            </a:r>
          </a:p>
        </p:txBody>
      </p:sp>
      <p:sp>
        <p:nvSpPr>
          <p:cNvPr id="3" name="Content Placeholder 2"/>
          <p:cNvSpPr>
            <a:spLocks noGrp="1"/>
          </p:cNvSpPr>
          <p:nvPr>
            <p:ph idx="1"/>
          </p:nvPr>
        </p:nvSpPr>
        <p:spPr/>
        <p:txBody>
          <a:bodyPr/>
          <a:lstStyle/>
          <a:p>
            <a:r>
              <a:t> Someone asked:</a:t>
            </a:r>
            <a:r>
              <a:rPr i="1"/>
              <a:t> "can we just run this automatically, on a schedule?"</a:t>
            </a:r>
            <a:r>
              <a:t> Yes — and here is what you actually decide.</a:t>
            </a:r>
          </a:p>
          <a:p>
            <a:r>
              <a:rPr b="1"/>
              <a:t> The model is one sentence:</a:t>
            </a:r>
          </a:p>
          <a:p>
            <a:r>
              <a:rPr b="1"/>
              <a:t> The "when" is a trigger</a:t>
            </a:r>
            <a:r>
              <a:t> — and a</a:t>
            </a:r>
            <a:r>
              <a:rPr b="1"/>
              <a:t> schedule is just one kind of trigger</a:t>
            </a:r>
            <a:r>
              <a:t> (every morning at 8:00), alongside an event (a new email, ticket, or row) or a button you press</a:t>
            </a:r>
          </a:p>
          <a:p>
            <a:r>
              <a:rPr b="1"/>
              <a:t> The "do that" is the action</a:t>
            </a:r>
            <a:r>
              <a:t> — and AI drops into the middle as a step: classify, summarize, draft</a:t>
            </a:r>
          </a:p>
          <a:p>
            <a:r>
              <a:rPr b="1"/>
              <a:t> Your stack already does this, no code</a:t>
            </a:r>
            <a:r>
              <a:t> — Power Automate, Copilot Studio</a:t>
            </a:r>
          </a:p>
          <a:p>
            <a:r>
              <a:rPr b="1"/>
              <a:t> Your job isn't to wire it. It's to decide whether it should run</a:t>
            </a:r>
          </a:p>
          <a:p>
            <a:r>
              <a:rPr b="1"/>
              <a:t> Reversible?</a:t>
            </a:r>
            <a:r>
              <a:t> — what breaks if it runs wrong at 3am and nobody sees it until morning?</a:t>
            </a:r>
          </a:p>
          <a:p>
            <a:r>
              <a:rPr b="1"/>
              <a:t> Where's the approval gate?</a:t>
            </a:r>
            <a:r>
              <a:t> —</a:t>
            </a:r>
            <a:r>
              <a:rPr i="1"/>
              <a:t> draft for review</a:t>
            </a:r>
            <a:r>
              <a:t> vs.</a:t>
            </a:r>
            <a:r>
              <a:rPr i="1"/>
              <a:t> send automatically</a:t>
            </a:r>
            <a:r>
              <a:t> is a governance choice, not a technical one</a:t>
            </a:r>
          </a:p>
          <a:p>
            <a:r>
              <a:rPr b="1"/>
              <a:t> Who owns the output?</a:t>
            </a:r>
            <a:r>
              <a:t> — an unattended job still has an accountable owner</a:t>
            </a:r>
          </a:p>
          <a:p>
            <a:r>
              <a:rPr b="1"/>
              <a:t> Is it in the AI inventory?</a:t>
            </a:r>
            <a:r>
              <a:t> — a scheduled bot is shadow AI with a timer</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No-Code Sits in Your Portfolio</a:t>
            </a:r>
          </a:p>
        </p:txBody>
      </p:sp>
      <p:sp>
        <p:nvSpPr>
          <p:cNvPr id="3" name="Content Placeholder 2"/>
          <p:cNvSpPr>
            <a:spLocks noGrp="1"/>
          </p:cNvSpPr>
          <p:nvPr>
            <p:ph idx="1"/>
          </p:nvPr>
        </p:nvSpPr>
        <p:spPr/>
        <p:txBody>
          <a:bodyPr/>
          <a:lstStyle/>
          <a:p>
            <a:r>
              <a:rPr b="1"/>
              <a:t> Quick wins</a:t>
            </a:r>
            <a:r>
              <a:t> — often entirely no-code. Ship them that way.</a:t>
            </a:r>
          </a:p>
          <a:p>
            <a:r>
              <a:rPr b="1"/>
              <a:t> Requirements discovery</a:t>
            </a:r>
            <a:r>
              <a:t> — build the no-code version first; the engineered version now has a working specification instead of a wish list.</a:t>
            </a:r>
          </a:p>
          <a:p>
            <a:r>
              <a:rPr b="1"/>
              <a:t> Long tail</a:t>
            </a:r>
            <a:r>
              <a:t> — dozens of small use cases that will never justify a project, done by the people who have them.</a:t>
            </a:r>
          </a:p>
          <a:p>
            <a:r>
              <a:rPr b="1"/>
              <a:t> Skills</a:t>
            </a:r>
            <a:r>
              <a:t> — every business user who builds one understands AI better than any briefing could achieve.</a:t>
            </a:r>
          </a:p>
          <a:p>
            <a:r>
              <a:rPr b="1"/>
              <a:t> The governance corollary:</a:t>
            </a:r>
            <a:r>
              <a:t> no-code assistants go in the inventory too. Easy to build means easy to build ungoverned.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Buy, Configure, Build — or No-Code
What No-Code Can Actually Do
</a:t>
            </a:r>
            <a:r>
              <a:rPr b="1"/>
              <a:t>What It Actually Costs
</a:t>
            </a:r>
            <a:r>
              <a:t>Exercise 8 — The Business Case
</a:t>
            </a:r>
          </a:p>
        </p:txBody>
      </p:sp>
      <p:sp>
        <p:nvSpPr>
          <p:cNvPr id="3" name="Title 2"/>
          <p:cNvSpPr>
            <a:spLocks noGrp="1"/>
          </p:cNvSpPr>
          <p:nvPr>
            <p:ph type="ctrTitle" sz="quarter"/>
          </p:nvPr>
        </p:nvSpPr>
        <p:spPr/>
        <p:txBody>
          <a:bodyPr wrap="square">
            <a:noAutofit/>
          </a:bodyPr>
          <a:lstStyle/>
          <a:p>
            <a:r>
              <a:rPr sz="4200" b="1" i="0">
                <a:latin typeface="Times New Roman"/>
              </a:rPr>
              <a:t>What It Actually Costs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Iceberg Under the Subscription Fee</a:t>
            </a:r>
          </a:p>
        </p:txBody>
      </p:sp>
      <p:sp>
        <p:nvSpPr>
          <p:cNvPr id="3" name="Content Placeholder 2"/>
          <p:cNvSpPr>
            <a:spLocks noGrp="1"/>
          </p:cNvSpPr>
          <p:nvPr>
            <p:ph idx="1"/>
          </p:nvPr>
        </p:nvSpPr>
        <p:spPr/>
        <p:txBody>
          <a:bodyPr/>
          <a:lstStyle/>
          <a:p>
            <a:r>
              <a:rPr b="1"/>
              <a:t> Above the water:</a:t>
            </a:r>
            <a:r>
              <a:t> licences and usage. What the vendor quotes. Often the smallest part.</a:t>
            </a:r>
          </a:p>
          <a:p>
            <a:r>
              <a:rPr b="1"/>
              <a:t> Below:</a:t>
            </a:r>
          </a:p>
          <a:p>
            <a:r>
              <a:rPr b="1"/>
              <a:t> Data work</a:t>
            </a:r>
            <a:r>
              <a:t> — access, cleanup, document governance.</a:t>
            </a:r>
            <a:r>
              <a:rPr i="1"/>
              <a:t> Usually the largest line.</a:t>
            </a:r>
          </a:p>
          <a:p>
            <a:r>
              <a:rPr b="1"/>
              <a:t> Integration</a:t>
            </a:r>
            <a:r>
              <a:t> — connecting to real systems</a:t>
            </a:r>
          </a:p>
          <a:p>
            <a:r>
              <a:rPr b="1"/>
              <a:t> The humans in the loop</a:t>
            </a:r>
            <a:r>
              <a:t> — review time is a real, recurring operating cost</a:t>
            </a:r>
          </a:p>
          <a:p>
            <a:r>
              <a:rPr b="1"/>
              <a:t> Change management</a:t>
            </a:r>
            <a:r>
              <a:t> — training, communication, the productivity dip</a:t>
            </a:r>
          </a:p>
          <a:p>
            <a:r>
              <a:rPr b="1"/>
              <a:t> Governance</a:t>
            </a:r>
            <a:r>
              <a:t> — approval, inventory, logging, audit</a:t>
            </a:r>
          </a:p>
          <a:p>
            <a:r>
              <a:rPr b="1"/>
              <a:t> Evaluation</a:t>
            </a:r>
            <a:r>
              <a:t> — ongoing checking that it still works</a:t>
            </a:r>
          </a:p>
          <a:p>
            <a:r>
              <a:rPr b="1"/>
              <a:t> Operation</a:t>
            </a:r>
            <a:r>
              <a:t> — support, incidents, the person who owns it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Cost Nobody Budgets: Review Time</a:t>
            </a:r>
          </a:p>
        </p:txBody>
      </p:sp>
      <p:sp>
        <p:nvSpPr>
          <p:cNvPr id="3" name="Content Placeholder 2"/>
          <p:cNvSpPr>
            <a:spLocks noGrp="1"/>
          </p:cNvSpPr>
          <p:nvPr>
            <p:ph idx="1"/>
          </p:nvPr>
        </p:nvSpPr>
        <p:spPr/>
        <p:txBody>
          <a:bodyPr/>
          <a:lstStyle/>
          <a:p>
            <a:r>
              <a:rPr dirty="0"/>
              <a:t> If a person must review AI output, that time is an operating cost, forever.</a:t>
            </a:r>
          </a:p>
          <a:p>
            <a:r>
              <a:rPr dirty="0"/>
              <a:t> Do the arithmetic honestly:</a:t>
            </a:r>
          </a:p>
          <a:p>
            <a:endParaRPr dirty="0"/>
          </a:p>
          <a:p>
            <a:endParaRPr lang="en-US" dirty="0"/>
          </a:p>
          <a:p>
            <a:endParaRPr lang="en-US" b="1" dirty="0"/>
          </a:p>
          <a:p>
            <a:endParaRPr lang="en-US" b="1" dirty="0"/>
          </a:p>
          <a:p>
            <a:endParaRPr lang="en-US" b="1" dirty="0"/>
          </a:p>
          <a:p>
            <a:r>
              <a:rPr b="1" dirty="0"/>
              <a:t> Still excellent.</a:t>
            </a:r>
            <a:r>
              <a:rPr dirty="0"/>
              <a:t> But notice: if review takes 40 minutes, you have saved five, and if review is skipped, you have saved 35 minutes and bought an unquantified risk.</a:t>
            </a:r>
          </a:p>
          <a:p>
            <a:endParaRPr dirty="0"/>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3"/>
          <a:stretch>
            <a:fillRect/>
          </a:stretch>
        </p:blipFill>
        <p:spPr>
          <a:xfrm>
            <a:off x="4762" y="2655539"/>
            <a:ext cx="9367838" cy="904105"/>
          </a:xfrm>
          <a:prstGeom prst="rect">
            <a:avLst/>
          </a:prstGeom>
        </p:spPr>
      </p:pic>
      <p:sp>
        <p:nvSpPr>
          <p:cNvPr id="6" name="Rectangle 5"/>
          <p:cNvSpPr/>
          <p:nvPr/>
        </p:nvSpPr>
        <p:spPr>
          <a:xfrm>
            <a:off x="342900" y="6627481"/>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A business case that assumes no review time is either wrong or planning to skip the review.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Estimating Usage Cost</a:t>
            </a:r>
          </a:p>
        </p:txBody>
      </p:sp>
      <p:sp>
        <p:nvSpPr>
          <p:cNvPr id="3" name="Content Placeholder 2"/>
          <p:cNvSpPr>
            <a:spLocks noGrp="1"/>
          </p:cNvSpPr>
          <p:nvPr>
            <p:ph idx="1"/>
          </p:nvPr>
        </p:nvSpPr>
        <p:spPr/>
        <p:txBody>
          <a:bodyPr/>
          <a:lstStyle/>
          <a:p>
            <a:r>
              <a:rPr dirty="0"/>
              <a:t> The napkin calculation:</a:t>
            </a:r>
          </a:p>
          <a:p>
            <a:endParaRPr lang="en-US" dirty="0"/>
          </a:p>
          <a:p>
            <a:endParaRPr lang="en-US" dirty="0"/>
          </a:p>
          <a:p>
            <a:endParaRPr dirty="0"/>
          </a:p>
          <a:p>
            <a:r>
              <a:rPr dirty="0"/>
              <a:t> For most text tasks, per-answer cost is a fraction of a cent. Even at high volume,</a:t>
            </a:r>
            <a:r>
              <a:rPr b="1" dirty="0"/>
              <a:t> usage cost is rarely the deciding factor.</a:t>
            </a:r>
          </a:p>
          <a:p>
            <a:r>
              <a:rPr b="1" dirty="0"/>
              <a:t> Where it does bite:</a:t>
            </a:r>
            <a:r>
              <a:rPr dirty="0"/>
              <a:t> processing very large document sets repeatedly, and agent systems that make many calls per task.</a:t>
            </a:r>
          </a:p>
          <a:p>
            <a:endParaRPr dirty="0"/>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pic>
        <p:nvPicPr>
          <p:cNvPr id="5" name="Picture 4" descr="1.png"/>
          <p:cNvPicPr>
            <a:picLocks noChangeAspect="1"/>
          </p:cNvPicPr>
          <p:nvPr/>
        </p:nvPicPr>
        <p:blipFill>
          <a:blip r:embed="rId3"/>
          <a:stretch>
            <a:fillRect/>
          </a:stretch>
        </p:blipFill>
        <p:spPr>
          <a:xfrm>
            <a:off x="63500" y="1900293"/>
            <a:ext cx="9245600" cy="520700"/>
          </a:xfrm>
          <a:prstGeom prst="rect">
            <a:avLst/>
          </a:prstGeom>
        </p:spPr>
      </p:pic>
      <p:sp>
        <p:nvSpPr>
          <p:cNvPr id="6" name="Rectangle 5"/>
          <p:cNvSpPr/>
          <p:nvPr/>
        </p:nvSpPr>
        <p:spPr>
          <a:xfrm>
            <a:off x="495300" y="6368178"/>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dirty="0">
                <a:solidFill>
                  <a:srgbClr val="333333"/>
                </a:solidFill>
              </a:rPr>
              <a:t>Don't design around token cost prematurely — prices fall. Design around value and risk, which don't.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Business Case, on One Page</a:t>
            </a:r>
          </a:p>
        </p:txBody>
      </p:sp>
      <p:sp>
        <p:nvSpPr>
          <p:cNvPr id="3" name="Content Placeholder 2"/>
          <p:cNvSpPr>
            <a:spLocks noGrp="1"/>
          </p:cNvSpPr>
          <p:nvPr>
            <p:ph idx="1"/>
          </p:nvPr>
        </p:nvSpPr>
        <p:spPr/>
        <p:txBody>
          <a:bodyPr/>
          <a:lstStyle/>
          <a:p>
            <a:r>
              <a:rPr b="1"/>
              <a:t> Problem</a:t>
            </a:r>
            <a:r>
              <a:t> — what happens today, how much it costs, measured</a:t>
            </a:r>
          </a:p>
          <a:p>
            <a:r>
              <a:rPr b="1"/>
              <a:t> Approach</a:t>
            </a:r>
            <a:r>
              <a:t> — buy / configure / no-code / build, and why that one</a:t>
            </a:r>
          </a:p>
          <a:p>
            <a:r>
              <a:rPr b="1"/>
              <a:t> Value</a:t>
            </a:r>
            <a:r>
              <a:t> — which of cost / speed / quality / capacity / new capability, quantified</a:t>
            </a:r>
          </a:p>
          <a:p>
            <a:r>
              <a:rPr b="1"/>
              <a:t> Cost</a:t>
            </a:r>
            <a:r>
              <a:t> — the full iceberg, including review time and year two</a:t>
            </a:r>
          </a:p>
          <a:p>
            <a:r>
              <a:rPr b="1"/>
              <a:t> Risk</a:t>
            </a:r>
            <a:r>
              <a:t> — what a wrong answer costs, and the controls</a:t>
            </a:r>
          </a:p>
          <a:p>
            <a:r>
              <a:rPr b="1"/>
              <a:t> Governance</a:t>
            </a:r>
            <a:r>
              <a:t> — risk tier, approval, who reviews, what's logged</a:t>
            </a:r>
          </a:p>
          <a:p>
            <a:r>
              <a:rPr b="1"/>
              <a:t> Measurement</a:t>
            </a:r>
            <a:r>
              <a:t> — baseline, target, decision date</a:t>
            </a:r>
          </a:p>
          <a:p>
            <a:r>
              <a:rPr b="1"/>
              <a:t> Kill criteria</a:t>
            </a:r>
            <a:r>
              <a:t> — what would make us stop</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Vendor Evaluation: Questions That Separate Substance From Demo</a:t>
            </a:r>
          </a:p>
        </p:txBody>
      </p:sp>
      <p:sp>
        <p:nvSpPr>
          <p:cNvPr id="3" name="Content Placeholder 2"/>
          <p:cNvSpPr>
            <a:spLocks noGrp="1"/>
          </p:cNvSpPr>
          <p:nvPr>
            <p:ph idx="1"/>
          </p:nvPr>
        </p:nvSpPr>
        <p:spPr/>
        <p:txBody>
          <a:bodyPr/>
          <a:lstStyle/>
          <a:p>
            <a:r>
              <a:rPr i="1"/>
              <a:t> "Show me it failing."</a:t>
            </a:r>
            <a:r>
              <a:t> — anyone who can't is selling, not building</a:t>
            </a:r>
          </a:p>
          <a:p>
            <a:r>
              <a:rPr i="1"/>
              <a:t> "What's your accuracy, on what test set, measured how?"</a:t>
            </a:r>
          </a:p>
          <a:p>
            <a:r>
              <a:rPr i="1"/>
              <a:t> "Where does our data go, and under what terms? Show me the clause."</a:t>
            </a:r>
          </a:p>
          <a:p>
            <a:r>
              <a:rPr i="1"/>
              <a:t> "Does it cite its sources, and can we verify the citations?"</a:t>
            </a:r>
          </a:p>
          <a:p>
            <a:r>
              <a:rPr i="1"/>
              <a:t> "What does it do when it doesn't know?"</a:t>
            </a:r>
          </a:p>
          <a:p>
            <a:r>
              <a:rPr i="1"/>
              <a:t> "Who else in our sector runs this in production? May we speak to them?"</a:t>
            </a:r>
          </a:p>
          <a:p>
            <a:r>
              <a:rPr i="1"/>
              <a:t> "What does year two cost — usage, growth, and support?"</a:t>
            </a:r>
          </a:p>
          <a:p>
            <a:r>
              <a:rPr i="1"/>
              <a:t> "If we leave, what do we take with us?"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Pilot Design</a:t>
            </a:r>
          </a:p>
        </p:txBody>
      </p:sp>
      <p:sp>
        <p:nvSpPr>
          <p:cNvPr id="3" name="Content Placeholder 2"/>
          <p:cNvSpPr>
            <a:spLocks noGrp="1"/>
          </p:cNvSpPr>
          <p:nvPr>
            <p:ph idx="1"/>
          </p:nvPr>
        </p:nvSpPr>
        <p:spPr/>
        <p:txBody>
          <a:bodyPr/>
          <a:lstStyle/>
          <a:p>
            <a:r>
              <a:rPr b="1"/>
              <a:t> Small</a:t>
            </a:r>
            <a:r>
              <a:t> — one team, one process, a scope you could explain in a sentence</a:t>
            </a:r>
          </a:p>
          <a:p>
            <a:r>
              <a:rPr b="1"/>
              <a:t> Time-boxed</a:t>
            </a:r>
            <a:r>
              <a:t> — 90 days. Longer becomes a program with no decision point.</a:t>
            </a:r>
          </a:p>
          <a:p>
            <a:r>
              <a:rPr b="1"/>
              <a:t> Measured</a:t>
            </a:r>
            <a:r>
              <a:t> — against a baseline you took</a:t>
            </a:r>
            <a:r>
              <a:rPr i="1"/>
              <a:t> before</a:t>
            </a:r>
          </a:p>
          <a:p>
            <a:r>
              <a:rPr b="1"/>
              <a:t> Real</a:t>
            </a:r>
            <a:r>
              <a:t> — actual users, actual work. A pilot with volunteers doing invented tasks proves nothing.</a:t>
            </a:r>
          </a:p>
          <a:p>
            <a:r>
              <a:rPr b="1"/>
              <a:t> Decided</a:t>
            </a:r>
            <a:r>
              <a:t> — a date, a criterion, and a named person who makes the call</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571500" y="5901531"/>
            <a:ext cx="7507224" cy="1755648"/>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The single most valuable sentence in a pilot charter: "On [date], [name] decides whether we scale, adjust, or stop."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Buy, Configure, Build — or No-Code
What No-Code Can Actually Do
What It Actually Costs
</a:t>
            </a:r>
            <a:r>
              <a:rPr b="1"/>
              <a:t>Exercise 8 — The Business Case
</a:t>
            </a:r>
          </a:p>
        </p:txBody>
      </p:sp>
      <p:sp>
        <p:nvSpPr>
          <p:cNvPr id="3" name="Title 2"/>
          <p:cNvSpPr>
            <a:spLocks noGrp="1"/>
          </p:cNvSpPr>
          <p:nvPr>
            <p:ph type="ctrTitle" sz="quarter"/>
          </p:nvPr>
        </p:nvSpPr>
        <p:spPr/>
        <p:txBody>
          <a:bodyPr wrap="square">
            <a:noAutofit/>
          </a:bodyPr>
          <a:lstStyle/>
          <a:p>
            <a:r>
              <a:rPr sz="4200" b="1" i="0">
                <a:latin typeface="Times New Roman"/>
              </a:rPr>
              <a:t>Exercise 8 — The Business Case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8 — The Business Case</a:t>
            </a:r>
          </a:p>
        </p:txBody>
      </p:sp>
      <p:sp>
        <p:nvSpPr>
          <p:cNvPr id="3" name="Content Placeholder 2"/>
          <p:cNvSpPr>
            <a:spLocks noGrp="1"/>
          </p:cNvSpPr>
          <p:nvPr>
            <p:ph idx="1"/>
          </p:nvPr>
        </p:nvSpPr>
        <p:spPr/>
        <p:txBody>
          <a:bodyPr/>
          <a:lstStyle/>
          <a:p>
            <a:r>
              <a:rPr b="1"/>
              <a:t> Format:</a:t>
            </a:r>
            <a:r>
              <a:t> teams, 45 minutes</a:t>
            </a:r>
          </a:p>
          <a:p>
            <a:r>
              <a:t> Take your</a:t>
            </a:r>
            <a:r>
              <a:rPr b="1"/>
              <a:t> quick win</a:t>
            </a:r>
            <a:r>
              <a:t> from yesterday's portfolio and build the one-page case:</a:t>
            </a:r>
          </a:p>
          <a:p>
            <a:r>
              <a:t> Problem · Approach · Value · Cost · Risk · Governance · Measurement · Kill criteria</a:t>
            </a:r>
          </a:p>
          <a:p>
            <a:r>
              <a:rPr b="1"/>
              <a:t> Two required steps:</a:t>
            </a:r>
          </a:p>
          <a:p>
            <a:r>
              <a:t> Run it down the</a:t>
            </a:r>
            <a:r>
              <a:rPr b="1"/>
              <a:t> buy/configure/no-code/build ladder</a:t>
            </a:r>
            <a:r>
              <a:t> and justify where you stopped</a:t>
            </a:r>
          </a:p>
          <a:p>
            <a:r>
              <a:t> Do the</a:t>
            </a:r>
            <a:r>
              <a:rPr b="1"/>
              <a:t> review-time arithmetic</a:t>
            </a:r>
            <a:r>
              <a:t> . If the numbers don't work, say so — that is a valid and valuable result.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8 — Prepare Your Pitch</a:t>
            </a:r>
          </a:p>
        </p:txBody>
      </p:sp>
      <p:sp>
        <p:nvSpPr>
          <p:cNvPr id="3" name="Content Placeholder 2"/>
          <p:cNvSpPr>
            <a:spLocks noGrp="1"/>
          </p:cNvSpPr>
          <p:nvPr>
            <p:ph idx="1"/>
          </p:nvPr>
        </p:nvSpPr>
        <p:spPr/>
        <p:txBody>
          <a:bodyPr/>
          <a:lstStyle/>
          <a:p>
            <a:r>
              <a:t> You have five minutes at the front of the room.</a:t>
            </a:r>
          </a:p>
          <a:p>
            <a:r>
              <a:t> The room is your investment committee, and they have the six questions:</a:t>
            </a:r>
          </a:p>
          <a:p>
            <a:r>
              <a:t> Whose job gets measurably better?</a:t>
            </a:r>
          </a:p>
          <a:p>
            <a:r>
              <a:t> What does this cost us today?</a:t>
            </a:r>
          </a:p>
          <a:p>
            <a:r>
              <a:t> What happens when it's wrong, and who catches it?</a:t>
            </a:r>
          </a:p>
          <a:p>
            <a:r>
              <a:t> Does the data exist, and can we get to it?</a:t>
            </a:r>
          </a:p>
          <a:p>
            <a:r>
              <a:t> How will we know in 90 days?</a:t>
            </a:r>
          </a:p>
          <a:p>
            <a:r>
              <a:t> What would make us stop?</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8 — Takeaways</a:t>
            </a:r>
          </a:p>
        </p:txBody>
      </p:sp>
      <p:sp>
        <p:nvSpPr>
          <p:cNvPr id="3" name="Content Placeholder 2"/>
          <p:cNvSpPr>
            <a:spLocks noGrp="1"/>
          </p:cNvSpPr>
          <p:nvPr>
            <p:ph idx="1"/>
          </p:nvPr>
        </p:nvSpPr>
        <p:spPr/>
        <p:txBody>
          <a:bodyPr/>
          <a:lstStyle/>
          <a:p>
            <a:r>
              <a:t> Scope, owner, success criteria, decision date,</a:t>
            </a:r>
            <a:r>
              <a:rPr b="1"/>
              <a:t> kill criteria</a:t>
            </a:r>
            <a:r>
              <a:t> — before building</a:t>
            </a:r>
          </a:p>
          <a:p>
            <a:r>
              <a:t> Work</a:t>
            </a:r>
            <a:r>
              <a:rPr b="1"/>
              <a:t> down</a:t>
            </a:r>
            <a:r>
              <a:t> the ladder: prompt → no-code → what you already own → buy → build</a:t>
            </a:r>
          </a:p>
          <a:p>
            <a:r>
              <a:rPr b="1"/>
              <a:t> Two hours in a chat window</a:t>
            </a:r>
            <a:r>
              <a:t> before any funding decision</a:t>
            </a:r>
          </a:p>
          <a:p>
            <a:r>
              <a:t> No-code proves value; engineering makes it a system. That order</a:t>
            </a:r>
          </a:p>
          <a:p>
            <a:r>
              <a:t> No-code assistants go in the inventory — democratized building is a governance event</a:t>
            </a:r>
          </a:p>
          <a:p>
            <a:r>
              <a:t> The subscription is the tip.</a:t>
            </a:r>
            <a:r>
              <a:rPr b="1"/>
              <a:t> Data work and review time are the iceberg</a:t>
            </a:r>
          </a:p>
          <a:p>
            <a:r>
              <a:t> Pilots are small, time-boxed, measured against a baseline, and</a:t>
            </a:r>
            <a:r>
              <a:rPr b="1"/>
              <a:t> decided</a:t>
            </a:r>
            <a:r>
              <a:t> on a date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378294</TotalTime>
  <Words>3439</Words>
  <Application>Microsoft Macintosh PowerPoint</Application>
  <PresentationFormat>Custom</PresentationFormat>
  <Paragraphs>241</Paragraphs>
  <Slides>27</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Bold</vt:lpstr>
      <vt:lpstr>Courier New</vt:lpstr>
      <vt:lpstr>Garamond</vt:lpstr>
      <vt:lpstr>Monotype Sorts</vt:lpstr>
      <vt:lpstr>Times New Roman</vt:lpstr>
      <vt:lpstr>Verdana</vt:lpstr>
      <vt:lpstr>Wingdings</vt:lpstr>
      <vt:lpstr>LPc_New</vt:lpstr>
      <vt:lpstr>Planning, Investing, and No-Code Enablement</vt:lpstr>
      <vt:lpstr>Where We Are</vt:lpstr>
      <vt:lpstr>From Use Case to Project</vt:lpstr>
      <vt:lpstr>Why Kill Criteria Matter More Here</vt:lpstr>
      <vt:lpstr>Buy, Configure, Build — or No-Code</vt:lpstr>
      <vt:lpstr>The Four Options</vt:lpstr>
      <vt:lpstr>Start at the Top and Work Down</vt:lpstr>
      <vt:lpstr>The Prototype Rule</vt:lpstr>
      <vt:lpstr>What No-Code Can Actually Do</vt:lpstr>
      <vt:lpstr>No-Code AI, Honestly Assessed</vt:lpstr>
      <vt:lpstr>Live Demonstration — Build an Assistant in Ten Minutes</vt:lpstr>
      <vt:lpstr>Now You Build One — Exercise 8b</vt:lpstr>
      <vt:lpstr>The Limits of No-Code — Be Honest</vt:lpstr>
      <vt:lpstr>The Signals You've Outgrown No-Code</vt:lpstr>
      <vt:lpstr>Scheduled &amp; Automated Runs — at a Leader's Altitude</vt:lpstr>
      <vt:lpstr>Where No-Code Sits in Your Portfolio</vt:lpstr>
      <vt:lpstr>What It Actually Costs</vt:lpstr>
      <vt:lpstr>The Iceberg Under the Subscription Fee</vt:lpstr>
      <vt:lpstr>The Cost Nobody Budgets: Review Time</vt:lpstr>
      <vt:lpstr>Estimating Usage Cost</vt:lpstr>
      <vt:lpstr>The Business Case, on One Page</vt:lpstr>
      <vt:lpstr>Vendor Evaluation: Questions That Separate Substance From Demo</vt:lpstr>
      <vt:lpstr>Pilot Design</vt:lpstr>
      <vt:lpstr>Exercise 8 — The Business Case</vt:lpstr>
      <vt:lpstr>Exercise 8 — The Business Case</vt:lpstr>
      <vt:lpstr>Exercise 8 — Prepare Your Pitch</vt:lpstr>
      <vt:lpstr>Module 8 — Takeaways</vt:lpstr>
    </vt:vector>
  </TitlesOfParts>
  <Company>Elephant Scale LLC &amp; LearningPatterns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Brent Borgundvaag</cp:lastModifiedBy>
  <cp:revision>4136</cp:revision>
  <cp:lastPrinted>2010-01-03T02:41:41Z</cp:lastPrinted>
  <dcterms:created xsi:type="dcterms:W3CDTF">2010-07-13T15:22:01Z</dcterms:created>
  <dcterms:modified xsi:type="dcterms:W3CDTF">2026-09-23T02:52:38Z</dcterms:modified>
</cp:coreProperties>
</file>