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1" r:id="rId1"/>
  </p:sldMasterIdLst>
  <p:notesMasterIdLst>
    <p:notesMasterId r:id="rId25"/>
  </p:notesMasterIdLst>
  <p:handoutMasterIdLst>
    <p:handoutMasterId r:id="rId2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372600" cy="8297863"/>
  <p:notesSz cx="7315200" cy="9601200"/>
  <p:defaultTextStyle>
    <a:defPPr>
      <a:defRPr lang="en-US"/>
    </a:defPPr>
    <a:lvl1pPr algn="l" rtl="0" fontAlgn="base">
      <a:spcBef>
        <a:spcPct val="0"/>
      </a:spcBef>
      <a:spcAft>
        <a:spcPct val="0"/>
      </a:spcAft>
      <a:defRPr sz="1000" kern="1200">
        <a:solidFill>
          <a:schemeClr val="tx1"/>
        </a:solidFill>
        <a:latin typeface="Garamond" pitchFamily="18" charset="0"/>
        <a:ea typeface="ＭＳ Ｐゴシック"/>
        <a:cs typeface="ＭＳ Ｐゴシック"/>
      </a:defRPr>
    </a:lvl1pPr>
    <a:lvl2pPr marL="457200" algn="l" rtl="0" fontAlgn="base">
      <a:spcBef>
        <a:spcPct val="0"/>
      </a:spcBef>
      <a:spcAft>
        <a:spcPct val="0"/>
      </a:spcAft>
      <a:defRPr sz="1000" kern="1200">
        <a:solidFill>
          <a:schemeClr val="tx1"/>
        </a:solidFill>
        <a:latin typeface="Garamond" pitchFamily="18" charset="0"/>
        <a:ea typeface="ＭＳ Ｐゴシック"/>
        <a:cs typeface="ＭＳ Ｐゴシック"/>
      </a:defRPr>
    </a:lvl2pPr>
    <a:lvl3pPr marL="914400" algn="l" rtl="0" fontAlgn="base">
      <a:spcBef>
        <a:spcPct val="0"/>
      </a:spcBef>
      <a:spcAft>
        <a:spcPct val="0"/>
      </a:spcAft>
      <a:defRPr sz="1000" kern="1200">
        <a:solidFill>
          <a:schemeClr val="tx1"/>
        </a:solidFill>
        <a:latin typeface="Garamond" pitchFamily="18" charset="0"/>
        <a:ea typeface="ＭＳ Ｐゴシック"/>
        <a:cs typeface="ＭＳ Ｐゴシック"/>
      </a:defRPr>
    </a:lvl3pPr>
    <a:lvl4pPr marL="1371600" algn="l" rtl="0" fontAlgn="base">
      <a:spcBef>
        <a:spcPct val="0"/>
      </a:spcBef>
      <a:spcAft>
        <a:spcPct val="0"/>
      </a:spcAft>
      <a:defRPr sz="1000" kern="1200">
        <a:solidFill>
          <a:schemeClr val="tx1"/>
        </a:solidFill>
        <a:latin typeface="Garamond" pitchFamily="18" charset="0"/>
        <a:ea typeface="ＭＳ Ｐゴシック"/>
        <a:cs typeface="ＭＳ Ｐゴシック"/>
      </a:defRPr>
    </a:lvl4pPr>
    <a:lvl5pPr marL="1828800" algn="l" rtl="0" fontAlgn="base">
      <a:spcBef>
        <a:spcPct val="0"/>
      </a:spcBef>
      <a:spcAft>
        <a:spcPct val="0"/>
      </a:spcAft>
      <a:defRPr sz="1000" kern="1200">
        <a:solidFill>
          <a:schemeClr val="tx1"/>
        </a:solidFill>
        <a:latin typeface="Garamond" pitchFamily="18" charset="0"/>
        <a:ea typeface="ＭＳ Ｐゴシック"/>
        <a:cs typeface="ＭＳ Ｐゴシック"/>
      </a:defRPr>
    </a:lvl5pPr>
    <a:lvl6pPr marL="2286000" algn="l" defTabSz="914400" rtl="0" eaLnBrk="1" latinLnBrk="0" hangingPunct="1">
      <a:defRPr sz="1000" kern="1200">
        <a:solidFill>
          <a:schemeClr val="tx1"/>
        </a:solidFill>
        <a:latin typeface="Garamond" pitchFamily="18" charset="0"/>
        <a:ea typeface="ＭＳ Ｐゴシック"/>
        <a:cs typeface="ＭＳ Ｐゴシック"/>
      </a:defRPr>
    </a:lvl6pPr>
    <a:lvl7pPr marL="2743200" algn="l" defTabSz="914400" rtl="0" eaLnBrk="1" latinLnBrk="0" hangingPunct="1">
      <a:defRPr sz="1000" kern="1200">
        <a:solidFill>
          <a:schemeClr val="tx1"/>
        </a:solidFill>
        <a:latin typeface="Garamond" pitchFamily="18" charset="0"/>
        <a:ea typeface="ＭＳ Ｐゴシック"/>
        <a:cs typeface="ＭＳ Ｐゴシック"/>
      </a:defRPr>
    </a:lvl7pPr>
    <a:lvl8pPr marL="3200400" algn="l" defTabSz="914400" rtl="0" eaLnBrk="1" latinLnBrk="0" hangingPunct="1">
      <a:defRPr sz="1000" kern="1200">
        <a:solidFill>
          <a:schemeClr val="tx1"/>
        </a:solidFill>
        <a:latin typeface="Garamond" pitchFamily="18" charset="0"/>
        <a:ea typeface="ＭＳ Ｐゴシック"/>
        <a:cs typeface="ＭＳ Ｐゴシック"/>
      </a:defRPr>
    </a:lvl8pPr>
    <a:lvl9pPr marL="3657600" algn="l" defTabSz="914400" rtl="0" eaLnBrk="1" latinLnBrk="0" hangingPunct="1">
      <a:defRPr sz="1000" kern="1200">
        <a:solidFill>
          <a:schemeClr val="tx1"/>
        </a:solidFill>
        <a:latin typeface="Garamond" pitchFamily="18" charset="0"/>
        <a:ea typeface="ＭＳ Ｐゴシック"/>
        <a:cs typeface="ＭＳ Ｐゴシック"/>
      </a:defRPr>
    </a:lvl9pPr>
  </p:defaultTextStyle>
  <p:extLst>
    <p:ext uri="{EFAFB233-063F-42B5-8137-9DF3F51BA10A}">
      <p15:sldGuideLst xmlns:p15="http://schemas.microsoft.com/office/powerpoint/2012/main">
        <p15:guide id="1" orient="horz" pos="2614" userDrawn="1">
          <p15:clr>
            <a:srgbClr val="A4A3A4"/>
          </p15:clr>
        </p15:guide>
        <p15:guide id="2" pos="295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Conlee" initials="MC" lastIdx="1" clrIdx="0"/>
  <p:cmAuthor id="2" name="Mark Kerzner" initials="MK" lastIdx="6" clrIdx="1"/>
  <p:cmAuthor id="3" name="Mary Beth Conlee" initials="MBC" lastIdx="7" clrIdx="2"/>
  <p:cmAuthor id="4" name="Michelle" initials="M" lastIdx="5" clrIdx="3"/>
  <p:cmAuthor id="5" name="Tricia Murphy" initials="TM" lastIdx="4" clrIdx="4"/>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D6B8EB"/>
    <a:srgbClr val="A77EC7"/>
    <a:srgbClr val="B59BC7"/>
    <a:srgbClr val="C7AAD9"/>
    <a:srgbClr val="C89EDF"/>
    <a:srgbClr val="BD83DF"/>
    <a:srgbClr val="CB89DF"/>
    <a:srgbClr val="CA87D1"/>
    <a:srgbClr val="CF8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59" autoAdjust="0"/>
    <p:restoredTop sz="86027" autoAdjust="0"/>
  </p:normalViewPr>
  <p:slideViewPr>
    <p:cSldViewPr>
      <p:cViewPr varScale="1">
        <p:scale>
          <a:sx n="90" d="100"/>
          <a:sy n="90" d="100"/>
        </p:scale>
        <p:origin x="3312" y="192"/>
      </p:cViewPr>
      <p:guideLst>
        <p:guide orient="horz" pos="2614"/>
        <p:guide pos="2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0"/>
    </p:cViewPr>
  </p:sorterViewPr>
  <p:notesViewPr>
    <p:cSldViewPr>
      <p:cViewPr>
        <p:scale>
          <a:sx n="80" d="100"/>
          <a:sy n="80" d="100"/>
        </p:scale>
        <p:origin x="3296" y="-56"/>
      </p:cViewPr>
      <p:guideLst>
        <p:guide orient="horz" pos="3024"/>
        <p:guide pos="23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defTabSz="965200">
              <a:defRPr sz="1200">
                <a:latin typeface="Times New Roman" pitchFamily="18" charset="0"/>
              </a:defRPr>
            </a:lvl1pPr>
          </a:lstStyle>
          <a:p>
            <a:pPr>
              <a:defRPr/>
            </a:pPr>
            <a:r>
              <a:rPr lang="en-US" dirty="0"/>
              <a:t>Copyright © 2017 Elephant Scale. All rights reserved.</a:t>
            </a:r>
          </a:p>
        </p:txBody>
      </p:sp>
      <p:sp>
        <p:nvSpPr>
          <p:cNvPr id="1029"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algn="r" defTabSz="965200">
              <a:defRPr sz="1200">
                <a:latin typeface="Times New Roman" pitchFamily="18" charset="0"/>
              </a:defRPr>
            </a:lvl1pPr>
          </a:lstStyle>
          <a:p>
            <a:pPr>
              <a:defRPr/>
            </a:pPr>
            <a:fld id="{97E62689-8C7D-4291-A094-4E689FEC4C3B}" type="slidenum">
              <a:rPr lang="en-US"/>
              <a:pPr>
                <a:defRPr/>
              </a:pPr>
              <a:t>‹#›</a:t>
            </a:fld>
            <a:endParaRPr lang="en-US" dirty="0"/>
          </a:p>
        </p:txBody>
      </p:sp>
    </p:spTree>
    <p:extLst>
      <p:ext uri="{BB962C8B-B14F-4D97-AF65-F5344CB8AC3E}">
        <p14:creationId xmlns:p14="http://schemas.microsoft.com/office/powerpoint/2010/main" val="32392915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4"/>
          <p:cNvSpPr>
            <a:spLocks noGrp="1" noRot="1" noChangeAspect="1" noChangeArrowheads="1" noTextEdit="1"/>
          </p:cNvSpPr>
          <p:nvPr>
            <p:ph type="sldImg" idx="2"/>
          </p:nvPr>
        </p:nvSpPr>
        <p:spPr bwMode="auto">
          <a:xfrm>
            <a:off x="968375" y="473075"/>
            <a:ext cx="5365750" cy="4751388"/>
          </a:xfrm>
          <a:prstGeom prst="rect">
            <a:avLst/>
          </a:prstGeom>
          <a:noFill/>
          <a:ln w="12700">
            <a:solidFill>
              <a:srgbClr val="000000"/>
            </a:solidFill>
            <a:miter lim="800000"/>
            <a:headEnd/>
            <a:tailEnd/>
          </a:ln>
        </p:spPr>
      </p:sp>
      <p:sp>
        <p:nvSpPr>
          <p:cNvPr id="438280" name="Rectangle 8"/>
          <p:cNvSpPr>
            <a:spLocks noGrp="1" noChangeArrowheads="1"/>
          </p:cNvSpPr>
          <p:nvPr>
            <p:ph type="ftr" sz="quarter" idx="4"/>
          </p:nvPr>
        </p:nvSpPr>
        <p:spPr bwMode="auto">
          <a:xfrm>
            <a:off x="1365250" y="9388475"/>
            <a:ext cx="4578350" cy="173038"/>
          </a:xfrm>
          <a:prstGeom prst="rect">
            <a:avLst/>
          </a:prstGeom>
          <a:noFill/>
          <a:ln w="9525">
            <a:noFill/>
            <a:miter lim="800000"/>
            <a:headEnd/>
            <a:tailEnd/>
          </a:ln>
          <a:effectLst/>
        </p:spPr>
        <p:txBody>
          <a:bodyPr vert="horz" wrap="square" lIns="0" tIns="0" rIns="0" bIns="0" numCol="1" anchor="b" anchorCtr="1" compatLnSpc="1">
            <a:prstTxWarp prst="textNoShape">
              <a:avLst/>
            </a:prstTxWarp>
          </a:bodyPr>
          <a:lstStyle>
            <a:lvl1pPr algn="ctr" defTabSz="965200" eaLnBrk="0" hangingPunct="0">
              <a:defRPr sz="900">
                <a:latin typeface="Arial" charset="0"/>
              </a:defRPr>
            </a:lvl1pPr>
          </a:lstStyle>
          <a:p>
            <a:pPr>
              <a:defRPr/>
            </a:pPr>
            <a:r>
              <a:rPr lang="en-US" dirty="0"/>
              <a:t>Copyright © 2017 Elephant Scale. All rights reserved.</a:t>
            </a:r>
          </a:p>
        </p:txBody>
      </p:sp>
      <p:sp>
        <p:nvSpPr>
          <p:cNvPr id="438281" name="Rectangle 9"/>
          <p:cNvSpPr>
            <a:spLocks noGrp="1" noChangeArrowheads="1"/>
          </p:cNvSpPr>
          <p:nvPr>
            <p:ph type="sldNum" sz="quarter" idx="5"/>
          </p:nvPr>
        </p:nvSpPr>
        <p:spPr bwMode="auto">
          <a:xfrm>
            <a:off x="6400800" y="9388475"/>
            <a:ext cx="554038" cy="173038"/>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defTabSz="965200" eaLnBrk="0" hangingPunct="0">
              <a:defRPr b="1">
                <a:latin typeface="Arial" charset="0"/>
              </a:defRPr>
            </a:lvl1pPr>
          </a:lstStyle>
          <a:p>
            <a:pPr>
              <a:defRPr/>
            </a:pPr>
            <a:fld id="{EFAADD5D-AF76-45EE-AA5F-6DAC73BF167A}" type="slidenum">
              <a:rPr lang="en-US"/>
              <a:pPr>
                <a:defRPr/>
              </a:pPr>
              <a:t>‹#›</a:t>
            </a:fld>
            <a:endParaRPr lang="en-US" dirty="0"/>
          </a:p>
        </p:txBody>
      </p:sp>
      <p:sp>
        <p:nvSpPr>
          <p:cNvPr id="438306" name="Text Box 34"/>
          <p:cNvSpPr txBox="1">
            <a:spLocks noChangeArrowheads="1"/>
          </p:cNvSpPr>
          <p:nvPr/>
        </p:nvSpPr>
        <p:spPr bwMode="auto">
          <a:xfrm>
            <a:off x="271463" y="5176838"/>
            <a:ext cx="617537" cy="254000"/>
          </a:xfrm>
          <a:prstGeom prst="rect">
            <a:avLst/>
          </a:prstGeom>
          <a:noFill/>
          <a:ln w="9525">
            <a:noFill/>
            <a:miter lim="800000"/>
            <a:headEnd/>
            <a:tailEnd/>
          </a:ln>
        </p:spPr>
        <p:txBody>
          <a:bodyPr wrap="none" lIns="96386" tIns="48194" rIns="96386" bIns="48194"/>
          <a:lstStyle/>
          <a:p>
            <a:pPr defTabSz="960438">
              <a:defRPr/>
            </a:pPr>
            <a:r>
              <a:rPr lang="en-US" sz="1200" b="1" u="sng" dirty="0">
                <a:latin typeface="Times New Roman" pitchFamily="18" charset="0"/>
                <a:cs typeface="Times New Roman" pitchFamily="18" charset="0"/>
              </a:rPr>
              <a:t>Notes:</a:t>
            </a:r>
          </a:p>
        </p:txBody>
      </p:sp>
      <p:sp>
        <p:nvSpPr>
          <p:cNvPr id="438309" name="Rectangle 37"/>
          <p:cNvSpPr>
            <a:spLocks noGrp="1" noChangeArrowheads="1"/>
          </p:cNvSpPr>
          <p:nvPr>
            <p:ph type="body" sz="quarter" idx="3"/>
          </p:nvPr>
        </p:nvSpPr>
        <p:spPr bwMode="gray">
          <a:xfrm>
            <a:off x="322263" y="5462588"/>
            <a:ext cx="6607175" cy="3751262"/>
          </a:xfrm>
          <a:prstGeom prst="rect">
            <a:avLst/>
          </a:prstGeom>
          <a:noFill/>
          <a:ln w="9525">
            <a:noFill/>
            <a:miter lim="800000"/>
            <a:headEnd/>
            <a:tailEnd/>
          </a:ln>
        </p:spPr>
        <p:txBody>
          <a:bodyPr vert="horz" wrap="square" lIns="91537" tIns="45768" rIns="91537" bIns="45768" numCol="1" anchor="t" anchorCtr="0" compatLnSpc="1">
            <a:prstTxWarp prst="textNoShape">
              <a:avLst/>
            </a:prstTxWarp>
          </a:bodyPr>
          <a:lstStyle/>
          <a:p>
            <a:pPr lvl="0"/>
            <a:endParaRPr lang="en-US" noProof="0" dirty="0"/>
          </a:p>
        </p:txBody>
      </p:sp>
      <p:sp>
        <p:nvSpPr>
          <p:cNvPr id="438317" name="Line 45"/>
          <p:cNvSpPr>
            <a:spLocks noChangeShapeType="1"/>
          </p:cNvSpPr>
          <p:nvPr/>
        </p:nvSpPr>
        <p:spPr bwMode="auto">
          <a:xfrm>
            <a:off x="322263" y="9324975"/>
            <a:ext cx="6653212" cy="0"/>
          </a:xfrm>
          <a:prstGeom prst="line">
            <a:avLst/>
          </a:prstGeom>
          <a:noFill/>
          <a:ln w="12700">
            <a:solidFill>
              <a:srgbClr val="000000"/>
            </a:solidFill>
            <a:round/>
            <a:headEnd/>
            <a:tailEnd/>
          </a:ln>
          <a:effectLst/>
        </p:spPr>
        <p:txBody>
          <a:bodyPr/>
          <a:lstStyle/>
          <a:p>
            <a:pPr algn="ctr">
              <a:spcBef>
                <a:spcPct val="30000"/>
              </a:spcBef>
              <a:defRPr/>
            </a:pPr>
            <a:endParaRPr lang="en-US" dirty="0">
              <a:latin typeface="Garamond" pitchFamily="-110" charset="0"/>
              <a:ea typeface="+mn-ea"/>
              <a:cs typeface="+mn-cs"/>
            </a:endParaRPr>
          </a:p>
        </p:txBody>
      </p:sp>
    </p:spTree>
    <p:extLst>
      <p:ext uri="{BB962C8B-B14F-4D97-AF65-F5344CB8AC3E}">
        <p14:creationId xmlns:p14="http://schemas.microsoft.com/office/powerpoint/2010/main" val="953744030"/>
      </p:ext>
    </p:extLst>
  </p:cSld>
  <p:clrMap bg1="lt1" tx1="dk1" bg2="lt2" tx2="dk2" accent1="accent1" accent2="accent2" accent3="accent3" accent4="accent4" accent5="accent5" accent6="accent6" hlink="hlink" folHlink="folHlink"/>
  <p:hf dt="0"/>
  <p:notesStyle>
    <a:lvl1pPr marL="0" indent="0" algn="l" rtl="0" eaLnBrk="0" fontAlgn="base" hangingPunct="0">
      <a:spcBef>
        <a:spcPct val="30000"/>
      </a:spcBef>
      <a:spcAft>
        <a:spcPct val="0"/>
      </a:spcAft>
      <a:buSzPct val="65000"/>
      <a:buFont typeface="Wingdings" pitchFamily="2" charset="2"/>
      <a:buNone/>
      <a:defRPr sz="1200" kern="1200">
        <a:solidFill>
          <a:schemeClr val="tx1"/>
        </a:solidFill>
        <a:latin typeface="Times New Roman" pitchFamily="-110" charset="0"/>
        <a:ea typeface="ＭＳ Ｐゴシック" pitchFamily="-110" charset="-128"/>
        <a:cs typeface="ＭＳ Ｐゴシック" pitchFamily="-110" charset="-128"/>
      </a:defRPr>
    </a:lvl1pPr>
    <a:lvl2pPr marL="282575" indent="0" algn="l" rtl="0" eaLnBrk="0" fontAlgn="base" hangingPunct="0">
      <a:spcBef>
        <a:spcPct val="30000"/>
      </a:spcBef>
      <a:spcAft>
        <a:spcPct val="0"/>
      </a:spcAft>
      <a:buNone/>
      <a:defRPr sz="1200" kern="1200">
        <a:solidFill>
          <a:schemeClr val="tx1"/>
        </a:solidFill>
        <a:latin typeface="Times New Roman" pitchFamily="-110" charset="0"/>
        <a:ea typeface="ＭＳ Ｐゴシック" pitchFamily="-110" charset="-128"/>
        <a:cs typeface="ＭＳ Ｐゴシック"/>
      </a:defRPr>
    </a:lvl2pPr>
    <a:lvl3pPr marL="744538" indent="-173038" algn="l" rtl="0" eaLnBrk="0" fontAlgn="base" hangingPunct="0">
      <a:spcBef>
        <a:spcPct val="30000"/>
      </a:spcBef>
      <a:spcAft>
        <a:spcPct val="0"/>
      </a:spcAft>
      <a:buChar char="•"/>
      <a:defRPr sz="1200" kern="1200">
        <a:solidFill>
          <a:schemeClr val="tx1"/>
        </a:solidFill>
        <a:latin typeface="Times New Roman" pitchFamily="-110" charset="0"/>
        <a:ea typeface="ＭＳ Ｐゴシック" pitchFamily="-110" charset="-128"/>
        <a:cs typeface="ＭＳ Ｐゴシック"/>
      </a:defRPr>
    </a:lvl3pPr>
    <a:lvl4pPr marL="16002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4pPr>
    <a:lvl5pPr marL="20574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Tone matters here. This is not a fear module. It is a calibration module. The goal is leaders who neither over-trust nor reflexively ban.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consistency point catches leaders off guard. Demo it: ask the same question three times in three fresh chats. This has real implications for anything audited.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slide is the governance foundation for Module 7. Mark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Refer back to Module 1: "it predicts text." Everything here is a consequence of that one fact. Repetition of that link is deliberate.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That last one is the most dangerous in a specialized organization. The model will confidently describe the general practice. Your procedure may be deliberately different, for reasons that cost someone a lot to learn.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is the single most important slide of the module. Slow down. Ask the room how their current review process uses hedging language as a signal — everyone's does.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Ask: whose review process would catch a beautifully-written document with one wrong number in it? Honest answer is usually "probably not."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Emphasize that all five are leadership/design decisions. This is the module's answer to "so what do I actually do about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Demo this with a document-grounded assistant. Ask it something not in the documents and show it either declining or — instructively — not declining. Both outcomes teach.</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Have participants write this down verbatim. It is the most portable, immediately useful thing in the module.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grid is the practical output of the module and feeds directly into Exercise 3. Draw it on the board and keep it up.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For a safety-critical or regulated audience, the fourth row is why they trust the rest of the course. Say plainly that there are places this technology does not go, and that knowing where those are is part of leading it well.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slide reliably starts the best discussion of Day 1. Leave room for it.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Aviation and process-industry audiences recognize this instantly; it's the same problem as automation complacency in any monitored system. Use whatever analogy the room owns.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Materials and answer key:</a:t>
            </a:r>
            <a:r>
              <a:rPr>
                <a:latin typeface="Courier New"/>
              </a:rPr>
              <a:t> exercises/03-spot-the-failure.md</a:t>
            </a:r>
            <a:r>
              <a:t> . Do not reveal how many errors are in each document — teams that are told "find three" stop at three.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count reveal is the emotional peak of Day 1. Teams routinely find half. Let that sit for a moment before moving on — then immediately pivot to "and this is fixable, by design," so people leave calibrated rather than scared.</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4" name="Picture 7"/>
          <p:cNvPicPr preferRelativeResize="0">
            <a:picLocks noChangeArrowheads="1"/>
          </p:cNvPicPr>
          <p:nvPr/>
        </p:nvPicPr>
        <p:blipFill rotWithShape="1">
          <a:blip r:embed="rId2"/>
          <a:srcRect t="19473"/>
          <a:stretch/>
        </p:blipFill>
        <p:spPr bwMode="auto">
          <a:xfrm>
            <a:off x="1" y="-1801"/>
            <a:ext cx="2498725" cy="8308927"/>
          </a:xfrm>
          <a:prstGeom prst="rect">
            <a:avLst/>
          </a:prstGeom>
          <a:noFill/>
          <a:ln w="9525">
            <a:noFill/>
            <a:miter lim="800000"/>
            <a:headEnd/>
            <a:tailEnd/>
          </a:ln>
        </p:spPr>
      </p:pic>
      <p:sp>
        <p:nvSpPr>
          <p:cNvPr id="1104898" name="Rectangle 2"/>
          <p:cNvSpPr>
            <a:spLocks noGrp="1" noChangeArrowheads="1"/>
          </p:cNvSpPr>
          <p:nvPr>
            <p:ph type="subTitle" sz="quarter" idx="1"/>
          </p:nvPr>
        </p:nvSpPr>
        <p:spPr>
          <a:xfrm>
            <a:off x="2498726" y="4984481"/>
            <a:ext cx="6335713" cy="400685"/>
          </a:xfrm>
        </p:spPr>
        <p:txBody>
          <a:bodyPr>
            <a:spAutoFit/>
          </a:bodyPr>
          <a:lstStyle>
            <a:lvl1pPr marL="0" indent="0" algn="r">
              <a:buFont typeface="Monotype Sorts" pitchFamily="-110" charset="2"/>
              <a:buNone/>
              <a:defRPr sz="2000"/>
            </a:lvl1pPr>
          </a:lstStyle>
          <a:p>
            <a:r>
              <a:rPr lang="en-US"/>
              <a:t>Click to edit Master subtitle style</a:t>
            </a:r>
          </a:p>
        </p:txBody>
      </p:sp>
      <p:sp>
        <p:nvSpPr>
          <p:cNvPr id="1104900" name="Rectangle 4"/>
          <p:cNvSpPr>
            <a:spLocks noGrp="1" noChangeArrowheads="1"/>
          </p:cNvSpPr>
          <p:nvPr>
            <p:ph type="ctrTitle" sz="quarter"/>
          </p:nvPr>
        </p:nvSpPr>
        <p:spPr>
          <a:xfrm>
            <a:off x="704850" y="3226947"/>
            <a:ext cx="8121650" cy="1469414"/>
          </a:xfrm>
        </p:spPr>
        <p:txBody>
          <a:bodyPr lIns="91440" anchor="ctr"/>
          <a:lstStyle>
            <a:lvl1pPr algn="ctr" defTabSz="1825625">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pPr algn="l">
              <a:defRPr/>
            </a:pPr>
            <a:r>
              <a:rPr lang="en-US" dirty="0"/>
              <a:t>Copyright © 2017 Elephant Scale. All rights reserved.</a:t>
            </a:r>
          </a:p>
        </p:txBody>
      </p:sp>
      <p:sp>
        <p:nvSpPr>
          <p:cNvPr id="9" name="Slide Number Placeholder 8"/>
          <p:cNvSpPr>
            <a:spLocks noGrp="1"/>
          </p:cNvSpPr>
          <p:nvPr>
            <p:ph type="sldNum" sz="quarter" idx="12"/>
          </p:nvPr>
        </p:nvSpPr>
        <p:spPr/>
        <p:txBody>
          <a:bodyPr/>
          <a:lstStyle/>
          <a:p>
            <a:pPr>
              <a:defRPr/>
            </a:pPr>
            <a:fld id="{77EF9825-4C23-4085-A4E3-B5565466BD91}"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994975"/>
            <a:ext cx="4375150" cy="3321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00" y="4500439"/>
            <a:ext cx="4375150" cy="332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1"/>
          </p:nvPr>
        </p:nvSpPr>
        <p:spPr>
          <a:ln/>
        </p:spPr>
        <p:txBody>
          <a:bodyPr/>
          <a:lstStyle>
            <a:lvl1pPr>
              <a:defRPr/>
            </a:lvl1pPr>
          </a:lstStyle>
          <a:p>
            <a:pPr>
              <a:defRPr/>
            </a:pPr>
            <a:fld id="{040E4B02-67B9-4228-B08B-2561CEE6B946}" type="slidenum">
              <a:rPr lang="en-US"/>
              <a:pPr>
                <a:defRPr/>
              </a:pPr>
              <a:t>‹#›</a:t>
            </a:fld>
            <a:endParaRPr lang="en-US" dirty="0"/>
          </a:p>
        </p:txBody>
      </p:sp>
      <p:sp>
        <p:nvSpPr>
          <p:cNvPr id="8"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1"/>
          </p:nvPr>
        </p:nvSpPr>
        <p:spPr>
          <a:ln/>
        </p:spPr>
        <p:txBody>
          <a:bodyPr/>
          <a:lstStyle>
            <a:lvl1pPr>
              <a:defRPr/>
            </a:lvl1pPr>
          </a:lstStyle>
          <a:p>
            <a:pPr>
              <a:defRPr/>
            </a:pPr>
            <a:fld id="{A86CC632-9864-46F1-8EAB-FCD3BB9CEC9A}" type="slidenum">
              <a:rPr lang="en-US"/>
              <a:pPr>
                <a:defRPr/>
              </a:pPr>
              <a:t>‹#›</a:t>
            </a:fld>
            <a:endParaRPr lang="en-US" dirty="0"/>
          </a:p>
        </p:txBody>
      </p:sp>
      <p:sp>
        <p:nvSpPr>
          <p:cNvPr id="7"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234950" y="994976"/>
            <a:ext cx="8902700" cy="6828450"/>
          </a:xfrm>
          <a:prstGeom prst="rect">
            <a:avLst/>
          </a:prstGeom>
          <a:noFill/>
          <a:ln w="9525">
            <a:noFill/>
            <a:miter lim="800000"/>
            <a:headEnd/>
            <a:tailEnd/>
          </a:ln>
        </p:spPr>
        <p:txBody>
          <a:bodyPr vert="horz" wrap="square" lIns="92007" tIns="46005" rIns="92007" bIns="46005"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03876" name="Rectangle 4"/>
          <p:cNvSpPr>
            <a:spLocks noGrp="1" noChangeArrowheads="1"/>
          </p:cNvSpPr>
          <p:nvPr>
            <p:ph type="sldNum" sz="quarter" idx="4"/>
          </p:nvPr>
        </p:nvSpPr>
        <p:spPr bwMode="hidden">
          <a:xfrm>
            <a:off x="8777288" y="7961724"/>
            <a:ext cx="546100" cy="2727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defRPr b="1">
                <a:solidFill>
                  <a:srgbClr val="000000"/>
                </a:solidFill>
                <a:latin typeface="Arial" charset="0"/>
                <a:ea typeface="ＭＳ Ｐゴシック" charset="0"/>
                <a:cs typeface="ＭＳ Ｐゴシック" charset="0"/>
              </a:defRPr>
            </a:lvl1pPr>
          </a:lstStyle>
          <a:p>
            <a:pPr>
              <a:defRPr/>
            </a:pPr>
            <a:fld id="{77EF9825-4C23-4085-A4E3-B5565466BD91}" type="slidenum">
              <a:rPr lang="en-US"/>
              <a:pPr>
                <a:defRPr/>
              </a:pPr>
              <a:t>‹#›</a:t>
            </a:fld>
            <a:endParaRPr lang="en-US" dirty="0"/>
          </a:p>
        </p:txBody>
      </p:sp>
      <p:sp>
        <p:nvSpPr>
          <p:cNvPr id="1103877" name="Rectangle 5"/>
          <p:cNvSpPr>
            <a:spLocks noGrp="1" noChangeArrowheads="1"/>
          </p:cNvSpPr>
          <p:nvPr>
            <p:ph type="ftr" sz="quarter" idx="3"/>
          </p:nvPr>
        </p:nvSpPr>
        <p:spPr bwMode="hidden">
          <a:xfrm>
            <a:off x="234950" y="8032785"/>
            <a:ext cx="5441950" cy="138499"/>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ctr" eaLnBrk="0" hangingPunct="0">
              <a:spcBef>
                <a:spcPct val="0"/>
              </a:spcBef>
              <a:defRPr sz="900">
                <a:solidFill>
                  <a:srgbClr val="000000"/>
                </a:solidFill>
                <a:latin typeface="+mn-lt"/>
                <a:ea typeface="+mn-ea"/>
                <a:cs typeface="+mn-cs"/>
              </a:defRPr>
            </a:lvl1pPr>
          </a:lstStyle>
          <a:p>
            <a:pPr algn="l">
              <a:defRPr/>
            </a:pPr>
            <a:r>
              <a:rPr lang="en-US" dirty="0"/>
              <a:t>Copyright © 2017 Elephant Scale. All rights reserved.</a:t>
            </a:r>
          </a:p>
        </p:txBody>
      </p:sp>
      <p:pic>
        <p:nvPicPr>
          <p:cNvPr id="1030" name="Picture 6"/>
          <p:cNvPicPr preferRelativeResize="0">
            <a:picLocks noChangeArrowheads="1"/>
          </p:cNvPicPr>
          <p:nvPr/>
        </p:nvPicPr>
        <p:blipFill>
          <a:blip r:embed="rId6"/>
          <a:srcRect/>
          <a:stretch>
            <a:fillRect/>
          </a:stretch>
        </p:blipFill>
        <p:spPr bwMode="ltGray">
          <a:xfrm>
            <a:off x="0" y="1"/>
            <a:ext cx="704850" cy="835549"/>
          </a:xfrm>
          <a:prstGeom prst="rect">
            <a:avLst/>
          </a:prstGeom>
          <a:noFill/>
          <a:ln w="9525">
            <a:noFill/>
            <a:miter lim="800000"/>
            <a:headEnd/>
            <a:tailEnd/>
          </a:ln>
        </p:spPr>
      </p:pic>
      <p:sp>
        <p:nvSpPr>
          <p:cNvPr id="1031" name="Rectangle 7"/>
          <p:cNvSpPr>
            <a:spLocks noGrp="1" noChangeArrowheads="1"/>
          </p:cNvSpPr>
          <p:nvPr>
            <p:ph type="title"/>
          </p:nvPr>
        </p:nvSpPr>
        <p:spPr bwMode="invGray">
          <a:xfrm>
            <a:off x="704850" y="1"/>
            <a:ext cx="8667750" cy="835549"/>
          </a:xfrm>
          <a:prstGeom prst="rect">
            <a:avLst/>
          </a:prstGeom>
          <a:solidFill>
            <a:schemeClr val="tx2"/>
          </a:solidFill>
          <a:ln w="9525">
            <a:noFill/>
            <a:miter lim="800000"/>
            <a:headEnd/>
            <a:tailEnd/>
          </a:ln>
        </p:spPr>
        <p:txBody>
          <a:bodyPr vert="horz" wrap="square" lIns="92007" tIns="46005" rIns="92007" bIns="46005" numCol="1" anchor="b" anchorCtr="0" compatLnSpc="1">
            <a:prstTxWarp prst="textNoShape">
              <a:avLst/>
            </a:prstTxWarp>
          </a:bodyPr>
          <a:lstStyle/>
          <a:p>
            <a:pPr lvl="0"/>
            <a:r>
              <a:rPr lang="en-US" dirty="0"/>
              <a:t>Click to edit Master title style</a:t>
            </a:r>
          </a:p>
        </p:txBody>
      </p:sp>
    </p:spTree>
  </p:cSld>
  <p:clrMap bg1="dk2" tx1="lt1" bg2="dk1" tx2="lt2" accent1="accent1" accent2="accent2" accent3="accent3" accent4="accent4" accent5="accent5" accent6="accent6" hlink="hlink" folHlink="folHlink"/>
  <p:sldLayoutIdLst>
    <p:sldLayoutId id="2147483656" r:id="rId1"/>
    <p:sldLayoutId id="2147483655" r:id="rId2"/>
    <p:sldLayoutId id="2147483654" r:id="rId3"/>
    <p:sldLayoutId id="2147483653" r:id="rId4"/>
  </p:sldLayoutIdLst>
  <p:hf hdr="0" dt="0"/>
  <p:txStyles>
    <p:titleStyle>
      <a:lvl1pPr algn="l" rtl="0" eaLnBrk="0" fontAlgn="base" hangingPunct="0">
        <a:spcBef>
          <a:spcPct val="0"/>
        </a:spcBef>
        <a:spcAft>
          <a:spcPct val="0"/>
        </a:spcAft>
        <a:defRPr sz="2600" b="1">
          <a:solidFill>
            <a:schemeClr val="tx1"/>
          </a:solidFill>
          <a:latin typeface="+mj-lt"/>
          <a:ea typeface="ＭＳ Ｐゴシック" pitchFamily="-110" charset="-128"/>
          <a:cs typeface="ＭＳ Ｐゴシック" pitchFamily="-110" charset="-128"/>
        </a:defRPr>
      </a:lvl1pPr>
      <a:lvl2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2pPr>
      <a:lvl3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3pPr>
      <a:lvl4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4pPr>
      <a:lvl5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5pPr>
      <a:lvl6pPr marL="457200" algn="l" rtl="0" eaLnBrk="0" fontAlgn="base" hangingPunct="0">
        <a:spcBef>
          <a:spcPct val="0"/>
        </a:spcBef>
        <a:spcAft>
          <a:spcPct val="0"/>
        </a:spcAft>
        <a:defRPr sz="2600" b="1">
          <a:solidFill>
            <a:schemeClr val="tx1"/>
          </a:solidFill>
          <a:latin typeface="Verdana" pitchFamily="-110" charset="0"/>
        </a:defRPr>
      </a:lvl6pPr>
      <a:lvl7pPr marL="914400" algn="l" rtl="0" eaLnBrk="0" fontAlgn="base" hangingPunct="0">
        <a:spcBef>
          <a:spcPct val="0"/>
        </a:spcBef>
        <a:spcAft>
          <a:spcPct val="0"/>
        </a:spcAft>
        <a:defRPr sz="2600" b="1">
          <a:solidFill>
            <a:schemeClr val="tx1"/>
          </a:solidFill>
          <a:latin typeface="Verdana" pitchFamily="-110" charset="0"/>
        </a:defRPr>
      </a:lvl7pPr>
      <a:lvl8pPr marL="1371600" algn="l" rtl="0" eaLnBrk="0" fontAlgn="base" hangingPunct="0">
        <a:spcBef>
          <a:spcPct val="0"/>
        </a:spcBef>
        <a:spcAft>
          <a:spcPct val="0"/>
        </a:spcAft>
        <a:defRPr sz="2600" b="1">
          <a:solidFill>
            <a:schemeClr val="tx1"/>
          </a:solidFill>
          <a:latin typeface="Verdana" pitchFamily="-110" charset="0"/>
        </a:defRPr>
      </a:lvl8pPr>
      <a:lvl9pPr marL="1828800" algn="l" rtl="0" eaLnBrk="0" fontAlgn="base" hangingPunct="0">
        <a:spcBef>
          <a:spcPct val="0"/>
        </a:spcBef>
        <a:spcAft>
          <a:spcPct val="0"/>
        </a:spcAft>
        <a:defRPr sz="2600" b="1">
          <a:solidFill>
            <a:schemeClr val="tx1"/>
          </a:solidFill>
          <a:latin typeface="Verdana" pitchFamily="-110" charset="0"/>
        </a:defRPr>
      </a:lvl9pPr>
    </p:titleStyle>
    <p:bodyStyle>
      <a:lvl1pPr marL="290513" indent="-290513" algn="l" rtl="0" eaLnBrk="0" fontAlgn="base" hangingPunct="0">
        <a:spcBef>
          <a:spcPct val="20000"/>
        </a:spcBef>
        <a:spcAft>
          <a:spcPct val="0"/>
        </a:spcAft>
        <a:buClr>
          <a:schemeClr val="tx2"/>
        </a:buClr>
        <a:buSzPct val="65000"/>
        <a:buFont typeface="Wingdings" pitchFamily="2" charset="2"/>
        <a:buChar char=""/>
        <a:defRPr sz="2400">
          <a:solidFill>
            <a:srgbClr val="000000"/>
          </a:solidFill>
          <a:latin typeface="+mn-lt"/>
          <a:ea typeface="ＭＳ Ｐゴシック" pitchFamily="-110" charset="-128"/>
          <a:cs typeface="ＭＳ Ｐゴシック" pitchFamily="-110" charset="-128"/>
        </a:defRPr>
      </a:lvl1pPr>
      <a:lvl2pPr marL="633413" indent="-228600" algn="l" rtl="0" eaLnBrk="0" fontAlgn="base" hangingPunct="0">
        <a:spcBef>
          <a:spcPct val="20000"/>
        </a:spcBef>
        <a:spcAft>
          <a:spcPct val="0"/>
        </a:spcAft>
        <a:buClr>
          <a:srgbClr val="000000"/>
        </a:buClr>
        <a:buChar char="–"/>
        <a:defRPr sz="2200">
          <a:solidFill>
            <a:srgbClr val="000000"/>
          </a:solidFill>
          <a:latin typeface="+mn-lt"/>
          <a:ea typeface="ＭＳ Ｐゴシック" pitchFamily="-110" charset="-128"/>
          <a:cs typeface="ＭＳ Ｐゴシック"/>
        </a:defRPr>
      </a:lvl2pPr>
      <a:lvl3pPr marL="969963" indent="-222250" algn="l" rtl="0" eaLnBrk="0" fontAlgn="base" hangingPunct="0">
        <a:spcBef>
          <a:spcPct val="20000"/>
        </a:spcBef>
        <a:spcAft>
          <a:spcPct val="0"/>
        </a:spcAft>
        <a:buChar char="•"/>
        <a:defRPr sz="2000">
          <a:solidFill>
            <a:srgbClr val="000000"/>
          </a:solidFill>
          <a:latin typeface="+mn-lt"/>
          <a:ea typeface="ＭＳ Ｐゴシック" pitchFamily="-110" charset="-128"/>
          <a:cs typeface="ＭＳ Ｐゴシック"/>
        </a:defRPr>
      </a:lvl3pPr>
      <a:lvl4pPr marL="1258888" indent="-228600" algn="l" rtl="0" eaLnBrk="0" fontAlgn="base" hangingPunct="0">
        <a:spcBef>
          <a:spcPct val="0"/>
        </a:spcBef>
        <a:spcAft>
          <a:spcPct val="0"/>
        </a:spcAft>
        <a:buClr>
          <a:srgbClr val="5F5F5F"/>
        </a:buClr>
        <a:buSzPct val="65000"/>
        <a:buFont typeface="Arial Bold" pitchFamily="34" charset="0"/>
        <a:buChar char="‒"/>
        <a:defRPr lang="en-US" dirty="0">
          <a:solidFill>
            <a:srgbClr val="000000"/>
          </a:solidFill>
          <a:latin typeface="+mn-lt"/>
          <a:ea typeface="ＭＳ Ｐゴシック" pitchFamily="-110" charset="-128"/>
          <a:cs typeface="ＭＳ Ｐゴシック"/>
        </a:defRPr>
      </a:lvl4pPr>
      <a:lvl5pPr marL="20558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cs typeface="ＭＳ Ｐゴシック"/>
        </a:defRPr>
      </a:lvl5pPr>
      <a:lvl6pPr marL="25130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6pPr>
      <a:lvl7pPr marL="29702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7pPr>
      <a:lvl8pPr marL="34274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8pPr>
      <a:lvl9pPr marL="38846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Hallucination</a:t>
            </a:r>
          </a:p>
          <a:p>
            <a:r>
              <a:t>Designing Around It</a:t>
            </a:r>
          </a:p>
          <a:p>
            <a:r>
              <a:t>Exercise 3 — Spot the Failure</a:t>
            </a:r>
          </a:p>
        </p:txBody>
      </p:sp>
      <p:sp>
        <p:nvSpPr>
          <p:cNvPr id="3" name="Title 2"/>
          <p:cNvSpPr>
            <a:spLocks noGrp="1"/>
          </p:cNvSpPr>
          <p:nvPr>
            <p:ph type="ctrTitle" sz="quarter"/>
          </p:nvPr>
        </p:nvSpPr>
        <p:spPr/>
        <p:txBody>
          <a:bodyPr wrap="square">
            <a:noAutofit/>
          </a:bodyPr>
          <a:lstStyle/>
          <a:p>
            <a:r>
              <a:rPr sz="4200" b="1" i="0">
                <a:latin typeface="Times New Roman"/>
              </a:rPr>
              <a:t>Capabilities, Limits, and Trust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Most Expensive Sentence in AI</a:t>
            </a:r>
          </a:p>
        </p:txBody>
      </p:sp>
      <p:sp>
        <p:nvSpPr>
          <p:cNvPr id="3" name="Content Placeholder 2"/>
          <p:cNvSpPr>
            <a:spLocks noGrp="1"/>
          </p:cNvSpPr>
          <p:nvPr>
            <p:ph idx="1"/>
          </p:nvPr>
        </p:nvSpPr>
        <p:spPr/>
        <p:txBody>
          <a:bodyPr/>
          <a:lstStyle/>
          <a:p>
            <a:endParaRPr/>
          </a:p>
          <a:p>
            <a:r>
              <a:t> You just spent an hour seeing how good this technology is. This module is about the other hour.</a:t>
            </a:r>
          </a:p>
          <a:p>
            <a:r>
              <a:t> Not to talk you out of it — to make you the person who can deploy it</a:t>
            </a:r>
            <a:r>
              <a:rPr b="1"/>
              <a:t> where it belongs</a:t>
            </a:r>
            <a:r>
              <a:t> and refuse it</a:t>
            </a:r>
            <a:r>
              <a:rPr b="1"/>
              <a:t> where it doesn't.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699325" y="6587331"/>
            <a:ext cx="7507224" cy="566928"/>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"It sounded right."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Today's AI Is Genuinely Excellent At</a:t>
            </a:r>
          </a:p>
        </p:txBody>
      </p:sp>
      <p:sp>
        <p:nvSpPr>
          <p:cNvPr id="3" name="Content Placeholder 2"/>
          <p:cNvSpPr>
            <a:spLocks noGrp="1"/>
          </p:cNvSpPr>
          <p:nvPr>
            <p:ph idx="1"/>
          </p:nvPr>
        </p:nvSpPr>
        <p:spPr/>
        <p:txBody>
          <a:bodyPr/>
          <a:lstStyle/>
          <a:p>
            <a:r>
              <a:rPr b="1"/>
              <a:t> Language transformation</a:t>
            </a:r>
            <a:r>
              <a:t> — summarizing, rewriting, translating, reformatting</a:t>
            </a:r>
          </a:p>
          <a:p>
            <a:r>
              <a:rPr b="1"/>
              <a:t> Drafting</a:t>
            </a:r>
            <a:r>
              <a:t> — getting from blank page to reviewable draft</a:t>
            </a:r>
          </a:p>
          <a:p>
            <a:r>
              <a:rPr b="1"/>
              <a:t> Classification and routing</a:t>
            </a:r>
            <a:r>
              <a:t> — sorting things into categories at scale</a:t>
            </a:r>
          </a:p>
          <a:p>
            <a:r>
              <a:rPr b="1"/>
              <a:t> Extraction</a:t>
            </a:r>
            <a:r>
              <a:t> — pulling specified fields out of messy documents</a:t>
            </a:r>
          </a:p>
          <a:p>
            <a:r>
              <a:rPr b="1"/>
              <a:t> Explaining</a:t>
            </a:r>
            <a:r>
              <a:t> — making a dense thing understandable, at any level you name</a:t>
            </a:r>
          </a:p>
          <a:p>
            <a:r>
              <a:rPr b="1"/>
              <a:t> Breadth</a:t>
            </a:r>
            <a:r>
              <a:t> — a competent first pass on almost any topic</a:t>
            </a:r>
          </a:p>
          <a:p>
            <a:r>
              <a:rPr b="1"/>
              <a:t> Tirelessness</a:t>
            </a:r>
            <a:r>
              <a:t> — the ten-thousandth document gets the same attention as the first</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419100" y="6402044"/>
            <a:ext cx="7507224" cy="877824"/>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Notice the shape: high volume, language-heavy, and reviewable.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Is Unreliable At</a:t>
            </a:r>
          </a:p>
        </p:txBody>
      </p:sp>
      <p:sp>
        <p:nvSpPr>
          <p:cNvPr id="3" name="Content Placeholder 2"/>
          <p:cNvSpPr>
            <a:spLocks noGrp="1"/>
          </p:cNvSpPr>
          <p:nvPr>
            <p:ph idx="1"/>
          </p:nvPr>
        </p:nvSpPr>
        <p:spPr/>
        <p:txBody>
          <a:bodyPr/>
          <a:lstStyle/>
          <a:p>
            <a:r>
              <a:rPr b="1"/>
              <a:t> Arithmetic and counting</a:t>
            </a:r>
            <a:r>
              <a:t> — it predicts text, it doesn't calculate</a:t>
            </a:r>
          </a:p>
          <a:p>
            <a:r>
              <a:rPr b="1"/>
              <a:t> Precise recall of specific facts</a:t>
            </a:r>
            <a:r>
              <a:t> — dates, figures, names, citations</a:t>
            </a:r>
          </a:p>
          <a:p>
            <a:r>
              <a:rPr b="1"/>
              <a:t> Knowing what it doesn't know</a:t>
            </a:r>
            <a:r>
              <a:t> — it rarely declines</a:t>
            </a:r>
          </a:p>
          <a:p>
            <a:r>
              <a:rPr b="1"/>
              <a:t> Anything after its training cutoff</a:t>
            </a:r>
            <a:r>
              <a:t> — unless you supply the material</a:t>
            </a:r>
          </a:p>
          <a:p>
            <a:r>
              <a:rPr b="1"/>
              <a:t> Your organization's specifics</a:t>
            </a:r>
            <a:r>
              <a:t> — unless you supply those too</a:t>
            </a:r>
          </a:p>
          <a:p>
            <a:r>
              <a:rPr b="1"/>
              <a:t> Consistency</a:t>
            </a:r>
            <a:r>
              <a:t> — the same question twice can give different answers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Genuinely Cannot Do</a:t>
            </a:r>
          </a:p>
        </p:txBody>
      </p:sp>
      <p:sp>
        <p:nvSpPr>
          <p:cNvPr id="3" name="Content Placeholder 2"/>
          <p:cNvSpPr>
            <a:spLocks noGrp="1"/>
          </p:cNvSpPr>
          <p:nvPr>
            <p:ph idx="1"/>
          </p:nvPr>
        </p:nvSpPr>
        <p:spPr/>
        <p:txBody>
          <a:bodyPr/>
          <a:lstStyle/>
          <a:p>
            <a:r>
              <a:rPr b="1"/>
              <a:t> Be accountable.</a:t>
            </a:r>
            <a:r>
              <a:t> It cannot hold responsibility for an outcome. A person must.</a:t>
            </a:r>
          </a:p>
          <a:p>
            <a:r>
              <a:rPr b="1"/>
              <a:t> Know ground truth.</a:t>
            </a:r>
            <a:r>
              <a:t> It has no way to check reality. Only what it was given.</a:t>
            </a:r>
          </a:p>
          <a:p>
            <a:r>
              <a:rPr b="1"/>
              <a:t> Understand consequence.</a:t>
            </a:r>
            <a:r>
              <a:t> It does not know that this output goes in a filing and that one goes in the bin.</a:t>
            </a:r>
          </a:p>
          <a:p>
            <a:r>
              <a:rPr b="1"/>
              <a:t> Guarantee anything.</a:t>
            </a:r>
            <a:r>
              <a:t> There is no setting that makes it always correct.</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495300" y="6425063"/>
            <a:ext cx="7507224" cy="877824"/>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Anywhere your process assumes one of these four, a human stays in the loop. Permanently.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rPr b="1"/>
              <a:t>Hallucination
</a:t>
            </a:r>
            <a:r>
              <a:t>Designing Around It
Exercise 3 — Spot the Failure
</a:t>
            </a:r>
          </a:p>
        </p:txBody>
      </p:sp>
      <p:sp>
        <p:nvSpPr>
          <p:cNvPr id="3" name="Title 2"/>
          <p:cNvSpPr>
            <a:spLocks noGrp="1"/>
          </p:cNvSpPr>
          <p:nvPr>
            <p:ph type="ctrTitle" sz="quarter"/>
          </p:nvPr>
        </p:nvSpPr>
        <p:spPr/>
        <p:txBody>
          <a:bodyPr wrap="square">
            <a:noAutofit/>
          </a:bodyPr>
          <a:lstStyle/>
          <a:p>
            <a:r>
              <a:rPr sz="4200" b="1" i="0">
                <a:latin typeface="Times New Roman"/>
              </a:rPr>
              <a:t>Hallucination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Hallucination Actually Is</a:t>
            </a:r>
          </a:p>
        </p:txBody>
      </p:sp>
      <p:sp>
        <p:nvSpPr>
          <p:cNvPr id="3" name="Content Placeholder 2"/>
          <p:cNvSpPr>
            <a:spLocks noGrp="1"/>
          </p:cNvSpPr>
          <p:nvPr>
            <p:ph idx="1"/>
          </p:nvPr>
        </p:nvSpPr>
        <p:spPr/>
        <p:txBody>
          <a:bodyPr/>
          <a:lstStyle/>
          <a:p>
            <a:r>
              <a:t> The model produces text that is fluent, plausible, well-formatted, confident — and false.</a:t>
            </a:r>
          </a:p>
          <a:p>
            <a:r>
              <a:rPr b="1"/>
              <a:t> Why it happens:</a:t>
            </a:r>
            <a:r>
              <a:t> it was built to produce likely-sounding text, not true text. A convincing fabrication and a correct answer look identical from the inside.</a:t>
            </a:r>
          </a:p>
          <a:p>
            <a:r>
              <a:rPr b="1"/>
              <a:t> Why it will not be "fixed":</a:t>
            </a:r>
            <a:r>
              <a:t> it is not a defect layered on top of the capability. It is the same mechanism, pointed at a question it can't answer.</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Signature Failure Modes</a:t>
            </a:r>
          </a:p>
        </p:txBody>
      </p:sp>
      <p:sp>
        <p:nvSpPr>
          <p:cNvPr id="3" name="Content Placeholder 2"/>
          <p:cNvSpPr>
            <a:spLocks noGrp="1"/>
          </p:cNvSpPr>
          <p:nvPr>
            <p:ph idx="1"/>
          </p:nvPr>
        </p:nvSpPr>
        <p:spPr/>
        <p:txBody>
          <a:bodyPr/>
          <a:lstStyle/>
          <a:p>
            <a:r>
              <a:rPr b="1"/>
              <a:t> The invented citation</a:t>
            </a:r>
            <a:r>
              <a:t> — a reference in the right format, to a document that does not exist</a:t>
            </a:r>
          </a:p>
          <a:p>
            <a:r>
              <a:rPr b="1"/>
              <a:t> The plausible number</a:t>
            </a:r>
            <a:r>
              <a:t> — a figure of the right magnitude, in the right units, wrong</a:t>
            </a:r>
          </a:p>
          <a:p>
            <a:r>
              <a:rPr b="1"/>
              <a:t> The confident summary of what isn't there</a:t>
            </a:r>
            <a:r>
              <a:t> — asked to find steps in a document with no steps, it produces steps</a:t>
            </a:r>
          </a:p>
          <a:p>
            <a:r>
              <a:rPr b="1"/>
              <a:t> The agreeable answer</a:t>
            </a:r>
            <a:r>
              <a:t> — you propose something wrong, it agrees</a:t>
            </a:r>
          </a:p>
          <a:p>
            <a:r>
              <a:rPr b="1"/>
              <a:t> The averaged answer</a:t>
            </a:r>
            <a:r>
              <a:t> — it gives the industry-standard answer where your organization does something specific and different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Confidence Is Not Accuracy</a:t>
            </a:r>
          </a:p>
        </p:txBody>
      </p:sp>
      <p:sp>
        <p:nvSpPr>
          <p:cNvPr id="3" name="Content Placeholder 2"/>
          <p:cNvSpPr>
            <a:spLocks noGrp="1"/>
          </p:cNvSpPr>
          <p:nvPr>
            <p:ph idx="1"/>
          </p:nvPr>
        </p:nvSpPr>
        <p:spPr/>
        <p:txBody>
          <a:bodyPr/>
          <a:lstStyle/>
          <a:p>
            <a:r>
              <a:t> This is the property that makes it dangerous rather than merely imperfect.</a:t>
            </a:r>
          </a:p>
          <a:p>
            <a:r>
              <a:t> A junior analyst who is unsure</a:t>
            </a:r>
            <a:r>
              <a:rPr b="1"/>
              <a:t> sounds unsure</a:t>
            </a:r>
            <a:r>
              <a:t> . That signal is how your review process knows where to look.</a:t>
            </a:r>
          </a:p>
          <a:p>
            <a:r>
              <a:t> The model sounds identical whether it is certain, guessing, or fabricating.</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419100" y="4159249"/>
            <a:ext cx="7507224" cy="1316736"/>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You have lost the uncertainty signal. Every review process you have was built assuming that signal exists.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Fluency Trap</a:t>
            </a:r>
          </a:p>
        </p:txBody>
      </p:sp>
      <p:sp>
        <p:nvSpPr>
          <p:cNvPr id="3" name="Content Placeholder 2"/>
          <p:cNvSpPr>
            <a:spLocks noGrp="1"/>
          </p:cNvSpPr>
          <p:nvPr>
            <p:ph idx="1"/>
          </p:nvPr>
        </p:nvSpPr>
        <p:spPr/>
        <p:txBody>
          <a:bodyPr/>
          <a:lstStyle/>
          <a:p>
            <a:r>
              <a:t> Well-written text gets less scrutiny. Always has.</a:t>
            </a:r>
          </a:p>
          <a:p>
            <a:r>
              <a:t> AI output is</a:t>
            </a:r>
            <a:r>
              <a:rPr i="1"/>
              <a:t> always</a:t>
            </a:r>
            <a:r>
              <a:t> well-written.</a:t>
            </a:r>
          </a:p>
          <a:p>
            <a:r>
              <a:t> So the material most likely to contain an undetected error is also the material least likely to be read carefully.</a:t>
            </a:r>
          </a:p>
          <a:p>
            <a:r>
              <a:rPr b="1"/>
              <a:t> Practical consequence:</a:t>
            </a:r>
            <a:r>
              <a:t> if you introduce AI drafting without also increasing review discipline, your error rate goes</a:t>
            </a:r>
            <a:r>
              <a:rPr b="1"/>
              <a:t> up</a:t>
            </a:r>
            <a:r>
              <a:t> , not down — and the errors are harder to catch.</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Hallucination
</a:t>
            </a:r>
            <a:r>
              <a:rPr b="1"/>
              <a:t>Designing Around It
</a:t>
            </a:r>
            <a:r>
              <a:t>Exercise 3 — Spot the Failure
</a:t>
            </a:r>
          </a:p>
        </p:txBody>
      </p:sp>
      <p:sp>
        <p:nvSpPr>
          <p:cNvPr id="3" name="Title 2"/>
          <p:cNvSpPr>
            <a:spLocks noGrp="1"/>
          </p:cNvSpPr>
          <p:nvPr>
            <p:ph type="ctrTitle" sz="quarter"/>
          </p:nvPr>
        </p:nvSpPr>
        <p:spPr/>
        <p:txBody>
          <a:bodyPr wrap="square">
            <a:noAutofit/>
          </a:bodyPr>
          <a:lstStyle/>
          <a:p>
            <a:r>
              <a:rPr sz="4200" b="1" i="0">
                <a:latin typeface="Times New Roman"/>
              </a:rPr>
              <a:t>Designing Around It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Five Real Defenses</a:t>
            </a:r>
          </a:p>
        </p:txBody>
      </p:sp>
      <p:sp>
        <p:nvSpPr>
          <p:cNvPr id="3" name="Content Placeholder 2"/>
          <p:cNvSpPr>
            <a:spLocks noGrp="1"/>
          </p:cNvSpPr>
          <p:nvPr>
            <p:ph idx="1"/>
          </p:nvPr>
        </p:nvSpPr>
        <p:spPr/>
        <p:txBody>
          <a:bodyPr/>
          <a:lstStyle/>
          <a:p>
            <a:r>
              <a:rPr b="1"/>
              <a:t> Ground it</a:t>
            </a:r>
            <a:r>
              <a:t> — make it answer from your documents, and cite them (RAG)</a:t>
            </a:r>
          </a:p>
          <a:p>
            <a:r>
              <a:rPr b="1"/>
              <a:t> Narrow it</a:t>
            </a:r>
            <a:r>
              <a:t> — a small, well-defined task fails far less than an open one</a:t>
            </a:r>
          </a:p>
          <a:p>
            <a:r>
              <a:rPr b="1"/>
              <a:t> Structure it</a:t>
            </a:r>
            <a:r>
              <a:t> — demand a fixed format; deviations become visible</a:t>
            </a:r>
          </a:p>
          <a:p>
            <a:r>
              <a:rPr b="1"/>
              <a:t> Give it an exit</a:t>
            </a:r>
            <a:r>
              <a:t> — explicitly allow "not found in the provided material"</a:t>
            </a:r>
          </a:p>
          <a:p>
            <a:r>
              <a:rPr b="1"/>
              <a:t> Keep a human where it matters</a:t>
            </a:r>
            <a:r>
              <a:t> — proportional to the cost of being wrong</a:t>
            </a:r>
          </a:p>
          <a:p>
            <a:r>
              <a:t> None of these is exotic. All of them are decisions</a:t>
            </a:r>
            <a:r>
              <a:rPr b="1"/>
              <a:t> you</a:t>
            </a:r>
            <a:r>
              <a:t> make, not the vendor.</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Grounding: The Biggest Single Lever</a:t>
            </a:r>
          </a:p>
        </p:txBody>
      </p:sp>
      <p:sp>
        <p:nvSpPr>
          <p:cNvPr id="3" name="Content Placeholder 2"/>
          <p:cNvSpPr>
            <a:spLocks noGrp="1"/>
          </p:cNvSpPr>
          <p:nvPr>
            <p:ph idx="1"/>
          </p:nvPr>
        </p:nvSpPr>
        <p:spPr/>
        <p:txBody>
          <a:bodyPr/>
          <a:lstStyle/>
          <a:p>
            <a:r>
              <a:rPr b="1"/>
              <a:t> Ungrounded:</a:t>
            </a:r>
            <a:r>
              <a:t> </a:t>
            </a:r>
            <a:r>
              <a:rPr i="1"/>
              <a:t> "What is our procedure for X?"</a:t>
            </a:r>
            <a:r>
              <a:t> → The model produces a reasonable-sounding industry-average procedure. It may not be yours. There is nothing to check it against.</a:t>
            </a:r>
          </a:p>
          <a:p>
            <a:r>
              <a:rPr b="1"/>
              <a:t> Grounded (RAG):</a:t>
            </a:r>
            <a:r>
              <a:t> the system retrieves the actual passages from your actual documents, answers from them, and shows you which document and which section.</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234950" y="5596731"/>
            <a:ext cx="7507224" cy="877824"/>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The citation is the point. Not because the model is honest — because you can check.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Give It Permission to Say Nothing</a:t>
            </a:r>
          </a:p>
        </p:txBody>
      </p:sp>
      <p:sp>
        <p:nvSpPr>
          <p:cNvPr id="3" name="Content Placeholder 2"/>
          <p:cNvSpPr>
            <a:spLocks noGrp="1"/>
          </p:cNvSpPr>
          <p:nvPr>
            <p:ph idx="1"/>
          </p:nvPr>
        </p:nvSpPr>
        <p:spPr/>
        <p:txBody>
          <a:bodyPr/>
          <a:lstStyle/>
          <a:p>
            <a:r>
              <a:t> The model doesn't refuse because refusing is an unlikely thing to say. You have to make it likely:</a:t>
            </a:r>
          </a:p>
          <a:p>
            <a:endParaRPr/>
          </a:p>
          <a:p>
            <a:endParaRPr/>
          </a:p>
          <a:p>
            <a:r>
              <a:t> Four lines. Enormous difference.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1.png"/>
          <p:cNvPicPr>
            <a:picLocks noChangeAspect="1"/>
          </p:cNvPicPr>
          <p:nvPr/>
        </p:nvPicPr>
        <p:blipFill>
          <a:blip r:embed="rId3"/>
          <a:stretch>
            <a:fillRect/>
          </a:stretch>
        </p:blipFill>
        <p:spPr>
          <a:xfrm>
            <a:off x="0" y="2663775"/>
            <a:ext cx="9372600" cy="15097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Match the Checking to the Stakes</a:t>
            </a:r>
          </a:p>
        </p:txBody>
      </p:sp>
      <p:sp>
        <p:nvSpPr>
          <p:cNvPr id="3" name="Content Placeholder 2"/>
          <p:cNvSpPr>
            <a:spLocks noGrp="1"/>
          </p:cNvSpPr>
          <p:nvPr>
            <p:ph idx="1"/>
          </p:nvPr>
        </p:nvSpPr>
        <p:spPr/>
        <p:txBody>
          <a:bodyPr/>
          <a:lstStyle/>
          <a:p>
            <a:r>
              <a:t> Ask two questions about any task:</a:t>
            </a:r>
          </a:p>
          <a:p>
            <a:r>
              <a:rPr b="1"/>
              <a:t> What does a wrong answer cost?</a:t>
            </a:r>
          </a:p>
          <a:p>
            <a:r>
              <a:rPr b="1"/>
              <a:t> How easily is it reversed?</a:t>
            </a:r>
          </a:p>
          <a:p>
            <a:endParaRPr b="1"/>
          </a:p>
          <a:p>
            <a:endParaRPr b="1"/>
          </a:p>
          <a:p>
            <a:endParaRPr b="1"/>
          </a:p>
          <a:p>
            <a:endParaRPr b="1"/>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graphicFrame>
        <p:nvGraphicFramePr>
          <p:cNvPr id="5" name="Table 4"/>
          <p:cNvGraphicFramePr>
            <a:graphicFrameLocks noGrp="1"/>
          </p:cNvGraphicFramePr>
          <p:nvPr>
            <p:extLst>
              <p:ext uri="{D42A27DB-BD31-4B8C-83A1-F6EECF244321}">
                <p14:modId xmlns:p14="http://schemas.microsoft.com/office/powerpoint/2010/main" val="1668003386"/>
              </p:ext>
            </p:extLst>
          </p:nvPr>
        </p:nvGraphicFramePr>
        <p:xfrm>
          <a:off x="237744" y="2548731"/>
          <a:ext cx="8915400" cy="173736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139605">
                <a:tc>
                  <a:txBody>
                    <a:bodyPr/>
                    <a:lstStyle/>
                    <a:p>
                      <a:endParaRPr/>
                    </a:p>
                  </a:txBody>
                  <a:tcPr/>
                </a:tc>
                <a:tc>
                  <a:txBody>
                    <a:bodyPr/>
                    <a:lstStyle/>
                    <a:p>
                      <a:r>
                        <a:t>Cheap to reverse</a:t>
                      </a:r>
                    </a:p>
                  </a:txBody>
                  <a:tcPr/>
                </a:tc>
                <a:tc>
                  <a:txBody>
                    <a:bodyPr/>
                    <a:lstStyle/>
                    <a:p>
                      <a:r>
                        <a:t>Costly / irreversible</a:t>
                      </a:r>
                    </a:p>
                  </a:txBody>
                  <a:tcPr/>
                </a:tc>
                <a:extLst>
                  <a:ext uri="{0D108BD9-81ED-4DB2-BD59-A6C34878D82A}">
                    <a16:rowId xmlns:a16="http://schemas.microsoft.com/office/drawing/2014/main" val="10000"/>
                  </a:ext>
                </a:extLst>
              </a:tr>
              <a:tr h="457200">
                <a:tc>
                  <a:txBody>
                    <a:bodyPr/>
                    <a:lstStyle/>
                    <a:p>
                      <a:r>
                        <a:rPr b="1"/>
                        <a:t>Low cost of error</a:t>
                      </a:r>
                    </a:p>
                  </a:txBody>
                  <a:tcPr/>
                </a:tc>
                <a:tc>
                  <a:txBody>
                    <a:bodyPr/>
                    <a:lstStyle/>
                    <a:p>
                      <a:r>
                        <a:t>Let it run. Spot-check.</a:t>
                      </a:r>
                    </a:p>
                  </a:txBody>
                  <a:tcPr/>
                </a:tc>
                <a:tc>
                  <a:txBody>
                    <a:bodyPr/>
                    <a:lstStyle/>
                    <a:p>
                      <a:r>
                        <a:t>Review before use.</a:t>
                      </a:r>
                    </a:p>
                  </a:txBody>
                  <a:tcPr/>
                </a:tc>
                <a:extLst>
                  <a:ext uri="{0D108BD9-81ED-4DB2-BD59-A6C34878D82A}">
                    <a16:rowId xmlns:a16="http://schemas.microsoft.com/office/drawing/2014/main" val="10001"/>
                  </a:ext>
                </a:extLst>
              </a:tr>
              <a:tr h="457200">
                <a:tc>
                  <a:txBody>
                    <a:bodyPr/>
                    <a:lstStyle/>
                    <a:p>
                      <a:r>
                        <a:rPr b="1"/>
                        <a:t>High cost of error</a:t>
                      </a:r>
                    </a:p>
                  </a:txBody>
                  <a:tcPr/>
                </a:tc>
                <a:tc>
                  <a:txBody>
                    <a:bodyPr/>
                    <a:lstStyle/>
                    <a:p>
                      <a:r>
                        <a:t>Review before use.</a:t>
                      </a:r>
                    </a:p>
                  </a:txBody>
                  <a:tcPr/>
                </a:tc>
                <a:tc>
                  <a:txBody>
                    <a:bodyPr/>
                    <a:lstStyle/>
                    <a:p>
                      <a:r>
                        <a:rPr dirty="0"/>
                        <a:t>AI drafts only. A qualified human owns the output. Full review. Recorded.</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Reversibility Test</a:t>
            </a:r>
          </a:p>
        </p:txBody>
      </p:sp>
      <p:sp>
        <p:nvSpPr>
          <p:cNvPr id="3" name="Content Placeholder 2"/>
          <p:cNvSpPr>
            <a:spLocks noGrp="1"/>
          </p:cNvSpPr>
          <p:nvPr>
            <p:ph idx="1"/>
          </p:nvPr>
        </p:nvSpPr>
        <p:spPr/>
        <p:txBody>
          <a:bodyPr/>
          <a:lstStyle/>
          <a:p>
            <a:endParaRPr/>
          </a:p>
          <a:p>
            <a:r>
              <a:t> Wrong tone in an internal email → someone re-reads it. Trivial.</a:t>
            </a:r>
          </a:p>
          <a:p>
            <a:r>
              <a:t> Wrong theme count in a survey summary → a decision is skewed. Recoverable, if noticed.</a:t>
            </a:r>
          </a:p>
          <a:p>
            <a:r>
              <a:t> Wrong figure in a document that leaves the organization → reputational, contractual, possibly regulatory. Slow and expensive to undo.</a:t>
            </a:r>
          </a:p>
          <a:p>
            <a:r>
              <a:t> Wrong parameter in a technical or safety-relevant document → this is not an AI question. This is a</a:t>
            </a:r>
            <a:r>
              <a:rPr b="1"/>
              <a:t> do not</a:t>
            </a:r>
            <a:r>
              <a:t> question.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342900" y="6863975"/>
            <a:ext cx="7507224" cy="877824"/>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"If this is wrong and nobody catches it, what happens next — and can we undo 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Human-in-the-Loop Is a Design, Not a Disclaimer</a:t>
            </a:r>
          </a:p>
        </p:txBody>
      </p:sp>
      <p:sp>
        <p:nvSpPr>
          <p:cNvPr id="3" name="Content Placeholder 2"/>
          <p:cNvSpPr>
            <a:spLocks noGrp="1"/>
          </p:cNvSpPr>
          <p:nvPr>
            <p:ph idx="1"/>
          </p:nvPr>
        </p:nvSpPr>
        <p:spPr/>
        <p:txBody>
          <a:bodyPr/>
          <a:lstStyle/>
          <a:p>
            <a:r>
              <a:t> "A human reviews the output" means nothing unless you can answer:</a:t>
            </a:r>
          </a:p>
          <a:p>
            <a:r>
              <a:rPr b="1"/>
              <a:t> Which</a:t>
            </a:r>
            <a:r>
              <a:t> human — named role, with the competence to catch the error</a:t>
            </a:r>
          </a:p>
          <a:p>
            <a:r>
              <a:rPr b="1"/>
              <a:t> Reviewing what</a:t>
            </a:r>
            <a:r>
              <a:t> , exactly — the output, or the source it came from?</a:t>
            </a:r>
          </a:p>
          <a:p>
            <a:r>
              <a:rPr b="1"/>
              <a:t> With what time</a:t>
            </a:r>
            <a:r>
              <a:t> — a real review takes real minutes, and someone must pay for them</a:t>
            </a:r>
          </a:p>
          <a:p>
            <a:r>
              <a:rPr b="1"/>
              <a:t> With what authority</a:t>
            </a:r>
            <a:r>
              <a:t> — can they actually reject it, or is that career-limiting?</a:t>
            </a:r>
          </a:p>
          <a:p>
            <a:r>
              <a:rPr b="1"/>
              <a:t> Recorded how</a:t>
            </a:r>
            <a:r>
              <a:t> — if it's not recorded, it didn't happen</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495300" y="6282531"/>
            <a:ext cx="7507224" cy="1316736"/>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A reviewer who rubber-stamps is worse than no reviewer. You have added cost and manufactured false assurance.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Automation Paradox</a:t>
            </a:r>
          </a:p>
        </p:txBody>
      </p:sp>
      <p:sp>
        <p:nvSpPr>
          <p:cNvPr id="3" name="Content Placeholder 2"/>
          <p:cNvSpPr>
            <a:spLocks noGrp="1"/>
          </p:cNvSpPr>
          <p:nvPr>
            <p:ph idx="1"/>
          </p:nvPr>
        </p:nvSpPr>
        <p:spPr/>
        <p:txBody>
          <a:bodyPr/>
          <a:lstStyle/>
          <a:p>
            <a:r>
              <a:t> The better the system gets, the worse the human reviewer gets.</a:t>
            </a:r>
          </a:p>
          <a:p>
            <a:r>
              <a:t> If it's wrong one time in fifty, people catch it. If it's wrong one time in five thousand, nobody is looking any more — and that is the one that matters.</a:t>
            </a:r>
          </a:p>
          <a:p>
            <a:r>
              <a:rPr b="1"/>
              <a:t> Implication:</a:t>
            </a:r>
            <a:r>
              <a:t> high accuracy does not remove the need for oversight. It changes what oversight has to look like — sampling, audits, and outcome monitoring rather than line-by-line reading.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Hallucination
Designing Around It
</a:t>
            </a:r>
            <a:r>
              <a:rPr b="1"/>
              <a:t>Exercise 3 — Spot the Failure
</a:t>
            </a:r>
          </a:p>
        </p:txBody>
      </p:sp>
      <p:sp>
        <p:nvSpPr>
          <p:cNvPr id="3" name="Title 2"/>
          <p:cNvSpPr>
            <a:spLocks noGrp="1"/>
          </p:cNvSpPr>
          <p:nvPr>
            <p:ph type="ctrTitle" sz="quarter"/>
          </p:nvPr>
        </p:nvSpPr>
        <p:spPr/>
        <p:txBody>
          <a:bodyPr wrap="square">
            <a:noAutofit/>
          </a:bodyPr>
          <a:lstStyle/>
          <a:p>
            <a:r>
              <a:rPr sz="4200" b="1" i="0">
                <a:latin typeface="Times New Roman"/>
              </a:rPr>
              <a:t>Exercise 3 — Spot the Failure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3 — Spot the Failure</a:t>
            </a:r>
          </a:p>
        </p:txBody>
      </p:sp>
      <p:sp>
        <p:nvSpPr>
          <p:cNvPr id="3" name="Content Placeholder 2"/>
          <p:cNvSpPr>
            <a:spLocks noGrp="1"/>
          </p:cNvSpPr>
          <p:nvPr>
            <p:ph idx="1"/>
          </p:nvPr>
        </p:nvSpPr>
        <p:spPr/>
        <p:txBody>
          <a:bodyPr/>
          <a:lstStyle/>
          <a:p>
            <a:r>
              <a:rPr b="1"/>
              <a:t> Format:</a:t>
            </a:r>
            <a:r>
              <a:t> teams of 3–4, 30 minutes</a:t>
            </a:r>
          </a:p>
          <a:p>
            <a:r>
              <a:t> Each team receives four AI-generated outputs. All four look excellent. Each contains at least one defect.</a:t>
            </a:r>
          </a:p>
          <a:p>
            <a:r>
              <a:rPr b="1"/>
              <a:t> Round 1 (15 min).</a:t>
            </a:r>
            <a:r>
              <a:t> Find the errors. Classify each: fabricated fact · wrong number · unsupported claim · missing what wasn't there · industry-average answer instead of the specific one</a:t>
            </a:r>
          </a:p>
          <a:p>
            <a:r>
              <a:rPr b="1"/>
              <a:t> Round 2 (10 min).</a:t>
            </a:r>
            <a:r>
              <a:t> For each error:</a:t>
            </a:r>
            <a:r>
              <a:rPr i="1"/>
              <a:t> would our current process have caught this?</a:t>
            </a:r>
            <a:r>
              <a:t> Be honest.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3 — Your Deliverable</a:t>
            </a:r>
          </a:p>
        </p:txBody>
      </p:sp>
      <p:sp>
        <p:nvSpPr>
          <p:cNvPr id="3" name="Content Placeholder 2"/>
          <p:cNvSpPr>
            <a:spLocks noGrp="1"/>
          </p:cNvSpPr>
          <p:nvPr>
            <p:ph idx="1"/>
          </p:nvPr>
        </p:nvSpPr>
        <p:spPr/>
        <p:txBody>
          <a:bodyPr/>
          <a:lstStyle/>
          <a:p>
            <a:r>
              <a:rPr dirty="0"/>
              <a:t> Pick</a:t>
            </a:r>
            <a:r>
              <a:rPr b="1" dirty="0"/>
              <a:t> three tasks from your own work</a:t>
            </a:r>
            <a:r>
              <a:rPr dirty="0"/>
              <a:t> . For each, set the trust threshold:</a:t>
            </a:r>
          </a:p>
          <a:p>
            <a:endParaRPr dirty="0"/>
          </a:p>
          <a:p>
            <a:endParaRPr lang="en-US" dirty="0"/>
          </a:p>
          <a:p>
            <a:endParaRPr lang="en-US" dirty="0"/>
          </a:p>
          <a:p>
            <a:endParaRPr lang="en-US" dirty="0"/>
          </a:p>
          <a:p>
            <a:endParaRPr dirty="0"/>
          </a:p>
          <a:p>
            <a:r>
              <a:rPr dirty="0"/>
              <a:t> Bring these to Day 2 — they become inputs to your governance controls.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1.png"/>
          <p:cNvPicPr>
            <a:picLocks noChangeAspect="1"/>
          </p:cNvPicPr>
          <p:nvPr/>
        </p:nvPicPr>
        <p:blipFill>
          <a:blip r:embed="rId2"/>
          <a:stretch>
            <a:fillRect/>
          </a:stretch>
        </p:blipFill>
        <p:spPr>
          <a:xfrm>
            <a:off x="222250" y="2396331"/>
            <a:ext cx="8915400" cy="100218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3 — Debrief</a:t>
            </a:r>
          </a:p>
        </p:txBody>
      </p:sp>
      <p:sp>
        <p:nvSpPr>
          <p:cNvPr id="3" name="Content Placeholder 2"/>
          <p:cNvSpPr>
            <a:spLocks noGrp="1"/>
          </p:cNvSpPr>
          <p:nvPr>
            <p:ph idx="1"/>
          </p:nvPr>
        </p:nvSpPr>
        <p:spPr/>
        <p:txBody>
          <a:bodyPr/>
          <a:lstStyle/>
          <a:p>
            <a:r>
              <a:t> How many errors did each team find?</a:t>
            </a:r>
            <a:r>
              <a:rPr i="1"/>
              <a:t> (Reveal the true count last.)</a:t>
            </a:r>
          </a:p>
          <a:p>
            <a:r>
              <a:t> Which was hardest to spot, and why?</a:t>
            </a:r>
          </a:p>
          <a:p>
            <a:r>
              <a:t> Whose current process would have caught it?</a:t>
            </a:r>
          </a:p>
          <a:p>
            <a:r>
              <a:t> Did any team dispute an "error" — and were they right?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3 — Takeaways</a:t>
            </a:r>
          </a:p>
        </p:txBody>
      </p:sp>
      <p:sp>
        <p:nvSpPr>
          <p:cNvPr id="3" name="Content Placeholder 2"/>
          <p:cNvSpPr>
            <a:spLocks noGrp="1"/>
          </p:cNvSpPr>
          <p:nvPr>
            <p:ph idx="1"/>
          </p:nvPr>
        </p:nvSpPr>
        <p:spPr/>
        <p:txBody>
          <a:bodyPr/>
          <a:lstStyle/>
          <a:p>
            <a:r>
              <a:t> Excellent at language-shaped, high-volume, reviewable work</a:t>
            </a:r>
          </a:p>
          <a:p>
            <a:r>
              <a:t> Unreliable at counting, recall, and knowing its own limits</a:t>
            </a:r>
          </a:p>
          <a:p>
            <a:r>
              <a:t> Cannot be accountable, cannot check reality — a person stays in the loop</a:t>
            </a:r>
          </a:p>
          <a:p>
            <a:r>
              <a:rPr b="1"/>
              <a:t> Confidence is not accuracy.</a:t>
            </a:r>
            <a:r>
              <a:t> You have lost the uncertainty signal your review process depends on</a:t>
            </a:r>
          </a:p>
          <a:p>
            <a:r>
              <a:t> Five defenses: ground it, narrow it, structure it, give it an exit, keep a human where the stakes justify one</a:t>
            </a:r>
          </a:p>
          <a:p>
            <a:r>
              <a:t> Match the checking to the</a:t>
            </a:r>
            <a:r>
              <a:rPr b="1"/>
              <a:t> cost and reversibility</a:t>
            </a:r>
            <a:r>
              <a:t> of being wrong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theme/theme1.xml><?xml version="1.0" encoding="utf-8"?>
<a:theme xmlns:a="http://schemas.openxmlformats.org/drawingml/2006/main" name="LPc_New">
  <a:themeElements>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fontScheme name="LPc_New">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lnDef>
  </a:objectDefaults>
  <a:extraClrSchemeLst>
    <a:extraClrScheme>
      <a:clrScheme name="LPc_New 1">
        <a:dk1>
          <a:srgbClr val="000099"/>
        </a:dk1>
        <a:lt1>
          <a:srgbClr val="FFFFFF"/>
        </a:lt1>
        <a:dk2>
          <a:srgbClr val="0000FF"/>
        </a:dk2>
        <a:lt2>
          <a:srgbClr val="FFFF00"/>
        </a:lt2>
        <a:accent1>
          <a:srgbClr val="FF6633"/>
        </a:accent1>
        <a:accent2>
          <a:srgbClr val="FF00FF"/>
        </a:accent2>
        <a:accent3>
          <a:srgbClr val="AAAAFF"/>
        </a:accent3>
        <a:accent4>
          <a:srgbClr val="DADADA"/>
        </a:accent4>
        <a:accent5>
          <a:srgbClr val="FFB8AD"/>
        </a:accent5>
        <a:accent6>
          <a:srgbClr val="E700E7"/>
        </a:accent6>
        <a:hlink>
          <a:srgbClr val="FF0000"/>
        </a:hlink>
        <a:folHlink>
          <a:srgbClr val="808080"/>
        </a:folHlink>
      </a:clrScheme>
      <a:clrMap bg1="dk2" tx1="lt1" bg2="dk1" tx2="lt2" accent1="accent1" accent2="accent2" accent3="accent3" accent4="accent4" accent5="accent5" accent6="accent6" hlink="hlink" folHlink="folHlink"/>
    </a:extraClrScheme>
    <a:extraClrScheme>
      <a:clrScheme name="LPc_New 2">
        <a:dk1>
          <a:srgbClr val="000066"/>
        </a:dk1>
        <a:lt1>
          <a:srgbClr val="CCECFF"/>
        </a:lt1>
        <a:dk2>
          <a:srgbClr val="000080"/>
        </a:dk2>
        <a:lt2>
          <a:srgbClr val="000000"/>
        </a:lt2>
        <a:accent1>
          <a:srgbClr val="9999FF"/>
        </a:accent1>
        <a:accent2>
          <a:srgbClr val="CC00FF"/>
        </a:accent2>
        <a:accent3>
          <a:srgbClr val="E2F4FF"/>
        </a:accent3>
        <a:accent4>
          <a:srgbClr val="000056"/>
        </a:accent4>
        <a:accent5>
          <a:srgbClr val="CACAFF"/>
        </a:accent5>
        <a:accent6>
          <a:srgbClr val="B900E7"/>
        </a:accent6>
        <a:hlink>
          <a:srgbClr val="00CC99"/>
        </a:hlink>
        <a:folHlink>
          <a:srgbClr val="0099CC"/>
        </a:folHlink>
      </a:clrScheme>
      <a:clrMap bg1="lt1" tx1="dk1" bg2="lt2" tx2="dk2" accent1="accent1" accent2="accent2" accent3="accent3" accent4="accent4" accent5="accent5" accent6="accent6" hlink="hlink" folHlink="folHlink"/>
    </a:extraClrScheme>
    <a:extraClrScheme>
      <a:clrScheme name="LPc_New 3">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
      <a:clrScheme name="LPc_New 4">
        <a:dk1>
          <a:srgbClr val="000000"/>
        </a:dk1>
        <a:lt1>
          <a:srgbClr val="FFFFFF"/>
        </a:lt1>
        <a:dk2>
          <a:srgbClr val="660033"/>
        </a:dk2>
        <a:lt2>
          <a:srgbClr val="FFFF66"/>
        </a:lt2>
        <a:accent1>
          <a:srgbClr val="FF0033"/>
        </a:accent1>
        <a:accent2>
          <a:srgbClr val="CC6600"/>
        </a:accent2>
        <a:accent3>
          <a:srgbClr val="B8AAAD"/>
        </a:accent3>
        <a:accent4>
          <a:srgbClr val="DADADA"/>
        </a:accent4>
        <a:accent5>
          <a:srgbClr val="FFAAAD"/>
        </a:accent5>
        <a:accent6>
          <a:srgbClr val="B95C00"/>
        </a:accent6>
        <a:hlink>
          <a:srgbClr val="999933"/>
        </a:hlink>
        <a:folHlink>
          <a:srgbClr val="A50021"/>
        </a:folHlink>
      </a:clrScheme>
      <a:clrMap bg1="dk2" tx1="lt1" bg2="dk1" tx2="lt2" accent1="accent1" accent2="accent2" accent3="accent3" accent4="accent4" accent5="accent5" accent6="accent6" hlink="hlink" folHlink="folHlink"/>
    </a:extraClrScheme>
    <a:extraClrScheme>
      <a:clrScheme name="LPc_New 5">
        <a:dk1>
          <a:srgbClr val="000000"/>
        </a:dk1>
        <a:lt1>
          <a:srgbClr val="FFFFFF"/>
        </a:lt1>
        <a:dk2>
          <a:srgbClr val="CCECFF"/>
        </a:dk2>
        <a:lt2>
          <a:srgbClr val="000080"/>
        </a:lt2>
        <a:accent1>
          <a:srgbClr val="9999FF"/>
        </a:accent1>
        <a:accent2>
          <a:srgbClr val="CC00FF"/>
        </a:accent2>
        <a:accent3>
          <a:srgbClr val="E2F4FF"/>
        </a:accent3>
        <a:accent4>
          <a:srgbClr val="DADADA"/>
        </a:accent4>
        <a:accent5>
          <a:srgbClr val="CACAFF"/>
        </a:accent5>
        <a:accent6>
          <a:srgbClr val="B900E7"/>
        </a:accent6>
        <a:hlink>
          <a:srgbClr val="00CC99"/>
        </a:hlink>
        <a:folHlink>
          <a:srgbClr val="0099CC"/>
        </a:folHlink>
      </a:clrScheme>
      <a:clrMap bg1="dk2" tx1="lt1" bg2="dk1" tx2="lt2" accent1="accent1" accent2="accent2" accent3="accent3" accent4="accent4" accent5="accent5" accent6="accent6" hlink="hlink" folHlink="folHlink"/>
    </a:extraClrScheme>
    <a:extraClrScheme>
      <a:clrScheme name="LPc_New 6">
        <a:dk1>
          <a:srgbClr val="000000"/>
        </a:dk1>
        <a:lt1>
          <a:srgbClr val="FFFFFF"/>
        </a:lt1>
        <a:dk2>
          <a:srgbClr val="CCECFF"/>
        </a:dk2>
        <a:lt2>
          <a:srgbClr val="003399"/>
        </a:lt2>
        <a:accent1>
          <a:srgbClr val="9999FF"/>
        </a:accent1>
        <a:accent2>
          <a:srgbClr val="800080"/>
        </a:accent2>
        <a:accent3>
          <a:srgbClr val="E2F4FF"/>
        </a:accent3>
        <a:accent4>
          <a:srgbClr val="DADADA"/>
        </a:accent4>
        <a:accent5>
          <a:srgbClr val="CACA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378297</TotalTime>
  <Words>2313</Words>
  <Application>Microsoft Macintosh PowerPoint</Application>
  <PresentationFormat>Custom</PresentationFormat>
  <Paragraphs>170</Paragraphs>
  <Slides>23</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Arial Bold</vt:lpstr>
      <vt:lpstr>Courier New</vt:lpstr>
      <vt:lpstr>Garamond</vt:lpstr>
      <vt:lpstr>Monotype Sorts</vt:lpstr>
      <vt:lpstr>Times New Roman</vt:lpstr>
      <vt:lpstr>Verdana</vt:lpstr>
      <vt:lpstr>Wingdings</vt:lpstr>
      <vt:lpstr>LPc_New</vt:lpstr>
      <vt:lpstr>Capabilities, Limits, and Trust</vt:lpstr>
      <vt:lpstr>The Most Expensive Sentence in AI</vt:lpstr>
      <vt:lpstr>What Today's AI Is Genuinely Excellent At</vt:lpstr>
      <vt:lpstr>What It Is Unreliable At</vt:lpstr>
      <vt:lpstr>What It Genuinely Cannot Do</vt:lpstr>
      <vt:lpstr>Hallucination</vt:lpstr>
      <vt:lpstr>What Hallucination Actually Is</vt:lpstr>
      <vt:lpstr>The Signature Failure Modes</vt:lpstr>
      <vt:lpstr>Confidence Is Not Accuracy</vt:lpstr>
      <vt:lpstr>The Fluency Trap</vt:lpstr>
      <vt:lpstr>Designing Around It</vt:lpstr>
      <vt:lpstr>The Five Real Defenses</vt:lpstr>
      <vt:lpstr>Grounding: The Biggest Single Lever</vt:lpstr>
      <vt:lpstr>Give It Permission to Say Nothing</vt:lpstr>
      <vt:lpstr>Match the Checking to the Stakes</vt:lpstr>
      <vt:lpstr>The Reversibility Test</vt:lpstr>
      <vt:lpstr>Human-in-the-Loop Is a Design, Not a Disclaimer</vt:lpstr>
      <vt:lpstr>The Automation Paradox</vt:lpstr>
      <vt:lpstr>Exercise 3 — Spot the Failure</vt:lpstr>
      <vt:lpstr>Exercise 3 — Spot the Failure</vt:lpstr>
      <vt:lpstr>Exercise 3 — Your Deliverable</vt:lpstr>
      <vt:lpstr>Exercise 3 — Debrief</vt:lpstr>
      <vt:lpstr>Module 3 — Takeaways</vt:lpstr>
    </vt:vector>
  </TitlesOfParts>
  <Company>Elephant Scale LLC &amp; LearningPatterns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dc:subject>Spark</dc:subject>
  <dc:creator>Elephant Scale</dc:creator>
  <cp:lastModifiedBy>Brent Borgundvaag</cp:lastModifiedBy>
  <cp:revision>4136</cp:revision>
  <cp:lastPrinted>2010-01-03T02:41:41Z</cp:lastPrinted>
  <dcterms:created xsi:type="dcterms:W3CDTF">2010-07-13T15:22:01Z</dcterms:created>
  <dcterms:modified xsi:type="dcterms:W3CDTF">2026-09-22T02:55:17Z</dcterms:modified>
</cp:coreProperties>
</file>