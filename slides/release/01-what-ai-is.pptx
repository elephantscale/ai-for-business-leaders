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32"/>
  </p:notesMasterIdLst>
  <p:handoutMasterIdLst>
    <p:handoutMasterId r:id="rId3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key point for leaders: before foundation models, every AI use case was a project with a data science team attached. Now most use cases start as a configuration task. That is what changed the economics.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thesis of the whole course. Land it hard.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Do not skip this. Almost every misconception in the rest of the course — hallucination, confidence without accuracy, why it can't do arithmetic reliably — traces back to "it predicts text."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the room: which parts of your work are "language-shaped"? You will get more hands than people expect. Most knowledge work is language-shaped.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has saved organizations real money. Emphasize the vendor question.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If they remember one acronym from two days, make it this one. Nearly every valuable enterprise use case is RAG underneath.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regulated environments, spend an extra minute here. The enterprise-tenant middle option is the one most organizations end up choosing and the one least understood.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Hand this out as a card. It is the single most-photographed slide in the course.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Source: falling LLM token prices. The strategic implication is on the next slide — don't let them leave with just the chart.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what did you say no to in 2024 because it was too expensive? That is a live opportunity list and it costs nothing to revisit.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Deliberately avoid naming a winner. The list would be wrong by the time the class runs again, and the point is portability.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the room what has been rebranded as AI inside their own organization in the last two years. This question always produces laughter and always produces examples.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Full facilitator instructions, the claim set, and the answer key are in</a:t>
            </a:r>
            <a:r>
              <a:rPr>
                <a:latin typeface="Courier New"/>
              </a:rPr>
              <a:t> exercises/01-jargon-decoder.md</a:t>
            </a:r>
            <a: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Close the debrief by pointing out that they just did, in twenty minutes, what most procurement processes never do at all.</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Vocabulary You Must Own</a:t>
            </a:r>
          </a:p>
          <a:p>
            <a:r>
              <a:t>Why AI Got Cheap</a:t>
            </a:r>
          </a:p>
          <a:p>
            <a:r>
              <a:t>What Is </a:t>
            </a:r>
          </a:p>
          <a:p>
            <a:r>
              <a:t>Exercise 1 — The Jargon Decoder</a:t>
            </a:r>
          </a:p>
        </p:txBody>
      </p:sp>
      <p:sp>
        <p:nvSpPr>
          <p:cNvPr id="3" name="Title 2"/>
          <p:cNvSpPr>
            <a:spLocks noGrp="1"/>
          </p:cNvSpPr>
          <p:nvPr>
            <p:ph type="ctrTitle" sz="quarter"/>
          </p:nvPr>
        </p:nvSpPr>
        <p:spPr/>
        <p:txBody>
          <a:bodyPr wrap="square">
            <a:noAutofit/>
          </a:bodyPr>
          <a:lstStyle/>
          <a:p>
            <a:r>
              <a:rPr sz="4200" b="1" i="0">
                <a:latin typeface="Times New Roman"/>
              </a:rPr>
              <a:t>What AI Actually Is (and Isn't)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Start Here</a:t>
            </a:r>
          </a:p>
        </p:txBody>
      </p:sp>
      <p:sp>
        <p:nvSpPr>
          <p:cNvPr id="3" name="Content Placeholder 2"/>
          <p:cNvSpPr>
            <a:spLocks noGrp="1"/>
          </p:cNvSpPr>
          <p:nvPr>
            <p:ph idx="1"/>
          </p:nvPr>
        </p:nvSpPr>
        <p:spPr/>
        <p:txBody>
          <a:bodyPr/>
          <a:lstStyle/>
          <a:p>
            <a:r>
              <a:t> You cannot govern, fund, or challenge something you can only describe in adjectives.</a:t>
            </a:r>
          </a:p>
          <a:p>
            <a:r>
              <a:t> The goal of this module is not to make you technical. It is to make you</a:t>
            </a:r>
            <a:r>
              <a:rPr b="1"/>
              <a:t> precise</a:t>
            </a:r>
            <a:r>
              <a:t> .</a:t>
            </a:r>
          </a:p>
          <a:p>
            <a:r>
              <a:t> By the end you will be able to sit in a vendor meeting and know which sentences mean something and which ones are decoration.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Short, Honest History</a:t>
            </a:r>
          </a:p>
        </p:txBody>
      </p:sp>
      <p:sp>
        <p:nvSpPr>
          <p:cNvPr id="3" name="Content Placeholder 2"/>
          <p:cNvSpPr>
            <a:spLocks noGrp="1"/>
          </p:cNvSpPr>
          <p:nvPr>
            <p:ph idx="1"/>
          </p:nvPr>
        </p:nvSpPr>
        <p:spPr/>
        <p:txBody>
          <a:bodyPr/>
          <a:lstStyle/>
          <a:p>
            <a:r>
              <a:rPr b="1"/>
              <a:t> Rules</a:t>
            </a:r>
            <a:r>
              <a:t> — people wrote the logic by hand. If X then Y. Expert systems.</a:t>
            </a:r>
          </a:p>
          <a:p>
            <a:pPr lvl="1"/>
            <a:r>
              <a:t> Worked where the rules were knowable. Broke where they weren't.</a:t>
            </a:r>
          </a:p>
          <a:p>
            <a:r>
              <a:rPr b="1"/>
              <a:t> Machine learning</a:t>
            </a:r>
            <a:r>
              <a:t> — the computer learns the rules from examples.</a:t>
            </a:r>
          </a:p>
          <a:p>
            <a:pPr lvl="1"/>
            <a:r>
              <a:t> Needed labeled data, a data science team, and a model per problem.</a:t>
            </a:r>
          </a:p>
          <a:p>
            <a:r>
              <a:rPr b="1"/>
              <a:t> Deep learning</a:t>
            </a:r>
            <a:r>
              <a:t> — many-layered models; image and speech recognition became real.</a:t>
            </a:r>
          </a:p>
          <a:p>
            <a:r>
              <a:rPr b="1"/>
              <a:t> Foundation models</a:t>
            </a:r>
            <a:r>
              <a:t> — one very large model, trained on enormous general data, adapted to thousands of tasks without retraining.</a:t>
            </a:r>
          </a:p>
          <a:p>
            <a:pPr lvl="1"/>
            <a:r>
              <a:t> This is the break. Not a better version of the last thing — a different thing.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Actually Changed</a:t>
            </a:r>
          </a:p>
        </p:txBody>
      </p:sp>
      <p:sp>
        <p:nvSpPr>
          <p:cNvPr id="3" name="Content Placeholder 2"/>
          <p:cNvSpPr>
            <a:spLocks noGrp="1"/>
          </p:cNvSpPr>
          <p:nvPr>
            <p:ph idx="1"/>
          </p:nvPr>
        </p:nvSpPr>
        <p:spPr/>
        <p:txBody>
          <a:bodyPr/>
          <a:lstStyle/>
          <a:p>
            <a:r>
              <a:rPr b="1"/>
              <a:t> Before:</a:t>
            </a:r>
            <a:r>
              <a:t> one model, one problem, one team, six to eighteen months.</a:t>
            </a:r>
          </a:p>
          <a:p>
            <a:r>
              <a:rPr b="1"/>
              <a:t> Now:</a:t>
            </a:r>
            <a:r>
              <a:t> one model, thousands of problems, configured in days.</a:t>
            </a:r>
          </a:p>
          <a:p>
            <a:r>
              <a:t> The scarce resource moved. It used to be</a:t>
            </a:r>
            <a:r>
              <a:rPr i="1"/>
              <a:t> modeling talent</a:t>
            </a:r>
            <a:r>
              <a:t> . It is now</a:t>
            </a:r>
            <a:r>
              <a:rPr b="1"/>
              <a:t> knowing which problems are worth solving.</a:t>
            </a:r>
          </a:p>
          <a:p>
            <a:r>
              <a:t> That is a leadership skill, and it is why you are in this room.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Large Language Model Actually Does</a:t>
            </a:r>
          </a:p>
        </p:txBody>
      </p:sp>
      <p:sp>
        <p:nvSpPr>
          <p:cNvPr id="3" name="Content Placeholder 2"/>
          <p:cNvSpPr>
            <a:spLocks noGrp="1"/>
          </p:cNvSpPr>
          <p:nvPr>
            <p:ph idx="1"/>
          </p:nvPr>
        </p:nvSpPr>
        <p:spPr/>
        <p:txBody>
          <a:bodyPr/>
          <a:lstStyle/>
          <a:p>
            <a:r>
              <a:t> It predicts the next piece of text, over and over, very well.</a:t>
            </a:r>
          </a:p>
          <a:p>
            <a:r>
              <a:t> That's it. There is no database of facts inside it. There is no reasoning engine consulting a rulebook. There is a very large statistical model of how language — and therefore, indirectly, how ideas — fit together.</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3108960"/>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Everything impressive and everything dangerous about this technology follows from that one sentence.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Consequences You Must Internalize</a:t>
            </a:r>
          </a:p>
        </p:txBody>
      </p:sp>
      <p:sp>
        <p:nvSpPr>
          <p:cNvPr id="3" name="Content Placeholder 2"/>
          <p:cNvSpPr>
            <a:spLocks noGrp="1"/>
          </p:cNvSpPr>
          <p:nvPr>
            <p:ph idx="1"/>
          </p:nvPr>
        </p:nvSpPr>
        <p:spPr/>
        <p:txBody>
          <a:bodyPr/>
          <a:lstStyle/>
          <a:p>
            <a:r>
              <a:rPr b="1"/>
              <a:t> 1. It is astonishingly good at language-shaped work.</a:t>
            </a:r>
            <a:r>
              <a:t> Summarizing, rewriting, drafting, classifying, extracting, translating, explaining. Anything where the answer</a:t>
            </a:r>
            <a:r>
              <a:rPr i="1"/>
              <a:t> is</a:t>
            </a:r>
            <a:r>
              <a:t> well-formed text.</a:t>
            </a:r>
          </a:p>
          <a:p>
            <a:r>
              <a:rPr b="1"/>
              <a:t> 2. It has no idea what is true.</a:t>
            </a:r>
            <a:r>
              <a:t> It produces text that</a:t>
            </a:r>
            <a:r>
              <a:rPr i="1"/>
              <a:t> looks like</a:t>
            </a:r>
            <a:r>
              <a:t> a correct answer. Usually that's the same thing. Sometimes it very much is not.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The Vocabulary You Must Own
</a:t>
            </a:r>
            <a:r>
              <a:t>Why AI Got Cheap
What Is 
Exercise 1 — The Jargon Decoder
</a:t>
            </a:r>
          </a:p>
        </p:txBody>
      </p:sp>
      <p:sp>
        <p:nvSpPr>
          <p:cNvPr id="3" name="Title 2"/>
          <p:cNvSpPr>
            <a:spLocks noGrp="1"/>
          </p:cNvSpPr>
          <p:nvPr>
            <p:ph type="ctrTitle" sz="quarter"/>
          </p:nvPr>
        </p:nvSpPr>
        <p:spPr/>
        <p:txBody>
          <a:bodyPr wrap="square">
            <a:noAutofit/>
          </a:bodyPr>
          <a:lstStyle/>
          <a:p>
            <a:r>
              <a:rPr sz="4200" b="1" i="0">
                <a:latin typeface="Times New Roman"/>
              </a:rPr>
              <a:t>The Vocabulary You Must Own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a:t>
            </a:r>
          </a:p>
        </p:txBody>
      </p:sp>
      <p:sp>
        <p:nvSpPr>
          <p:cNvPr id="3" name="Content Placeholder 2"/>
          <p:cNvSpPr>
            <a:spLocks noGrp="1"/>
          </p:cNvSpPr>
          <p:nvPr>
            <p:ph idx="1"/>
          </p:nvPr>
        </p:nvSpPr>
        <p:spPr/>
        <p:txBody>
          <a:bodyPr/>
          <a:lstStyle/>
          <a:p>
            <a:r>
              <a:t> The trained system itself. The thing that does the predicting.</a:t>
            </a:r>
          </a:p>
          <a:p>
            <a:r>
              <a:t> Models come in families and sizes. Bigger and newer is generally more capable and more expensive per use.</a:t>
            </a:r>
          </a:p>
          <a:p>
            <a:r>
              <a:rPr b="1"/>
              <a:t> What a leader needs from this:</a:t>
            </a:r>
            <a:r>
              <a:t> you will be asked "which model should we use?" The real question underneath is</a:t>
            </a:r>
            <a:r>
              <a:rPr i="1"/>
              <a:t> "how hard is this task, and what are we willing to pay per</a:t>
            </a:r>
            <a:r>
              <a:t> Cheap, fast models handle high volume routine work. Expensive, capable models handle hard reasoning. Most organizations need both.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Prompt</a:t>
            </a:r>
          </a:p>
        </p:txBody>
      </p:sp>
      <p:sp>
        <p:nvSpPr>
          <p:cNvPr id="3" name="Content Placeholder 2"/>
          <p:cNvSpPr>
            <a:spLocks noGrp="1"/>
          </p:cNvSpPr>
          <p:nvPr>
            <p:ph idx="1"/>
          </p:nvPr>
        </p:nvSpPr>
        <p:spPr/>
        <p:txBody>
          <a:bodyPr/>
          <a:lstStyle/>
          <a:p>
            <a:r>
              <a:t> The instruction plus the context you hand the model.</a:t>
            </a:r>
          </a:p>
          <a:p>
            <a:r>
              <a:t> Not "the question." The whole package — the role you give it, the rules, the examples, the data, and finally the request.</a:t>
            </a:r>
          </a:p>
          <a:p>
            <a:r>
              <a:rPr b="1"/>
              <a:t> What a leader needs from this:</a:t>
            </a:r>
            <a:r>
              <a:t> the quality of your organization's AI output is determined far more by prompt quality than by model choice. This is good news. It means improvement is cheap and available to non-programmers. Module 2 is entirely about this.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Context Window</a:t>
            </a:r>
          </a:p>
        </p:txBody>
      </p:sp>
      <p:sp>
        <p:nvSpPr>
          <p:cNvPr id="3" name="Content Placeholder 2"/>
          <p:cNvSpPr>
            <a:spLocks noGrp="1"/>
          </p:cNvSpPr>
          <p:nvPr>
            <p:ph idx="1"/>
          </p:nvPr>
        </p:nvSpPr>
        <p:spPr/>
        <p:txBody>
          <a:bodyPr/>
          <a:lstStyle/>
          <a:p>
            <a:r>
              <a:t> How much text the model can consider at once — the prompt, the attached documents, and the conversation so far.</a:t>
            </a:r>
          </a:p>
          <a:p>
            <a:r>
              <a:t> Modern models hold the equivalent of hundreds of pages.</a:t>
            </a:r>
          </a:p>
          <a:p>
            <a:r>
              <a:rPr b="1"/>
              <a:t> What a leader needs from this:</a:t>
            </a:r>
            <a:r>
              <a:t> "can it read our 400-page manual?" is now usually yes. "Should we paste all 400 pages every time?" is usually no — it's slow, expensive, and dilutes attention. That trade-off is why retrieval exists.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Token</a:t>
            </a:r>
          </a:p>
        </p:txBody>
      </p:sp>
      <p:sp>
        <p:nvSpPr>
          <p:cNvPr id="3" name="Content Placeholder 2"/>
          <p:cNvSpPr>
            <a:spLocks noGrp="1"/>
          </p:cNvSpPr>
          <p:nvPr>
            <p:ph idx="1"/>
          </p:nvPr>
        </p:nvSpPr>
        <p:spPr/>
        <p:txBody>
          <a:bodyPr/>
          <a:lstStyle/>
          <a:p>
            <a:r>
              <a:t> The unit models read and write in — roughly ¾ of a word.</a:t>
            </a:r>
          </a:p>
          <a:p>
            <a:r>
              <a:t> You are billed per token, in and out.</a:t>
            </a:r>
          </a:p>
          <a:p>
            <a:r>
              <a:rPr b="1"/>
              <a:t> What a leader needs from this:</a:t>
            </a:r>
            <a:r>
              <a:t> this is your unit of cost. When someone says a use case is "too expensive," the arithmetic is tokens × price × volume, and you can do it on a napkin. We will, in Module 8.</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Training vs. Inference</a:t>
            </a:r>
          </a:p>
        </p:txBody>
      </p:sp>
      <p:sp>
        <p:nvSpPr>
          <p:cNvPr id="3" name="Content Placeholder 2"/>
          <p:cNvSpPr>
            <a:spLocks noGrp="1"/>
          </p:cNvSpPr>
          <p:nvPr>
            <p:ph idx="1"/>
          </p:nvPr>
        </p:nvSpPr>
        <p:spPr/>
        <p:txBody>
          <a:bodyPr/>
          <a:lstStyle/>
          <a:p>
            <a:r>
              <a:rPr b="1"/>
              <a:t> Training</a:t>
            </a:r>
            <a:r>
              <a:t> — building the model. Enormous cost, done by the provider, months of compute. You are almost certainly never doing this.</a:t>
            </a:r>
          </a:p>
          <a:p>
            <a:r>
              <a:rPr b="1"/>
              <a:t> Inference</a:t>
            </a:r>
            <a:r>
              <a:t> — using the model to answer something. Milliseconds to seconds, fractions of a cent.</a:t>
            </a:r>
          </a:p>
          <a:p>
            <a:r>
              <a:rPr b="1"/>
              <a:t> What a leader needs from this:</a:t>
            </a:r>
            <a:r>
              <a:t> when a vendor says "we trained a model for you," ask what they actually mean. Nine times out of ten they mean they wrote a prompt.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Fine-Tuning</a:t>
            </a:r>
          </a:p>
        </p:txBody>
      </p:sp>
      <p:sp>
        <p:nvSpPr>
          <p:cNvPr id="3" name="Content Placeholder 2"/>
          <p:cNvSpPr>
            <a:spLocks noGrp="1"/>
          </p:cNvSpPr>
          <p:nvPr>
            <p:ph idx="1"/>
          </p:nvPr>
        </p:nvSpPr>
        <p:spPr/>
        <p:txBody>
          <a:bodyPr/>
          <a:lstStyle/>
          <a:p>
            <a:r>
              <a:t> Taking an existing model and adjusting it on your own examples so it adopts a specific style, format, or narrow behavior.</a:t>
            </a:r>
          </a:p>
          <a:p>
            <a:r>
              <a:rPr b="1"/>
              <a:t> What a leader needs from this:</a:t>
            </a:r>
            <a:r>
              <a:t> fine-tuning teaches</a:t>
            </a:r>
            <a:r>
              <a:rPr i="1"/>
              <a:t> behavior</a:t>
            </a:r>
            <a:r>
              <a:t> , not</a:t>
            </a:r>
            <a:r>
              <a:rPr i="1"/>
              <a:t> facts</a:t>
            </a:r>
            <a:r>
              <a:t> . It is the wrong tool for "make it know our policies" — that's retrieval. It is the right tool for "make it always produce our report format." It costs real money and real data work, and in 2026 it is needed far less often than vendors suggest.</a:t>
            </a:r>
            <a:r>
              <a:rPr b="1"/>
              <a:t> Try prompting and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RAG — Retrieval-Augmented Generation</a:t>
            </a:r>
          </a:p>
        </p:txBody>
      </p:sp>
      <p:sp>
        <p:nvSpPr>
          <p:cNvPr id="3" name="Content Placeholder 2"/>
          <p:cNvSpPr>
            <a:spLocks noGrp="1"/>
          </p:cNvSpPr>
          <p:nvPr>
            <p:ph idx="1"/>
          </p:nvPr>
        </p:nvSpPr>
        <p:spPr/>
        <p:txBody>
          <a:bodyPr/>
          <a:lstStyle/>
          <a:p>
            <a:r>
              <a:t> The most important acronym in enterprise AI.</a:t>
            </a:r>
          </a:p>
          <a:p>
            <a:r>
              <a:t> Your question arrives</a:t>
            </a:r>
          </a:p>
          <a:p>
            <a:r>
              <a:t> The system</a:t>
            </a:r>
            <a:r>
              <a:rPr b="1"/>
              <a:t> searches your own documents</a:t>
            </a:r>
            <a:r>
              <a:t> for relevant passages</a:t>
            </a:r>
          </a:p>
          <a:p>
            <a:r>
              <a:t> It hands those passages to the model along with your question</a:t>
            </a:r>
          </a:p>
          <a:p>
            <a:r>
              <a:t> The model answers</a:t>
            </a:r>
            <a:r>
              <a:rPr b="1"/>
              <a:t> using that material</a:t>
            </a:r>
            <a:r>
              <a:t> , and can cite it</a:t>
            </a:r>
          </a:p>
          <a:p>
            <a:r>
              <a:rPr b="1"/>
              <a:t> What a leader needs from this:</a:t>
            </a:r>
            <a:r>
              <a:t> this is how AI gets to know things it was never trained on — your procedures, your contracts, your engineering standards — without retraining anything. It is also the single biggest lever against hallucination, because the answer is grounded in a real document you can check.</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a:t>
            </a:r>
          </a:p>
        </p:txBody>
      </p:sp>
      <p:sp>
        <p:nvSpPr>
          <p:cNvPr id="3" name="Content Placeholder 2"/>
          <p:cNvSpPr>
            <a:spLocks noGrp="1"/>
          </p:cNvSpPr>
          <p:nvPr>
            <p:ph idx="1"/>
          </p:nvPr>
        </p:nvSpPr>
        <p:spPr/>
        <p:txBody>
          <a:bodyPr/>
          <a:lstStyle/>
          <a:p>
            <a:r>
              <a:t> A system where the model doesn't just answer — it</a:t>
            </a:r>
            <a:r>
              <a:rPr b="1"/>
              <a:t> takes actions</a:t>
            </a:r>
            <a:r>
              <a:t> . It can call other software, look things up, run a process, and decide what to do next.</a:t>
            </a:r>
          </a:p>
          <a:p>
            <a:r>
              <a:rPr b="1"/>
              <a:t> What a leader needs from this:</a:t>
            </a:r>
            <a:r>
              <a:t> agents are where the value gets big and where the risk gets real. An assistant that writes a wrong sentence wastes your time. An agent with permission to act can do damage. The governing question for any agent is</a:t>
            </a:r>
            <a:r>
              <a:rPr b="1"/>
              <a:t> "what is it allowed to do, and who approves it?"</a:t>
            </a:r>
            <a:r>
              <a:t> We come back to this in Module 7.</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Multimodal</a:t>
            </a:r>
          </a:p>
        </p:txBody>
      </p:sp>
      <p:sp>
        <p:nvSpPr>
          <p:cNvPr id="3" name="Content Placeholder 2"/>
          <p:cNvSpPr>
            <a:spLocks noGrp="1"/>
          </p:cNvSpPr>
          <p:nvPr>
            <p:ph idx="1"/>
          </p:nvPr>
        </p:nvSpPr>
        <p:spPr/>
        <p:txBody>
          <a:bodyPr/>
          <a:lstStyle/>
          <a:p>
            <a:r>
              <a:t> The model handles more than text — images, diagrams, scanned documents, audio, video.</a:t>
            </a:r>
          </a:p>
          <a:p>
            <a:r>
              <a:rPr b="1"/>
              <a:t> What a leader needs from this:</a:t>
            </a:r>
            <a:r>
              <a:t> a large amount of institutional knowledge lives in scans, photographs, drawings, and PDFs that were never machine-readable. That material just became accessible. Look there for use cases; the competition usually isn't.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Open vs. Closed Models</a:t>
            </a:r>
          </a:p>
        </p:txBody>
      </p:sp>
      <p:sp>
        <p:nvSpPr>
          <p:cNvPr id="3" name="Content Placeholder 2"/>
          <p:cNvSpPr>
            <a:spLocks noGrp="1"/>
          </p:cNvSpPr>
          <p:nvPr>
            <p:ph idx="1"/>
          </p:nvPr>
        </p:nvSpPr>
        <p:spPr/>
        <p:txBody>
          <a:bodyPr/>
          <a:lstStyle/>
          <a:p>
            <a:r>
              <a:rPr b="1"/>
              <a:t> Closed / hosted</a:t>
            </a:r>
            <a:r>
              <a:t> — you call the provider's model over an API. Most capable, least effort, your data goes to their service under their terms.</a:t>
            </a:r>
          </a:p>
          <a:p>
            <a:r>
              <a:rPr b="1"/>
              <a:t> Open-weight</a:t>
            </a:r>
            <a:r>
              <a:t> — the model file is published; you can run it on your own infrastructure, including disconnected from the internet.</a:t>
            </a:r>
          </a:p>
          <a:p>
            <a:r>
              <a:rPr b="1"/>
              <a:t> What a leader needs from this:</a:t>
            </a:r>
            <a:r>
              <a:t> this is a data-control and sovereignty decision before it is a technical one. For sensitive environments the real menu is usually: hosted service → enterprise tenant under your own control → self-hosted open model. Each step buys control and costs capability, money, or both.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Hallucination</a:t>
            </a:r>
          </a:p>
        </p:txBody>
      </p:sp>
      <p:sp>
        <p:nvSpPr>
          <p:cNvPr id="3" name="Content Placeholder 2"/>
          <p:cNvSpPr>
            <a:spLocks noGrp="1"/>
          </p:cNvSpPr>
          <p:nvPr>
            <p:ph idx="1"/>
          </p:nvPr>
        </p:nvSpPr>
        <p:spPr/>
        <p:txBody>
          <a:bodyPr/>
          <a:lstStyle/>
          <a:p>
            <a:r>
              <a:t> When the model states something false with complete confidence.</a:t>
            </a:r>
          </a:p>
          <a:p>
            <a:r>
              <a:t> It is not a bug that will be patched. It is a direct consequence of "it predicts text."</a:t>
            </a:r>
          </a:p>
          <a:p>
            <a:r>
              <a:rPr b="1"/>
              <a:t> What a leader needs from this:</a:t>
            </a:r>
            <a:r>
              <a:t> you do not eliminate this. You</a:t>
            </a:r>
            <a:r>
              <a:rPr b="1"/>
              <a:t> design around it</a:t>
            </a:r>
            <a:r>
              <a:t> — grounding, citations, narrow scope, human review, and matching the level of checking to the cost of being wrong. Module 3 is entirely about this.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Vocabulary, on One Slide</a:t>
            </a:r>
          </a:p>
        </p:txBody>
      </p:sp>
      <p:sp>
        <p:nvSpPr>
          <p:cNvPr id="3" name="Content Placeholder 2"/>
          <p:cNvSpPr>
            <a:spLocks noGrp="1"/>
          </p:cNvSpPr>
          <p:nvPr>
            <p:ph idx="1"/>
          </p:nvPr>
        </p:nvSpPr>
        <p:spPr/>
        <p:txBody>
          <a:bodyPr/>
          <a:lstStyle/>
          <a:p>
            <a:endParaRPr/>
          </a:p>
          <a:p>
            <a:endParaRPr/>
          </a:p>
          <a:p>
            <a:endParaRPr/>
          </a:p>
          <a:p>
            <a:endParaRPr/>
          </a:p>
          <a:p>
            <a:endParaRPr/>
          </a:p>
          <a:p>
            <a:endParaRPr/>
          </a:p>
          <a:p>
            <a:endParaRP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nvGraphicFramePr>
        <p:xfrm>
          <a:off x="237744" y="914400"/>
          <a:ext cx="8915400" cy="64008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57200">
                <a:tc>
                  <a:txBody>
                    <a:bodyPr/>
                    <a:lstStyle/>
                    <a:p>
                      <a:r>
                        <a:t>Term</a:t>
                      </a:r>
                    </a:p>
                  </a:txBody>
                  <a:tcPr/>
                </a:tc>
                <a:tc>
                  <a:txBody>
                    <a:bodyPr/>
                    <a:lstStyle/>
                    <a:p>
                      <a:r>
                        <a:t>In one line</a:t>
                      </a:r>
                    </a:p>
                  </a:txBody>
                  <a:tcPr/>
                </a:tc>
                <a:tc>
                  <a:txBody>
                    <a:bodyPr/>
                    <a:lstStyle/>
                    <a:p>
                      <a:r>
                        <a:t>Why you care</a:t>
                      </a:r>
                    </a:p>
                  </a:txBody>
                  <a:tcPr/>
                </a:tc>
                <a:extLst>
                  <a:ext uri="{0D108BD9-81ED-4DB2-BD59-A6C34878D82A}">
                    <a16:rowId xmlns:a16="http://schemas.microsoft.com/office/drawing/2014/main" val="10000"/>
                  </a:ext>
                </a:extLst>
              </a:tr>
              <a:tr h="457200">
                <a:tc>
                  <a:txBody>
                    <a:bodyPr/>
                    <a:lstStyle/>
                    <a:p>
                      <a:r>
                        <a:t>Model</a:t>
                      </a:r>
                    </a:p>
                  </a:txBody>
                  <a:tcPr/>
                </a:tc>
                <a:tc>
                  <a:txBody>
                    <a:bodyPr/>
                    <a:lstStyle/>
                    <a:p>
                      <a:r>
                        <a:t>The trained system</a:t>
                      </a:r>
                    </a:p>
                  </a:txBody>
                  <a:tcPr/>
                </a:tc>
                <a:tc>
                  <a:txBody>
                    <a:bodyPr/>
                    <a:lstStyle/>
                    <a:p>
                      <a:r>
                        <a:t>Capability vs. cost per answer</a:t>
                      </a:r>
                    </a:p>
                  </a:txBody>
                  <a:tcPr/>
                </a:tc>
                <a:extLst>
                  <a:ext uri="{0D108BD9-81ED-4DB2-BD59-A6C34878D82A}">
                    <a16:rowId xmlns:a16="http://schemas.microsoft.com/office/drawing/2014/main" val="10001"/>
                  </a:ext>
                </a:extLst>
              </a:tr>
              <a:tr h="457200">
                <a:tc>
                  <a:txBody>
                    <a:bodyPr/>
                    <a:lstStyle/>
                    <a:p>
                      <a:r>
                        <a:t>Prompt</a:t>
                      </a:r>
                    </a:p>
                  </a:txBody>
                  <a:tcPr/>
                </a:tc>
                <a:tc>
                  <a:txBody>
                    <a:bodyPr/>
                    <a:lstStyle/>
                    <a:p>
                      <a:r>
                        <a:t>Instruction + context</a:t>
                      </a:r>
                    </a:p>
                  </a:txBody>
                  <a:tcPr/>
                </a:tc>
                <a:tc>
                  <a:txBody>
                    <a:bodyPr/>
                    <a:lstStyle/>
                    <a:p>
                      <a:r>
                        <a:t>Your cheapest quality lever</a:t>
                      </a:r>
                    </a:p>
                  </a:txBody>
                  <a:tcPr/>
                </a:tc>
                <a:extLst>
                  <a:ext uri="{0D108BD9-81ED-4DB2-BD59-A6C34878D82A}">
                    <a16:rowId xmlns:a16="http://schemas.microsoft.com/office/drawing/2014/main" val="10002"/>
                  </a:ext>
                </a:extLst>
              </a:tr>
              <a:tr h="457200">
                <a:tc>
                  <a:txBody>
                    <a:bodyPr/>
                    <a:lstStyle/>
                    <a:p>
                      <a:r>
                        <a:t>Context window</a:t>
                      </a:r>
                    </a:p>
                  </a:txBody>
                  <a:tcPr/>
                </a:tc>
                <a:tc>
                  <a:txBody>
                    <a:bodyPr/>
                    <a:lstStyle/>
                    <a:p>
                      <a:r>
                        <a:t>How much it reads at once</a:t>
                      </a:r>
                    </a:p>
                  </a:txBody>
                  <a:tcPr/>
                </a:tc>
                <a:tc>
                  <a:txBody>
                    <a:bodyPr/>
                    <a:lstStyle/>
                    <a:p>
                      <a:r>
                        <a:t>What fits, and what it costs</a:t>
                      </a:r>
                    </a:p>
                  </a:txBody>
                  <a:tcPr/>
                </a:tc>
                <a:extLst>
                  <a:ext uri="{0D108BD9-81ED-4DB2-BD59-A6C34878D82A}">
                    <a16:rowId xmlns:a16="http://schemas.microsoft.com/office/drawing/2014/main" val="10003"/>
                  </a:ext>
                </a:extLst>
              </a:tr>
              <a:tr h="457200">
                <a:tc>
                  <a:txBody>
                    <a:bodyPr/>
                    <a:lstStyle/>
                    <a:p>
                      <a:r>
                        <a:t>Token</a:t>
                      </a:r>
                    </a:p>
                  </a:txBody>
                  <a:tcPr/>
                </a:tc>
                <a:tc>
                  <a:txBody>
                    <a:bodyPr/>
                    <a:lstStyle/>
                    <a:p>
                      <a:r>
                        <a:t>Unit of text and billing</a:t>
                      </a:r>
                    </a:p>
                  </a:txBody>
                  <a:tcPr/>
                </a:tc>
                <a:tc>
                  <a:txBody>
                    <a:bodyPr/>
                    <a:lstStyle/>
                    <a:p>
                      <a:r>
                        <a:t>Your unit of cost</a:t>
                      </a:r>
                    </a:p>
                  </a:txBody>
                  <a:tcPr/>
                </a:tc>
                <a:extLst>
                  <a:ext uri="{0D108BD9-81ED-4DB2-BD59-A6C34878D82A}">
                    <a16:rowId xmlns:a16="http://schemas.microsoft.com/office/drawing/2014/main" val="10004"/>
                  </a:ext>
                </a:extLst>
              </a:tr>
              <a:tr h="457200">
                <a:tc>
                  <a:txBody>
                    <a:bodyPr/>
                    <a:lstStyle/>
                    <a:p>
                      <a:r>
                        <a:t>Training / inference</a:t>
                      </a:r>
                    </a:p>
                  </a:txBody>
                  <a:tcPr/>
                </a:tc>
                <a:tc>
                  <a:txBody>
                    <a:bodyPr/>
                    <a:lstStyle/>
                    <a:p>
                      <a:r>
                        <a:t>Building it / using it</a:t>
                      </a:r>
                    </a:p>
                  </a:txBody>
                  <a:tcPr/>
                </a:tc>
                <a:tc>
                  <a:txBody>
                    <a:bodyPr/>
                    <a:lstStyle/>
                    <a:p>
                      <a:r>
                        <a:t>Vendors confuse these deliberately</a:t>
                      </a:r>
                    </a:p>
                  </a:txBody>
                  <a:tcPr/>
                </a:tc>
                <a:extLst>
                  <a:ext uri="{0D108BD9-81ED-4DB2-BD59-A6C34878D82A}">
                    <a16:rowId xmlns:a16="http://schemas.microsoft.com/office/drawing/2014/main" val="10005"/>
                  </a:ext>
                </a:extLst>
              </a:tr>
              <a:tr h="457200">
                <a:tc>
                  <a:txBody>
                    <a:bodyPr/>
                    <a:lstStyle/>
                    <a:p>
                      <a:r>
                        <a:t>Fine-tuning</a:t>
                      </a:r>
                    </a:p>
                  </a:txBody>
                  <a:tcPr/>
                </a:tc>
                <a:tc>
                  <a:txBody>
                    <a:bodyPr/>
                    <a:lstStyle/>
                    <a:p>
                      <a:r>
                        <a:t>Teaching style, not facts</a:t>
                      </a:r>
                    </a:p>
                  </a:txBody>
                  <a:tcPr/>
                </a:tc>
                <a:tc>
                  <a:txBody>
                    <a:bodyPr/>
                    <a:lstStyle/>
                    <a:p>
                      <a:r>
                        <a:t>Usually not what you need</a:t>
                      </a:r>
                    </a:p>
                  </a:txBody>
                  <a:tcPr/>
                </a:tc>
                <a:extLst>
                  <a:ext uri="{0D108BD9-81ED-4DB2-BD59-A6C34878D82A}">
                    <a16:rowId xmlns:a16="http://schemas.microsoft.com/office/drawing/2014/main" val="10006"/>
                  </a:ext>
                </a:extLst>
              </a:tr>
              <a:tr h="457200">
                <a:tc>
                  <a:txBody>
                    <a:bodyPr/>
                    <a:lstStyle/>
                    <a:p>
                      <a:r>
                        <a:t>RAG</a:t>
                      </a:r>
                    </a:p>
                  </a:txBody>
                  <a:tcPr/>
                </a:tc>
                <a:tc>
                  <a:txBody>
                    <a:bodyPr/>
                    <a:lstStyle/>
                    <a:p>
                      <a:r>
                        <a:t>Grounding answers in your docs</a:t>
                      </a:r>
                    </a:p>
                  </a:txBody>
                  <a:tcPr/>
                </a:tc>
                <a:tc>
                  <a:txBody>
                    <a:bodyPr/>
                    <a:lstStyle/>
                    <a:p>
                      <a:r>
                        <a:t>How AI learns *your* business</a:t>
                      </a:r>
                    </a:p>
                  </a:txBody>
                  <a:tcPr/>
                </a:tc>
                <a:extLst>
                  <a:ext uri="{0D108BD9-81ED-4DB2-BD59-A6C34878D82A}">
                    <a16:rowId xmlns:a16="http://schemas.microsoft.com/office/drawing/2014/main" val="10007"/>
                  </a:ext>
                </a:extLst>
              </a:tr>
              <a:tr h="457200">
                <a:tc>
                  <a:txBody>
                    <a:bodyPr/>
                    <a:lstStyle/>
                    <a:p>
                      <a:r>
                        <a:t>Agent</a:t>
                      </a:r>
                    </a:p>
                  </a:txBody>
                  <a:tcPr/>
                </a:tc>
                <a:tc>
                  <a:txBody>
                    <a:bodyPr/>
                    <a:lstStyle/>
                    <a:p>
                      <a:r>
                        <a:t>AI that takes actions</a:t>
                      </a:r>
                    </a:p>
                  </a:txBody>
                  <a:tcPr/>
                </a:tc>
                <a:tc>
                  <a:txBody>
                    <a:bodyPr/>
                    <a:lstStyle/>
                    <a:p>
                      <a:r>
                        <a:t>Where value and risk both jump</a:t>
                      </a:r>
                    </a:p>
                  </a:txBody>
                  <a:tcPr/>
                </a:tc>
                <a:extLst>
                  <a:ext uri="{0D108BD9-81ED-4DB2-BD59-A6C34878D82A}">
                    <a16:rowId xmlns:a16="http://schemas.microsoft.com/office/drawing/2014/main" val="10008"/>
                  </a:ext>
                </a:extLst>
              </a:tr>
              <a:tr h="457200">
                <a:tc>
                  <a:txBody>
                    <a:bodyPr/>
                    <a:lstStyle/>
                    <a:p>
                      <a:r>
                        <a:t>Multimodal</a:t>
                      </a:r>
                    </a:p>
                  </a:txBody>
                  <a:tcPr/>
                </a:tc>
                <a:tc>
                  <a:txBody>
                    <a:bodyPr/>
                    <a:lstStyle/>
                    <a:p>
                      <a:r>
                        <a:t>Images, audio, scans</a:t>
                      </a:r>
                    </a:p>
                  </a:txBody>
                  <a:tcPr/>
                </a:tc>
                <a:tc>
                  <a:txBody>
                    <a:bodyPr/>
                    <a:lstStyle/>
                    <a:p>
                      <a:r>
                        <a:t>Unlocks non-text archives</a:t>
                      </a:r>
                    </a:p>
                  </a:txBody>
                  <a:tcPr/>
                </a:tc>
                <a:extLst>
                  <a:ext uri="{0D108BD9-81ED-4DB2-BD59-A6C34878D82A}">
                    <a16:rowId xmlns:a16="http://schemas.microsoft.com/office/drawing/2014/main" val="10009"/>
                  </a:ext>
                </a:extLst>
              </a:tr>
              <a:tr h="457200">
                <a:tc>
                  <a:txBody>
                    <a:bodyPr/>
                    <a:lstStyle/>
                    <a:p>
                      <a:r>
                        <a:t>Open / closed</a:t>
                      </a:r>
                    </a:p>
                  </a:txBody>
                  <a:tcPr/>
                </a:tc>
                <a:tc>
                  <a:txBody>
                    <a:bodyPr/>
                    <a:lstStyle/>
                    <a:p>
                      <a:r>
                        <a:t>Who runs the model</a:t>
                      </a:r>
                    </a:p>
                  </a:txBody>
                  <a:tcPr/>
                </a:tc>
                <a:tc>
                  <a:txBody>
                    <a:bodyPr/>
                    <a:lstStyle/>
                    <a:p>
                      <a:r>
                        <a:t>A data-control decision</a:t>
                      </a:r>
                    </a:p>
                  </a:txBody>
                  <a:tcPr/>
                </a:tc>
                <a:extLst>
                  <a:ext uri="{0D108BD9-81ED-4DB2-BD59-A6C34878D82A}">
                    <a16:rowId xmlns:a16="http://schemas.microsoft.com/office/drawing/2014/main" val="10010"/>
                  </a:ext>
                </a:extLst>
              </a:tr>
              <a:tr h="457200">
                <a:tc>
                  <a:txBody>
                    <a:bodyPr/>
                    <a:lstStyle/>
                    <a:p>
                      <a:r>
                        <a:t>Hallucination</a:t>
                      </a:r>
                    </a:p>
                  </a:txBody>
                  <a:tcPr/>
                </a:tc>
                <a:tc>
                  <a:txBody>
                    <a:bodyPr/>
                    <a:lstStyle/>
                    <a:p>
                      <a:r>
                        <a:t>Confident wrongness</a:t>
                      </a:r>
                    </a:p>
                  </a:txBody>
                  <a:tcPr/>
                </a:tc>
                <a:tc>
                  <a:txBody>
                    <a:bodyPr/>
                    <a:lstStyle/>
                    <a:p>
                      <a:r>
                        <a:t>Design around it, don't wish it away</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Vocabulary You Must Own
</a:t>
            </a:r>
            <a:r>
              <a:rPr b="1"/>
              <a:t>Why AI Got Cheap
</a:t>
            </a:r>
            <a:r>
              <a:t>What Is 
Exercise 1 — The Jargon Decoder
</a:t>
            </a:r>
          </a:p>
        </p:txBody>
      </p:sp>
      <p:sp>
        <p:nvSpPr>
          <p:cNvPr id="3" name="Title 2"/>
          <p:cNvSpPr>
            <a:spLocks noGrp="1"/>
          </p:cNvSpPr>
          <p:nvPr>
            <p:ph type="ctrTitle" sz="quarter"/>
          </p:nvPr>
        </p:nvSpPr>
        <p:spPr/>
        <p:txBody>
          <a:bodyPr wrap="square">
            <a:noAutofit/>
          </a:bodyPr>
          <a:lstStyle/>
          <a:p>
            <a:r>
              <a:rPr sz="4200" b="1" i="0">
                <a:latin typeface="Times New Roman"/>
              </a:rPr>
              <a:t>Why AI Got Cheap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Price of a Unit of Intelligence Is Collapsing</a:t>
            </a:r>
          </a:p>
        </p:txBody>
      </p:sp>
      <p:sp>
        <p:nvSpPr>
          <p:cNvPr id="3" name="Content Placeholder 2"/>
          <p:cNvSpPr>
            <a:spLocks noGrp="1"/>
          </p:cNvSpPr>
          <p:nvPr>
            <p:ph idx="1"/>
          </p:nvPr>
        </p:nvSpPr>
        <p:spPr/>
        <p:txBody>
          <a:bodyPr/>
          <a:lstStyle/>
          <a:p>
            <a:endParaRPr/>
          </a:p>
          <a:p>
            <a:endParaRPr/>
          </a:p>
          <a:p>
            <a:endParaRPr/>
          </a:p>
          <a:p>
            <a:endParaRPr/>
          </a:p>
          <a:p>
            <a:endParaRPr/>
          </a:p>
          <a:p>
            <a:endParaRPr/>
          </a:p>
          <a:p>
            <a:endParaRPr/>
          </a:p>
          <a:p>
            <a:endParaRPr/>
          </a:p>
          <a:p>
            <a:endParaRPr/>
          </a:p>
          <a:p>
            <a:endParaRPr/>
          </a:p>
          <a:p>
            <a:r>
              <a:t> The cost of a given level of capability has fallen by orders of magnitude, and continues to fall. Meanwhile the capability at a given price keeps rising.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token-prices.png"/>
          <p:cNvPicPr>
            <a:picLocks noChangeAspect="1"/>
          </p:cNvPicPr>
          <p:nvPr/>
        </p:nvPicPr>
        <p:blipFill>
          <a:blip r:embed="rId3"/>
          <a:stretch>
            <a:fillRect/>
          </a:stretch>
        </p:blipFill>
        <p:spPr>
          <a:xfrm>
            <a:off x="704088" y="914400"/>
            <a:ext cx="4390608" cy="41513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Falling Prices Change About Strategy</a:t>
            </a:r>
          </a:p>
        </p:txBody>
      </p:sp>
      <p:sp>
        <p:nvSpPr>
          <p:cNvPr id="3" name="Content Placeholder 2"/>
          <p:cNvSpPr>
            <a:spLocks noGrp="1"/>
          </p:cNvSpPr>
          <p:nvPr>
            <p:ph idx="1"/>
          </p:nvPr>
        </p:nvSpPr>
        <p:spPr/>
        <p:txBody>
          <a:bodyPr/>
          <a:lstStyle/>
          <a:p>
            <a:r>
              <a:rPr b="1"/>
              <a:t> Use cases that failed the business case two years ago may pass today.</a:t>
            </a:r>
            <a:r>
              <a:t> Re-examine your rejected list. This is free opportunity.</a:t>
            </a:r>
          </a:p>
          <a:p>
            <a:r>
              <a:rPr b="1"/>
              <a:t> Don't over-optimize for today's prices.</a:t>
            </a:r>
            <a:r>
              <a:t> Building a complex architecture to save token cost may be obsolete before it ships.</a:t>
            </a:r>
          </a:p>
          <a:p>
            <a:r>
              <a:rPr b="1"/>
              <a:t> Don't build what will be a feature next year.</a:t>
            </a:r>
            <a:r>
              <a:t> The single most common way to waste an AI budget.</a:t>
            </a:r>
          </a:p>
          <a:p>
            <a:r>
              <a:rPr b="1"/>
              <a:t> Volume is no longer the constraint.</a:t>
            </a:r>
            <a:r>
              <a:t> Ambition and data readiness are.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Landscape, Briefly</a:t>
            </a:r>
          </a:p>
        </p:txBody>
      </p:sp>
      <p:sp>
        <p:nvSpPr>
          <p:cNvPr id="3" name="Content Placeholder 2"/>
          <p:cNvSpPr>
            <a:spLocks noGrp="1"/>
          </p:cNvSpPr>
          <p:nvPr>
            <p:ph idx="1"/>
          </p:nvPr>
        </p:nvSpPr>
        <p:spPr/>
        <p:txBody>
          <a:bodyPr/>
          <a:lstStyle/>
          <a:p>
            <a:r>
              <a:t> A handful of major providers offer frontier models, all broadly comparable, each ahead on different weeks</a:t>
            </a:r>
          </a:p>
          <a:p>
            <a:r>
              <a:t> The big cloud platforms all resell and host these models inside your own tenant</a:t>
            </a:r>
          </a:p>
          <a:p>
            <a:r>
              <a:t> A strong open-weight ecosystem exists for self-hosting</a:t>
            </a:r>
          </a:p>
          <a:p>
            <a:r>
              <a:t> Thousands of applications wrap these models with a user interface and a workflow</a:t>
            </a:r>
          </a:p>
          <a:p>
            <a:r>
              <a:rPr b="1"/>
              <a:t> Leader's takeaway:</a:t>
            </a:r>
            <a:r>
              <a:t> do not architect your organization around one model. The models are becoming interchangeable; your data, your processes, and your governance are not.</a:t>
            </a:r>
            <a:r>
              <a:rPr b="1"/>
              <a:t> Invest in the parts that don't get obsoleted.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Vocabulary You Must Own
Why AI Got Cheap
</a:t>
            </a:r>
            <a:r>
              <a:rPr b="1"/>
              <a:t>What Is 
</a:t>
            </a:r>
            <a:r>
              <a:t>Exercise 1 — The Jargon Decoder
</a:t>
            </a:r>
          </a:p>
        </p:txBody>
      </p:sp>
      <p:sp>
        <p:nvSpPr>
          <p:cNvPr id="3" name="Title 2"/>
          <p:cNvSpPr>
            <a:spLocks noGrp="1"/>
          </p:cNvSpPr>
          <p:nvPr>
            <p:ph type="ctrTitle" sz="quarter"/>
          </p:nvPr>
        </p:nvSpPr>
        <p:spPr/>
        <p:txBody>
          <a:bodyPr wrap="square">
            <a:noAutofit/>
          </a:bodyPr>
          <a:lstStyle/>
          <a:p>
            <a:r>
              <a:rPr sz="4200" b="1" i="0">
                <a:latin typeface="Times New Roman"/>
              </a:rPr>
              <a:t>What Is </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Wearing a Costume</a:t>
            </a:r>
          </a:p>
        </p:txBody>
      </p:sp>
      <p:sp>
        <p:nvSpPr>
          <p:cNvPr id="3" name="Content Placeholder 2"/>
          <p:cNvSpPr>
            <a:spLocks noGrp="1"/>
          </p:cNvSpPr>
          <p:nvPr>
            <p:ph idx="1"/>
          </p:nvPr>
        </p:nvSpPr>
        <p:spPr/>
        <p:txBody>
          <a:bodyPr/>
          <a:lstStyle/>
          <a:p>
            <a:r>
              <a:t> Plenty of things get labeled AI that aren't:</a:t>
            </a:r>
          </a:p>
          <a:p>
            <a:r>
              <a:t> A rules engine with a lot of if-statements</a:t>
            </a:r>
          </a:p>
          <a:p>
            <a:r>
              <a:t> A dashboard with a trend line on it</a:t>
            </a:r>
          </a:p>
          <a:p>
            <a:r>
              <a:t> A search box</a:t>
            </a:r>
          </a:p>
          <a:p>
            <a:r>
              <a:t> Robotic process automation clicking through screens</a:t>
            </a:r>
          </a:p>
          <a:p>
            <a:r>
              <a:t> A statistical forecast that has run since 1998</a:t>
            </a:r>
          </a:p>
          <a:p>
            <a:r>
              <a:rPr b="1"/>
              <a:t> None of this is bad.</a:t>
            </a:r>
            <a:r>
              <a:t> Some of it is better than AI for the job — more predictable, cheaper, auditable, already working.</a:t>
            </a:r>
          </a:p>
          <a:p>
            <a:r>
              <a:t> The failure is calling it AI, or replacing it with AI for no reason.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Question That Cuts Through</a:t>
            </a:r>
          </a:p>
        </p:txBody>
      </p:sp>
      <p:sp>
        <p:nvSpPr>
          <p:cNvPr id="3" name="Content Placeholder 2"/>
          <p:cNvSpPr>
            <a:spLocks noGrp="1"/>
          </p:cNvSpPr>
          <p:nvPr>
            <p:ph idx="1"/>
          </p:nvPr>
        </p:nvSpPr>
        <p:spPr/>
        <p:txBody>
          <a:bodyPr/>
          <a:lstStyle/>
          <a:p>
            <a:r>
              <a:rPr dirty="0"/>
              <a:t> When someone tells you something is AI, ask:</a:t>
            </a:r>
          </a:p>
          <a:p>
            <a:endParaRPr lang="en-US" dirty="0"/>
          </a:p>
          <a:p>
            <a:endParaRPr dirty="0"/>
          </a:p>
          <a:p>
            <a:r>
              <a:rPr dirty="0"/>
              <a:t> And then:</a:t>
            </a:r>
          </a:p>
          <a:p>
            <a:endParaRPr dirty="0"/>
          </a:p>
          <a:p>
            <a:r>
              <a:rPr dirty="0"/>
              <a:t> If both answers are crisp, you're talking to someone who built it. If they're vague, you're talking to someone who's selling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234950" y="15581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"What decides the output — a person's rules, or a learned model?"</a:t>
            </a:r>
          </a:p>
        </p:txBody>
      </p:sp>
      <p:sp>
        <p:nvSpPr>
          <p:cNvPr id="6" name="Rectangle 5"/>
          <p:cNvSpPr/>
          <p:nvPr/>
        </p:nvSpPr>
        <p:spPr>
          <a:xfrm>
            <a:off x="704088" y="4491560"/>
            <a:ext cx="7507224" cy="56692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"What happens when it's wrong, and how would we know?"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The Vocabulary You Must Own
Why AI Got Cheap
What Is 
</a:t>
            </a:r>
            <a:r>
              <a:rPr b="1"/>
              <a:t>Exercise 1 — The Jargon Decoder
</a:t>
            </a:r>
          </a:p>
        </p:txBody>
      </p:sp>
      <p:sp>
        <p:nvSpPr>
          <p:cNvPr id="3" name="Title 2"/>
          <p:cNvSpPr>
            <a:spLocks noGrp="1"/>
          </p:cNvSpPr>
          <p:nvPr>
            <p:ph type="ctrTitle" sz="quarter"/>
          </p:nvPr>
        </p:nvSpPr>
        <p:spPr/>
        <p:txBody>
          <a:bodyPr wrap="square">
            <a:noAutofit/>
          </a:bodyPr>
          <a:lstStyle/>
          <a:p>
            <a:r>
              <a:rPr sz="4200" b="1" i="0">
                <a:latin typeface="Times New Roman"/>
              </a:rPr>
              <a:t>Exercise 1 — The Jargon Decoder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1 — The Jargon Decoder</a:t>
            </a:r>
          </a:p>
        </p:txBody>
      </p:sp>
      <p:sp>
        <p:nvSpPr>
          <p:cNvPr id="3" name="Content Placeholder 2"/>
          <p:cNvSpPr>
            <a:spLocks noGrp="1"/>
          </p:cNvSpPr>
          <p:nvPr>
            <p:ph idx="1"/>
          </p:nvPr>
        </p:nvSpPr>
        <p:spPr/>
        <p:txBody>
          <a:bodyPr/>
          <a:lstStyle/>
          <a:p>
            <a:r>
              <a:rPr b="1"/>
              <a:t> Format:</a:t>
            </a:r>
            <a:r>
              <a:t> teams of 3–4, 20 minutes</a:t>
            </a:r>
          </a:p>
          <a:p>
            <a:r>
              <a:t> Each team gets a set of real sentences taken from vendor pitches, press releases, and internal memos.</a:t>
            </a:r>
          </a:p>
          <a:p>
            <a:r>
              <a:t> For each one, decide:</a:t>
            </a:r>
          </a:p>
          <a:p>
            <a:r>
              <a:rPr b="1"/>
              <a:t> Meaningful</a:t>
            </a:r>
            <a:r>
              <a:t> — makes a claim we could hold someone to</a:t>
            </a:r>
          </a:p>
          <a:p>
            <a:r>
              <a:rPr b="1"/>
              <a:t> Vague</a:t>
            </a:r>
            <a:r>
              <a:t> — sounds like a claim, commits to nothing</a:t>
            </a:r>
          </a:p>
          <a:p>
            <a:r>
              <a:rPr b="1"/>
              <a:t> Wrong</a:t>
            </a:r>
            <a:r>
              <a:t> — misuses the terminology, or claims something that isn't how this works</a:t>
            </a:r>
          </a:p>
          <a:p>
            <a:r>
              <a:t> Then: pick your worst offender and</a:t>
            </a:r>
            <a:r>
              <a:rPr b="1"/>
              <a:t> rewrite it into something testable.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1 — Debrief</a:t>
            </a:r>
          </a:p>
        </p:txBody>
      </p:sp>
      <p:sp>
        <p:nvSpPr>
          <p:cNvPr id="3" name="Content Placeholder 2"/>
          <p:cNvSpPr>
            <a:spLocks noGrp="1"/>
          </p:cNvSpPr>
          <p:nvPr>
            <p:ph idx="1"/>
          </p:nvPr>
        </p:nvSpPr>
        <p:spPr/>
        <p:txBody>
          <a:bodyPr/>
          <a:lstStyle/>
          <a:p>
            <a:r>
              <a:t> Each team reads out one original claim and its rewrite.</a:t>
            </a:r>
          </a:p>
          <a:p>
            <a:r>
              <a:t> Watch for the patterns:</a:t>
            </a:r>
          </a:p>
          <a:p>
            <a:r>
              <a:t> "AI-powered" attached to something that isn't</a:t>
            </a:r>
          </a:p>
          <a:p>
            <a:r>
              <a:t> Training vs. prompting, deliberately blurred</a:t>
            </a:r>
          </a:p>
          <a:p>
            <a:r>
              <a:t> Accuracy claims with no denominator</a:t>
            </a:r>
          </a:p>
          <a:p>
            <a:r>
              <a:t> "Learns from your data" — meaning what, exactly?</a:t>
            </a:r>
          </a:p>
          <a:p>
            <a:r>
              <a:t> Capability described, accountability absent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 Takeaways</a:t>
            </a:r>
          </a:p>
        </p:txBody>
      </p:sp>
      <p:sp>
        <p:nvSpPr>
          <p:cNvPr id="3" name="Content Placeholder 2"/>
          <p:cNvSpPr>
            <a:spLocks noGrp="1"/>
          </p:cNvSpPr>
          <p:nvPr>
            <p:ph idx="1"/>
          </p:nvPr>
        </p:nvSpPr>
        <p:spPr/>
        <p:txBody>
          <a:bodyPr/>
          <a:lstStyle/>
          <a:p>
            <a:r>
              <a:t> Foundation models changed the economics: the scarce skill moved from building models to</a:t>
            </a:r>
            <a:r>
              <a:rPr b="1"/>
              <a:t> choosing problems</a:t>
            </a:r>
          </a:p>
          <a:p>
            <a:r>
              <a:t> It predicts text. Everything good and bad follows from that</a:t>
            </a:r>
          </a:p>
          <a:p>
            <a:r>
              <a:t> Eleven terms is the whole vocabulary — you now own it</a:t>
            </a:r>
          </a:p>
          <a:p>
            <a:r>
              <a:t> Prices are falling; revisit what you rejected, and don't build tomorrow's free feature</a:t>
            </a:r>
          </a:p>
          <a:p>
            <a:r>
              <a:t> Ask the two questions:</a:t>
            </a:r>
            <a:r>
              <a:rPr b="1"/>
              <a:t> what decides the output</a:t>
            </a:r>
            <a:r>
              <a:t> , and</a:t>
            </a:r>
            <a:r>
              <a:rPr b="1"/>
              <a:t> what happens when it's wrong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378293</TotalTime>
  <Words>2999</Words>
  <Application>Microsoft Macintosh PowerPoint</Application>
  <PresentationFormat>Custom</PresentationFormat>
  <Paragraphs>236</Paragraphs>
  <Slides>30</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 Bold</vt:lpstr>
      <vt:lpstr>Courier New</vt:lpstr>
      <vt:lpstr>Garamond</vt:lpstr>
      <vt:lpstr>Monotype Sorts</vt:lpstr>
      <vt:lpstr>Times New Roman</vt:lpstr>
      <vt:lpstr>Verdana</vt:lpstr>
      <vt:lpstr>Wingdings</vt:lpstr>
      <vt:lpstr>LPc_New</vt:lpstr>
      <vt:lpstr>What AI Actually Is (and Isn't)</vt:lpstr>
      <vt:lpstr>Why Start Here</vt:lpstr>
      <vt:lpstr>A Short, Honest History</vt:lpstr>
      <vt:lpstr>What Actually Changed</vt:lpstr>
      <vt:lpstr>What a Large Language Model Actually Does</vt:lpstr>
      <vt:lpstr>Two Consequences You Must Internalize</vt:lpstr>
      <vt:lpstr>The Vocabulary You Must Own</vt:lpstr>
      <vt:lpstr>Model</vt:lpstr>
      <vt:lpstr>Prompt</vt:lpstr>
      <vt:lpstr>Context Window</vt:lpstr>
      <vt:lpstr>Token</vt:lpstr>
      <vt:lpstr>Training vs. Inference</vt:lpstr>
      <vt:lpstr>Fine-Tuning</vt:lpstr>
      <vt:lpstr>RAG — Retrieval-Augmented Generation</vt:lpstr>
      <vt:lpstr>Agent</vt:lpstr>
      <vt:lpstr>Multimodal</vt:lpstr>
      <vt:lpstr>Open vs. Closed Models</vt:lpstr>
      <vt:lpstr>Hallucination</vt:lpstr>
      <vt:lpstr>The Vocabulary, on One Slide</vt:lpstr>
      <vt:lpstr>Why AI Got Cheap</vt:lpstr>
      <vt:lpstr>The Price of a Unit of Intelligence Is Collapsing</vt:lpstr>
      <vt:lpstr>What Falling Prices Change About Strategy</vt:lpstr>
      <vt:lpstr>The Landscape, Briefly</vt:lpstr>
      <vt:lpstr>What Is </vt:lpstr>
      <vt:lpstr>Automation Wearing a Costume</vt:lpstr>
      <vt:lpstr>The Question That Cuts Through</vt:lpstr>
      <vt:lpstr>Exercise 1 — The Jargon Decoder</vt:lpstr>
      <vt:lpstr>Exercise 1 — The Jargon Decoder</vt:lpstr>
      <vt:lpstr>Exercise 1 — Debrief</vt:lpstr>
      <vt:lpstr>Module 1 — Takeaways</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2026-09-22T02:40:38Z</dcterms:modified>
</cp:coreProperties>
</file>