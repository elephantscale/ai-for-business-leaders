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1" r:id="rId1"/>
  </p:sldMasterIdLst>
  <p:notesMasterIdLst>
    <p:notesMasterId r:id="rId14"/>
  </p:notesMasterIdLst>
  <p:handoutMasterIdLst>
    <p:handoutMasterId r:id="rId15"/>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372600" cy="8297863"/>
  <p:notesSz cx="7315200" cy="9601200"/>
  <p:defaultTextStyle>
    <a:defPPr>
      <a:defRPr lang="en-US"/>
    </a:defPPr>
    <a:lvl1pPr algn="l" rtl="0" fontAlgn="base">
      <a:spcBef>
        <a:spcPct val="0"/>
      </a:spcBef>
      <a:spcAft>
        <a:spcPct val="0"/>
      </a:spcAft>
      <a:defRPr sz="1000" kern="1200">
        <a:solidFill>
          <a:schemeClr val="tx1"/>
        </a:solidFill>
        <a:latin typeface="Garamond" pitchFamily="18" charset="0"/>
        <a:ea typeface="ＭＳ Ｐゴシック"/>
        <a:cs typeface="ＭＳ Ｐゴシック"/>
      </a:defRPr>
    </a:lvl1pPr>
    <a:lvl2pPr marL="457200" algn="l" rtl="0" fontAlgn="base">
      <a:spcBef>
        <a:spcPct val="0"/>
      </a:spcBef>
      <a:spcAft>
        <a:spcPct val="0"/>
      </a:spcAft>
      <a:defRPr sz="1000" kern="1200">
        <a:solidFill>
          <a:schemeClr val="tx1"/>
        </a:solidFill>
        <a:latin typeface="Garamond" pitchFamily="18" charset="0"/>
        <a:ea typeface="ＭＳ Ｐゴシック"/>
        <a:cs typeface="ＭＳ Ｐゴシック"/>
      </a:defRPr>
    </a:lvl2pPr>
    <a:lvl3pPr marL="914400" algn="l" rtl="0" fontAlgn="base">
      <a:spcBef>
        <a:spcPct val="0"/>
      </a:spcBef>
      <a:spcAft>
        <a:spcPct val="0"/>
      </a:spcAft>
      <a:defRPr sz="1000" kern="1200">
        <a:solidFill>
          <a:schemeClr val="tx1"/>
        </a:solidFill>
        <a:latin typeface="Garamond" pitchFamily="18" charset="0"/>
        <a:ea typeface="ＭＳ Ｐゴシック"/>
        <a:cs typeface="ＭＳ Ｐゴシック"/>
      </a:defRPr>
    </a:lvl3pPr>
    <a:lvl4pPr marL="1371600" algn="l" rtl="0" fontAlgn="base">
      <a:spcBef>
        <a:spcPct val="0"/>
      </a:spcBef>
      <a:spcAft>
        <a:spcPct val="0"/>
      </a:spcAft>
      <a:defRPr sz="1000" kern="1200">
        <a:solidFill>
          <a:schemeClr val="tx1"/>
        </a:solidFill>
        <a:latin typeface="Garamond" pitchFamily="18" charset="0"/>
        <a:ea typeface="ＭＳ Ｐゴシック"/>
        <a:cs typeface="ＭＳ Ｐゴシック"/>
      </a:defRPr>
    </a:lvl4pPr>
    <a:lvl5pPr marL="1828800" algn="l" rtl="0" fontAlgn="base">
      <a:spcBef>
        <a:spcPct val="0"/>
      </a:spcBef>
      <a:spcAft>
        <a:spcPct val="0"/>
      </a:spcAft>
      <a:defRPr sz="1000" kern="1200">
        <a:solidFill>
          <a:schemeClr val="tx1"/>
        </a:solidFill>
        <a:latin typeface="Garamond" pitchFamily="18" charset="0"/>
        <a:ea typeface="ＭＳ Ｐゴシック"/>
        <a:cs typeface="ＭＳ Ｐゴシック"/>
      </a:defRPr>
    </a:lvl5pPr>
    <a:lvl6pPr marL="2286000" algn="l" defTabSz="914400" rtl="0" eaLnBrk="1" latinLnBrk="0" hangingPunct="1">
      <a:defRPr sz="1000" kern="1200">
        <a:solidFill>
          <a:schemeClr val="tx1"/>
        </a:solidFill>
        <a:latin typeface="Garamond" pitchFamily="18" charset="0"/>
        <a:ea typeface="ＭＳ Ｐゴシック"/>
        <a:cs typeface="ＭＳ Ｐゴシック"/>
      </a:defRPr>
    </a:lvl6pPr>
    <a:lvl7pPr marL="2743200" algn="l" defTabSz="914400" rtl="0" eaLnBrk="1" latinLnBrk="0" hangingPunct="1">
      <a:defRPr sz="1000" kern="1200">
        <a:solidFill>
          <a:schemeClr val="tx1"/>
        </a:solidFill>
        <a:latin typeface="Garamond" pitchFamily="18" charset="0"/>
        <a:ea typeface="ＭＳ Ｐゴシック"/>
        <a:cs typeface="ＭＳ Ｐゴシック"/>
      </a:defRPr>
    </a:lvl7pPr>
    <a:lvl8pPr marL="3200400" algn="l" defTabSz="914400" rtl="0" eaLnBrk="1" latinLnBrk="0" hangingPunct="1">
      <a:defRPr sz="1000" kern="1200">
        <a:solidFill>
          <a:schemeClr val="tx1"/>
        </a:solidFill>
        <a:latin typeface="Garamond" pitchFamily="18" charset="0"/>
        <a:ea typeface="ＭＳ Ｐゴシック"/>
        <a:cs typeface="ＭＳ Ｐゴシック"/>
      </a:defRPr>
    </a:lvl8pPr>
    <a:lvl9pPr marL="3657600" algn="l" defTabSz="914400" rtl="0" eaLnBrk="1" latinLnBrk="0" hangingPunct="1">
      <a:defRPr sz="1000" kern="1200">
        <a:solidFill>
          <a:schemeClr val="tx1"/>
        </a:solidFill>
        <a:latin typeface="Garamond" pitchFamily="18" charset="0"/>
        <a:ea typeface="ＭＳ Ｐゴシック"/>
        <a:cs typeface="ＭＳ Ｐゴシック"/>
      </a:defRPr>
    </a:lvl9pPr>
  </p:defaultTextStyle>
  <p:extLst>
    <p:ext uri="{EFAFB233-063F-42B5-8137-9DF3F51BA10A}">
      <p15:sldGuideLst xmlns:p15="http://schemas.microsoft.com/office/powerpoint/2012/main">
        <p15:guide id="1" orient="horz" pos="2614" userDrawn="1">
          <p15:clr>
            <a:srgbClr val="A4A3A4"/>
          </p15:clr>
        </p15:guide>
        <p15:guide id="2" pos="2952"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y Conlee" initials="MC" lastIdx="1" clrIdx="0"/>
  <p:cmAuthor id="2" name="Mark Kerzner" initials="MK" lastIdx="6" clrIdx="1"/>
  <p:cmAuthor id="3" name="Mary Beth Conlee" initials="MBC" lastIdx="7" clrIdx="2"/>
  <p:cmAuthor id="4" name="Michelle" initials="M" lastIdx="5" clrIdx="3"/>
  <p:cmAuthor id="5" name="Tricia Murphy" initials="TM" lastIdx="4" clrIdx="4"/>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1A1A"/>
    <a:srgbClr val="D6B8EB"/>
    <a:srgbClr val="A77EC7"/>
    <a:srgbClr val="B59BC7"/>
    <a:srgbClr val="C7AAD9"/>
    <a:srgbClr val="C89EDF"/>
    <a:srgbClr val="BD83DF"/>
    <a:srgbClr val="CB89DF"/>
    <a:srgbClr val="CA87D1"/>
    <a:srgbClr val="CF86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959" autoAdjust="0"/>
    <p:restoredTop sz="86027" autoAdjust="0"/>
  </p:normalViewPr>
  <p:slideViewPr>
    <p:cSldViewPr>
      <p:cViewPr varScale="1">
        <p:scale>
          <a:sx n="90" d="100"/>
          <a:sy n="90" d="100"/>
        </p:scale>
        <p:origin x="3312" y="192"/>
      </p:cViewPr>
      <p:guideLst>
        <p:guide orient="horz" pos="2614"/>
        <p:guide pos="29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5" d="100"/>
        <a:sy n="85" d="100"/>
      </p:scale>
      <p:origin x="0" y="0"/>
    </p:cViewPr>
  </p:sorterViewPr>
  <p:notesViewPr>
    <p:cSldViewPr>
      <p:cViewPr>
        <p:scale>
          <a:sx n="80" d="100"/>
          <a:sy n="80" d="100"/>
        </p:scale>
        <p:origin x="3296" y="-56"/>
      </p:cViewPr>
      <p:guideLst>
        <p:guide orient="horz" pos="3024"/>
        <p:guide pos="23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4"/>
          <p:cNvSpPr>
            <a:spLocks noGrp="1" noChangeArrowheads="1"/>
          </p:cNvSpPr>
          <p:nvPr>
            <p:ph type="ftr" sz="quarter" idx="2"/>
          </p:nvPr>
        </p:nvSpPr>
        <p:spPr bwMode="auto">
          <a:xfrm>
            <a:off x="0" y="9123363"/>
            <a:ext cx="3170238" cy="477837"/>
          </a:xfrm>
          <a:prstGeom prst="rect">
            <a:avLst/>
          </a:prstGeom>
          <a:noFill/>
          <a:ln w="9525">
            <a:noFill/>
            <a:miter lim="800000"/>
            <a:headEnd/>
            <a:tailEnd/>
          </a:ln>
        </p:spPr>
        <p:txBody>
          <a:bodyPr vert="horz" wrap="square" lIns="96603" tIns="48303" rIns="96603" bIns="48303" numCol="1" anchor="b" anchorCtr="0" compatLnSpc="1">
            <a:prstTxWarp prst="textNoShape">
              <a:avLst/>
            </a:prstTxWarp>
          </a:bodyPr>
          <a:lstStyle>
            <a:lvl1pPr defTabSz="965200">
              <a:defRPr sz="1200">
                <a:latin typeface="Times New Roman" pitchFamily="18" charset="0"/>
              </a:defRPr>
            </a:lvl1pPr>
          </a:lstStyle>
          <a:p>
            <a:pPr>
              <a:defRPr/>
            </a:pPr>
            <a:r>
              <a:rPr lang="en-US" dirty="0"/>
              <a:t>Copyright © 2017 Elephant Scale. All rights reserved.</a:t>
            </a:r>
          </a:p>
        </p:txBody>
      </p:sp>
      <p:sp>
        <p:nvSpPr>
          <p:cNvPr id="1029" name="Rectangle 5"/>
          <p:cNvSpPr>
            <a:spLocks noGrp="1" noChangeArrowheads="1"/>
          </p:cNvSpPr>
          <p:nvPr>
            <p:ph type="sldNum" sz="quarter" idx="3"/>
          </p:nvPr>
        </p:nvSpPr>
        <p:spPr bwMode="auto">
          <a:xfrm>
            <a:off x="4144963" y="9123363"/>
            <a:ext cx="3170237" cy="477837"/>
          </a:xfrm>
          <a:prstGeom prst="rect">
            <a:avLst/>
          </a:prstGeom>
          <a:noFill/>
          <a:ln w="9525">
            <a:noFill/>
            <a:miter lim="800000"/>
            <a:headEnd/>
            <a:tailEnd/>
          </a:ln>
        </p:spPr>
        <p:txBody>
          <a:bodyPr vert="horz" wrap="square" lIns="96603" tIns="48303" rIns="96603" bIns="48303" numCol="1" anchor="b" anchorCtr="0" compatLnSpc="1">
            <a:prstTxWarp prst="textNoShape">
              <a:avLst/>
            </a:prstTxWarp>
          </a:bodyPr>
          <a:lstStyle>
            <a:lvl1pPr algn="r" defTabSz="965200">
              <a:defRPr sz="1200">
                <a:latin typeface="Times New Roman" pitchFamily="18" charset="0"/>
              </a:defRPr>
            </a:lvl1pPr>
          </a:lstStyle>
          <a:p>
            <a:pPr>
              <a:defRPr/>
            </a:pPr>
            <a:fld id="{97E62689-8C7D-4291-A094-4E689FEC4C3B}" type="slidenum">
              <a:rPr lang="en-US"/>
              <a:pPr>
                <a:defRPr/>
              </a:pPr>
              <a:t>‹#›</a:t>
            </a:fld>
            <a:endParaRPr lang="en-US" dirty="0"/>
          </a:p>
        </p:txBody>
      </p:sp>
    </p:spTree>
    <p:extLst>
      <p:ext uri="{BB962C8B-B14F-4D97-AF65-F5344CB8AC3E}">
        <p14:creationId xmlns:p14="http://schemas.microsoft.com/office/powerpoint/2010/main" val="32392915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4"/>
          <p:cNvSpPr>
            <a:spLocks noGrp="1" noRot="1" noChangeAspect="1" noChangeArrowheads="1" noTextEdit="1"/>
          </p:cNvSpPr>
          <p:nvPr>
            <p:ph type="sldImg" idx="2"/>
          </p:nvPr>
        </p:nvSpPr>
        <p:spPr bwMode="auto">
          <a:xfrm>
            <a:off x="968375" y="473075"/>
            <a:ext cx="5365750" cy="4751388"/>
          </a:xfrm>
          <a:prstGeom prst="rect">
            <a:avLst/>
          </a:prstGeom>
          <a:noFill/>
          <a:ln w="12700">
            <a:solidFill>
              <a:srgbClr val="000000"/>
            </a:solidFill>
            <a:miter lim="800000"/>
            <a:headEnd/>
            <a:tailEnd/>
          </a:ln>
        </p:spPr>
      </p:sp>
      <p:sp>
        <p:nvSpPr>
          <p:cNvPr id="438280" name="Rectangle 8"/>
          <p:cNvSpPr>
            <a:spLocks noGrp="1" noChangeArrowheads="1"/>
          </p:cNvSpPr>
          <p:nvPr>
            <p:ph type="ftr" sz="quarter" idx="4"/>
          </p:nvPr>
        </p:nvSpPr>
        <p:spPr bwMode="auto">
          <a:xfrm>
            <a:off x="1365250" y="9388475"/>
            <a:ext cx="4578350" cy="173038"/>
          </a:xfrm>
          <a:prstGeom prst="rect">
            <a:avLst/>
          </a:prstGeom>
          <a:noFill/>
          <a:ln w="9525">
            <a:noFill/>
            <a:miter lim="800000"/>
            <a:headEnd/>
            <a:tailEnd/>
          </a:ln>
          <a:effectLst/>
        </p:spPr>
        <p:txBody>
          <a:bodyPr vert="horz" wrap="square" lIns="0" tIns="0" rIns="0" bIns="0" numCol="1" anchor="b" anchorCtr="1" compatLnSpc="1">
            <a:prstTxWarp prst="textNoShape">
              <a:avLst/>
            </a:prstTxWarp>
          </a:bodyPr>
          <a:lstStyle>
            <a:lvl1pPr algn="ctr" defTabSz="965200" eaLnBrk="0" hangingPunct="0">
              <a:defRPr sz="900">
                <a:latin typeface="Arial" charset="0"/>
              </a:defRPr>
            </a:lvl1pPr>
          </a:lstStyle>
          <a:p>
            <a:pPr>
              <a:defRPr/>
            </a:pPr>
            <a:r>
              <a:rPr lang="en-US" dirty="0"/>
              <a:t>Copyright © 2017 Elephant Scale. All rights reserved.</a:t>
            </a:r>
          </a:p>
        </p:txBody>
      </p:sp>
      <p:sp>
        <p:nvSpPr>
          <p:cNvPr id="438281" name="Rectangle 9"/>
          <p:cNvSpPr>
            <a:spLocks noGrp="1" noChangeArrowheads="1"/>
          </p:cNvSpPr>
          <p:nvPr>
            <p:ph type="sldNum" sz="quarter" idx="5"/>
          </p:nvPr>
        </p:nvSpPr>
        <p:spPr bwMode="auto">
          <a:xfrm>
            <a:off x="6400800" y="9388475"/>
            <a:ext cx="554038" cy="173038"/>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defTabSz="965200" eaLnBrk="0" hangingPunct="0">
              <a:defRPr b="1">
                <a:latin typeface="Arial" charset="0"/>
              </a:defRPr>
            </a:lvl1pPr>
          </a:lstStyle>
          <a:p>
            <a:pPr>
              <a:defRPr/>
            </a:pPr>
            <a:fld id="{EFAADD5D-AF76-45EE-AA5F-6DAC73BF167A}" type="slidenum">
              <a:rPr lang="en-US"/>
              <a:pPr>
                <a:defRPr/>
              </a:pPr>
              <a:t>‹#›</a:t>
            </a:fld>
            <a:endParaRPr lang="en-US" dirty="0"/>
          </a:p>
        </p:txBody>
      </p:sp>
      <p:sp>
        <p:nvSpPr>
          <p:cNvPr id="438306" name="Text Box 34"/>
          <p:cNvSpPr txBox="1">
            <a:spLocks noChangeArrowheads="1"/>
          </p:cNvSpPr>
          <p:nvPr/>
        </p:nvSpPr>
        <p:spPr bwMode="auto">
          <a:xfrm>
            <a:off x="271463" y="5176838"/>
            <a:ext cx="617537" cy="254000"/>
          </a:xfrm>
          <a:prstGeom prst="rect">
            <a:avLst/>
          </a:prstGeom>
          <a:noFill/>
          <a:ln w="9525">
            <a:noFill/>
            <a:miter lim="800000"/>
            <a:headEnd/>
            <a:tailEnd/>
          </a:ln>
        </p:spPr>
        <p:txBody>
          <a:bodyPr wrap="none" lIns="96386" tIns="48194" rIns="96386" bIns="48194"/>
          <a:lstStyle/>
          <a:p>
            <a:pPr defTabSz="960438">
              <a:defRPr/>
            </a:pPr>
            <a:r>
              <a:rPr lang="en-US" sz="1200" b="1" u="sng" dirty="0">
                <a:latin typeface="Times New Roman" pitchFamily="18" charset="0"/>
                <a:cs typeface="Times New Roman" pitchFamily="18" charset="0"/>
              </a:rPr>
              <a:t>Notes:</a:t>
            </a:r>
          </a:p>
        </p:txBody>
      </p:sp>
      <p:sp>
        <p:nvSpPr>
          <p:cNvPr id="438309" name="Rectangle 37"/>
          <p:cNvSpPr>
            <a:spLocks noGrp="1" noChangeArrowheads="1"/>
          </p:cNvSpPr>
          <p:nvPr>
            <p:ph type="body" sz="quarter" idx="3"/>
          </p:nvPr>
        </p:nvSpPr>
        <p:spPr bwMode="gray">
          <a:xfrm>
            <a:off x="322263" y="5462588"/>
            <a:ext cx="6607175" cy="3751262"/>
          </a:xfrm>
          <a:prstGeom prst="rect">
            <a:avLst/>
          </a:prstGeom>
          <a:noFill/>
          <a:ln w="9525">
            <a:noFill/>
            <a:miter lim="800000"/>
            <a:headEnd/>
            <a:tailEnd/>
          </a:ln>
        </p:spPr>
        <p:txBody>
          <a:bodyPr vert="horz" wrap="square" lIns="91537" tIns="45768" rIns="91537" bIns="45768" numCol="1" anchor="t" anchorCtr="0" compatLnSpc="1">
            <a:prstTxWarp prst="textNoShape">
              <a:avLst/>
            </a:prstTxWarp>
          </a:bodyPr>
          <a:lstStyle/>
          <a:p>
            <a:pPr lvl="0"/>
            <a:endParaRPr lang="en-US" noProof="0" dirty="0"/>
          </a:p>
        </p:txBody>
      </p:sp>
      <p:sp>
        <p:nvSpPr>
          <p:cNvPr id="438317" name="Line 45"/>
          <p:cNvSpPr>
            <a:spLocks noChangeShapeType="1"/>
          </p:cNvSpPr>
          <p:nvPr/>
        </p:nvSpPr>
        <p:spPr bwMode="auto">
          <a:xfrm>
            <a:off x="322263" y="9324975"/>
            <a:ext cx="6653212" cy="0"/>
          </a:xfrm>
          <a:prstGeom prst="line">
            <a:avLst/>
          </a:prstGeom>
          <a:noFill/>
          <a:ln w="12700">
            <a:solidFill>
              <a:srgbClr val="000000"/>
            </a:solidFill>
            <a:round/>
            <a:headEnd/>
            <a:tailEnd/>
          </a:ln>
          <a:effectLst/>
        </p:spPr>
        <p:txBody>
          <a:bodyPr/>
          <a:lstStyle/>
          <a:p>
            <a:pPr algn="ctr">
              <a:spcBef>
                <a:spcPct val="30000"/>
              </a:spcBef>
              <a:defRPr/>
            </a:pPr>
            <a:endParaRPr lang="en-US" dirty="0">
              <a:latin typeface="Garamond" pitchFamily="-110" charset="0"/>
              <a:ea typeface="+mn-ea"/>
              <a:cs typeface="+mn-cs"/>
            </a:endParaRPr>
          </a:p>
        </p:txBody>
      </p:sp>
    </p:spTree>
    <p:extLst>
      <p:ext uri="{BB962C8B-B14F-4D97-AF65-F5344CB8AC3E}">
        <p14:creationId xmlns:p14="http://schemas.microsoft.com/office/powerpoint/2010/main" val="953744030"/>
      </p:ext>
    </p:extLst>
  </p:cSld>
  <p:clrMap bg1="lt1" tx1="dk1" bg2="lt2" tx2="dk2" accent1="accent1" accent2="accent2" accent3="accent3" accent4="accent4" accent5="accent5" accent6="accent6" hlink="hlink" folHlink="folHlink"/>
  <p:hf dt="0"/>
  <p:notesStyle>
    <a:lvl1pPr marL="0" indent="0" algn="l" rtl="0" eaLnBrk="0" fontAlgn="base" hangingPunct="0">
      <a:spcBef>
        <a:spcPct val="30000"/>
      </a:spcBef>
      <a:spcAft>
        <a:spcPct val="0"/>
      </a:spcAft>
      <a:buSzPct val="65000"/>
      <a:buFont typeface="Wingdings" pitchFamily="2" charset="2"/>
      <a:buNone/>
      <a:defRPr sz="1200" kern="1200">
        <a:solidFill>
          <a:schemeClr val="tx1"/>
        </a:solidFill>
        <a:latin typeface="Times New Roman" pitchFamily="-110" charset="0"/>
        <a:ea typeface="ＭＳ Ｐゴシック" pitchFamily="-110" charset="-128"/>
        <a:cs typeface="ＭＳ Ｐゴシック" pitchFamily="-110" charset="-128"/>
      </a:defRPr>
    </a:lvl1pPr>
    <a:lvl2pPr marL="282575" indent="0" algn="l" rtl="0" eaLnBrk="0" fontAlgn="base" hangingPunct="0">
      <a:spcBef>
        <a:spcPct val="30000"/>
      </a:spcBef>
      <a:spcAft>
        <a:spcPct val="0"/>
      </a:spcAft>
      <a:buNone/>
      <a:defRPr sz="1200" kern="1200">
        <a:solidFill>
          <a:schemeClr val="tx1"/>
        </a:solidFill>
        <a:latin typeface="Times New Roman" pitchFamily="-110" charset="0"/>
        <a:ea typeface="ＭＳ Ｐゴシック" pitchFamily="-110" charset="-128"/>
        <a:cs typeface="ＭＳ Ｐゴシック"/>
      </a:defRPr>
    </a:lvl2pPr>
    <a:lvl3pPr marL="744538" indent="-173038" algn="l" rtl="0" eaLnBrk="0" fontAlgn="base" hangingPunct="0">
      <a:spcBef>
        <a:spcPct val="30000"/>
      </a:spcBef>
      <a:spcAft>
        <a:spcPct val="0"/>
      </a:spcAft>
      <a:buChar char="•"/>
      <a:defRPr sz="1200" kern="1200">
        <a:solidFill>
          <a:schemeClr val="tx1"/>
        </a:solidFill>
        <a:latin typeface="Times New Roman" pitchFamily="-110" charset="0"/>
        <a:ea typeface="ＭＳ Ｐゴシック" pitchFamily="-110" charset="-128"/>
        <a:cs typeface="ＭＳ Ｐゴシック"/>
      </a:defRPr>
    </a:lvl3pPr>
    <a:lvl4pPr marL="1600200" indent="-228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a:defRPr>
    </a:lvl4pPr>
    <a:lvl5pPr marL="2057400" indent="-228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Open with this. Ask the room who has already been asked the question, and by whom. It surfaces the real pressure people are under and sets the tone that this is a decision-making course, not a technology tour.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Stress that we deliberately show failures. Leaders who have only seen polished demos make bad decisions.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You can read about flying all day. At some point you have to sit in the seat.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The exercises are the flight time. Half of this course is you working, not me talking.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Show this early. It tells people the course produces something and makes the exercises feel like work, not filler.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That last rule matters. Say it on day one and enforce it — participants will be tempted to paste real internal documents into the exercises.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Capture the "what do you want to walk out with" answers on the board. Refer back to them at the close and check them off. It is the cheapest engagement device in the course.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Do this literally. It tells you how to pace Module 2, and it shows the room its own distribution — which is usually much wider than anyone expects.</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solidFill>
        <a:effectLst/>
      </p:bgPr>
    </p:bg>
    <p:spTree>
      <p:nvGrpSpPr>
        <p:cNvPr id="1" name=""/>
        <p:cNvGrpSpPr/>
        <p:nvPr/>
      </p:nvGrpSpPr>
      <p:grpSpPr>
        <a:xfrm>
          <a:off x="0" y="0"/>
          <a:ext cx="0" cy="0"/>
          <a:chOff x="0" y="0"/>
          <a:chExt cx="0" cy="0"/>
        </a:xfrm>
      </p:grpSpPr>
      <p:pic>
        <p:nvPicPr>
          <p:cNvPr id="4" name="Picture 7"/>
          <p:cNvPicPr preferRelativeResize="0">
            <a:picLocks noChangeArrowheads="1"/>
          </p:cNvPicPr>
          <p:nvPr/>
        </p:nvPicPr>
        <p:blipFill rotWithShape="1">
          <a:blip r:embed="rId2"/>
          <a:srcRect t="19473"/>
          <a:stretch/>
        </p:blipFill>
        <p:spPr bwMode="auto">
          <a:xfrm>
            <a:off x="1" y="-1801"/>
            <a:ext cx="2498725" cy="8308927"/>
          </a:xfrm>
          <a:prstGeom prst="rect">
            <a:avLst/>
          </a:prstGeom>
          <a:noFill/>
          <a:ln w="9525">
            <a:noFill/>
            <a:miter lim="800000"/>
            <a:headEnd/>
            <a:tailEnd/>
          </a:ln>
        </p:spPr>
      </p:pic>
      <p:sp>
        <p:nvSpPr>
          <p:cNvPr id="1104898" name="Rectangle 2"/>
          <p:cNvSpPr>
            <a:spLocks noGrp="1" noChangeArrowheads="1"/>
          </p:cNvSpPr>
          <p:nvPr>
            <p:ph type="subTitle" sz="quarter" idx="1"/>
          </p:nvPr>
        </p:nvSpPr>
        <p:spPr>
          <a:xfrm>
            <a:off x="2498726" y="4984481"/>
            <a:ext cx="6335713" cy="400685"/>
          </a:xfrm>
        </p:spPr>
        <p:txBody>
          <a:bodyPr>
            <a:spAutoFit/>
          </a:bodyPr>
          <a:lstStyle>
            <a:lvl1pPr marL="0" indent="0" algn="r">
              <a:buFont typeface="Monotype Sorts" pitchFamily="-110" charset="2"/>
              <a:buNone/>
              <a:defRPr sz="2000"/>
            </a:lvl1pPr>
          </a:lstStyle>
          <a:p>
            <a:r>
              <a:rPr lang="en-US"/>
              <a:t>Click to edit Master subtitle style</a:t>
            </a:r>
          </a:p>
        </p:txBody>
      </p:sp>
      <p:sp>
        <p:nvSpPr>
          <p:cNvPr id="1104900" name="Rectangle 4"/>
          <p:cNvSpPr>
            <a:spLocks noGrp="1" noChangeArrowheads="1"/>
          </p:cNvSpPr>
          <p:nvPr>
            <p:ph type="ctrTitle" sz="quarter"/>
          </p:nvPr>
        </p:nvSpPr>
        <p:spPr>
          <a:xfrm>
            <a:off x="704850" y="3226947"/>
            <a:ext cx="8121650" cy="1469414"/>
          </a:xfrm>
        </p:spPr>
        <p:txBody>
          <a:bodyPr lIns="91440" anchor="ctr"/>
          <a:lstStyle>
            <a:lvl1pPr algn="ctr" defTabSz="1825625">
              <a:defRPr/>
            </a:lvl1p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p:cNvSpPr>
            <a:spLocks noGrp="1"/>
          </p:cNvSpPr>
          <p:nvPr>
            <p:ph type="ftr" sz="quarter" idx="11"/>
          </p:nvPr>
        </p:nvSpPr>
        <p:spPr/>
        <p:txBody>
          <a:bodyPr/>
          <a:lstStyle/>
          <a:p>
            <a:pPr algn="l">
              <a:defRPr/>
            </a:pPr>
            <a:r>
              <a:rPr lang="en-US" dirty="0"/>
              <a:t>Copyright © 2017 Elephant Scale. All rights reserved.</a:t>
            </a:r>
          </a:p>
        </p:txBody>
      </p:sp>
      <p:sp>
        <p:nvSpPr>
          <p:cNvPr id="9" name="Slide Number Placeholder 8"/>
          <p:cNvSpPr>
            <a:spLocks noGrp="1"/>
          </p:cNvSpPr>
          <p:nvPr>
            <p:ph type="sldNum" sz="quarter" idx="12"/>
          </p:nvPr>
        </p:nvSpPr>
        <p:spPr/>
        <p:txBody>
          <a:bodyPr/>
          <a:lstStyle/>
          <a:p>
            <a:pPr>
              <a:defRPr/>
            </a:pPr>
            <a:fld id="{77EF9825-4C23-4085-A4E3-B5565466BD91}" type="slidenum">
              <a:rPr lang="en-US" smtClean="0"/>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04850" y="1"/>
            <a:ext cx="8667750" cy="835549"/>
          </a:xfrm>
        </p:spPr>
        <p:txBody>
          <a:bodyPr/>
          <a:lstStyle/>
          <a:p>
            <a:r>
              <a:rPr lang="en-US"/>
              <a:t>Click to edit Master title style</a:t>
            </a:r>
          </a:p>
        </p:txBody>
      </p:sp>
      <p:sp>
        <p:nvSpPr>
          <p:cNvPr id="3" name="Text Placeholder 2"/>
          <p:cNvSpPr>
            <a:spLocks noGrp="1"/>
          </p:cNvSpPr>
          <p:nvPr>
            <p:ph type="body" sz="half" idx="1"/>
          </p:nvPr>
        </p:nvSpPr>
        <p:spPr>
          <a:xfrm>
            <a:off x="23495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62500" y="994975"/>
            <a:ext cx="4375150" cy="3321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762500" y="4500439"/>
            <a:ext cx="4375150" cy="3322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sldNum" sz="quarter" idx="11"/>
          </p:nvPr>
        </p:nvSpPr>
        <p:spPr>
          <a:ln/>
        </p:spPr>
        <p:txBody>
          <a:bodyPr/>
          <a:lstStyle>
            <a:lvl1pPr>
              <a:defRPr/>
            </a:lvl1pPr>
          </a:lstStyle>
          <a:p>
            <a:pPr>
              <a:defRPr/>
            </a:pPr>
            <a:fld id="{040E4B02-67B9-4228-B08B-2561CEE6B946}" type="slidenum">
              <a:rPr lang="en-US"/>
              <a:pPr>
                <a:defRPr/>
              </a:pPr>
              <a:t>‹#›</a:t>
            </a:fld>
            <a:endParaRPr lang="en-US" dirty="0"/>
          </a:p>
        </p:txBody>
      </p:sp>
      <p:sp>
        <p:nvSpPr>
          <p:cNvPr id="8" name="Rectangle 5"/>
          <p:cNvSpPr>
            <a:spLocks noGrp="1" noChangeArrowheads="1"/>
          </p:cNvSpPr>
          <p:nvPr>
            <p:ph type="ftr" sz="quarter" idx="12"/>
          </p:nvPr>
        </p:nvSpPr>
        <p:spPr>
          <a:ln/>
        </p:spPr>
        <p:txBody>
          <a:bodyPr/>
          <a:lstStyle>
            <a:lvl1pPr>
              <a:defRPr/>
            </a:lvl1pPr>
          </a:lstStyle>
          <a:p>
            <a:pPr algn="l">
              <a:defRPr/>
            </a:pPr>
            <a:r>
              <a:rPr lang="en-US" dirty="0"/>
              <a:t>Copyright © 2017 Elephant Scale. All rights reserved.</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04850" y="1"/>
            <a:ext cx="8667750" cy="835549"/>
          </a:xfrm>
        </p:spPr>
        <p:txBody>
          <a:bodyPr/>
          <a:lstStyle/>
          <a:p>
            <a:r>
              <a:rPr lang="en-US"/>
              <a:t>Click to edit Master title style</a:t>
            </a:r>
          </a:p>
        </p:txBody>
      </p:sp>
      <p:sp>
        <p:nvSpPr>
          <p:cNvPr id="3" name="Text Placeholder 2"/>
          <p:cNvSpPr>
            <a:spLocks noGrp="1"/>
          </p:cNvSpPr>
          <p:nvPr>
            <p:ph type="body" sz="half" idx="1"/>
          </p:nvPr>
        </p:nvSpPr>
        <p:spPr>
          <a:xfrm>
            <a:off x="23495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250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sldNum" sz="quarter" idx="11"/>
          </p:nvPr>
        </p:nvSpPr>
        <p:spPr>
          <a:ln/>
        </p:spPr>
        <p:txBody>
          <a:bodyPr/>
          <a:lstStyle>
            <a:lvl1pPr>
              <a:defRPr/>
            </a:lvl1pPr>
          </a:lstStyle>
          <a:p>
            <a:pPr>
              <a:defRPr/>
            </a:pPr>
            <a:fld id="{A86CC632-9864-46F1-8EAB-FCD3BB9CEC9A}" type="slidenum">
              <a:rPr lang="en-US"/>
              <a:pPr>
                <a:defRPr/>
              </a:pPr>
              <a:t>‹#›</a:t>
            </a:fld>
            <a:endParaRPr lang="en-US" dirty="0"/>
          </a:p>
        </p:txBody>
      </p:sp>
      <p:sp>
        <p:nvSpPr>
          <p:cNvPr id="7" name="Rectangle 5"/>
          <p:cNvSpPr>
            <a:spLocks noGrp="1" noChangeArrowheads="1"/>
          </p:cNvSpPr>
          <p:nvPr>
            <p:ph type="ftr" sz="quarter" idx="12"/>
          </p:nvPr>
        </p:nvSpPr>
        <p:spPr>
          <a:ln/>
        </p:spPr>
        <p:txBody>
          <a:bodyPr/>
          <a:lstStyle>
            <a:lvl1pPr>
              <a:defRPr/>
            </a:lvl1pPr>
          </a:lstStyle>
          <a:p>
            <a:pPr algn="l">
              <a:defRPr/>
            </a:pPr>
            <a:r>
              <a:rPr lang="en-US" dirty="0"/>
              <a:t>Copyright © 2017 Elephant Scale. All rights reserved.</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234950" y="994976"/>
            <a:ext cx="8902700" cy="6828450"/>
          </a:xfrm>
          <a:prstGeom prst="rect">
            <a:avLst/>
          </a:prstGeom>
          <a:noFill/>
          <a:ln w="9525">
            <a:noFill/>
            <a:miter lim="800000"/>
            <a:headEnd/>
            <a:tailEnd/>
          </a:ln>
        </p:spPr>
        <p:txBody>
          <a:bodyPr vert="horz" wrap="square" lIns="92007" tIns="46005" rIns="92007" bIns="46005" numCol="1" anchor="t" anchorCtr="0" compatLnSpc="1">
            <a:prstTxWarp prst="textNoShape">
              <a:avLst/>
            </a:prstTxWarp>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03876" name="Rectangle 4"/>
          <p:cNvSpPr>
            <a:spLocks noGrp="1" noChangeArrowheads="1"/>
          </p:cNvSpPr>
          <p:nvPr>
            <p:ph type="sldNum" sz="quarter" idx="4"/>
          </p:nvPr>
        </p:nvSpPr>
        <p:spPr bwMode="hidden">
          <a:xfrm>
            <a:off x="8777288" y="7961724"/>
            <a:ext cx="546100" cy="272754"/>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eaLnBrk="0" hangingPunct="0">
              <a:defRPr b="1">
                <a:solidFill>
                  <a:srgbClr val="000000"/>
                </a:solidFill>
                <a:latin typeface="Arial" charset="0"/>
                <a:ea typeface="ＭＳ Ｐゴシック" charset="0"/>
                <a:cs typeface="ＭＳ Ｐゴシック" charset="0"/>
              </a:defRPr>
            </a:lvl1pPr>
          </a:lstStyle>
          <a:p>
            <a:pPr>
              <a:defRPr/>
            </a:pPr>
            <a:fld id="{77EF9825-4C23-4085-A4E3-B5565466BD91}" type="slidenum">
              <a:rPr lang="en-US"/>
              <a:pPr>
                <a:defRPr/>
              </a:pPr>
              <a:t>‹#›</a:t>
            </a:fld>
            <a:endParaRPr lang="en-US" dirty="0"/>
          </a:p>
        </p:txBody>
      </p:sp>
      <p:sp>
        <p:nvSpPr>
          <p:cNvPr id="1103877" name="Rectangle 5"/>
          <p:cNvSpPr>
            <a:spLocks noGrp="1" noChangeArrowheads="1"/>
          </p:cNvSpPr>
          <p:nvPr>
            <p:ph type="ftr" sz="quarter" idx="3"/>
          </p:nvPr>
        </p:nvSpPr>
        <p:spPr bwMode="hidden">
          <a:xfrm>
            <a:off x="234950" y="8032785"/>
            <a:ext cx="5441950" cy="138499"/>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algn="ctr" eaLnBrk="0" hangingPunct="0">
              <a:spcBef>
                <a:spcPct val="0"/>
              </a:spcBef>
              <a:defRPr sz="900">
                <a:solidFill>
                  <a:srgbClr val="000000"/>
                </a:solidFill>
                <a:latin typeface="+mn-lt"/>
                <a:ea typeface="+mn-ea"/>
                <a:cs typeface="+mn-cs"/>
              </a:defRPr>
            </a:lvl1pPr>
          </a:lstStyle>
          <a:p>
            <a:pPr algn="l">
              <a:defRPr/>
            </a:pPr>
            <a:r>
              <a:rPr lang="en-US" dirty="0"/>
              <a:t>Copyright © 2017 Elephant Scale. All rights reserved.</a:t>
            </a:r>
          </a:p>
        </p:txBody>
      </p:sp>
      <p:pic>
        <p:nvPicPr>
          <p:cNvPr id="1030" name="Picture 6"/>
          <p:cNvPicPr preferRelativeResize="0">
            <a:picLocks noChangeArrowheads="1"/>
          </p:cNvPicPr>
          <p:nvPr/>
        </p:nvPicPr>
        <p:blipFill>
          <a:blip r:embed="rId6"/>
          <a:srcRect/>
          <a:stretch>
            <a:fillRect/>
          </a:stretch>
        </p:blipFill>
        <p:spPr bwMode="ltGray">
          <a:xfrm>
            <a:off x="0" y="1"/>
            <a:ext cx="704850" cy="835549"/>
          </a:xfrm>
          <a:prstGeom prst="rect">
            <a:avLst/>
          </a:prstGeom>
          <a:noFill/>
          <a:ln w="9525">
            <a:noFill/>
            <a:miter lim="800000"/>
            <a:headEnd/>
            <a:tailEnd/>
          </a:ln>
        </p:spPr>
      </p:pic>
      <p:sp>
        <p:nvSpPr>
          <p:cNvPr id="1031" name="Rectangle 7"/>
          <p:cNvSpPr>
            <a:spLocks noGrp="1" noChangeArrowheads="1"/>
          </p:cNvSpPr>
          <p:nvPr>
            <p:ph type="title"/>
          </p:nvPr>
        </p:nvSpPr>
        <p:spPr bwMode="invGray">
          <a:xfrm>
            <a:off x="704850" y="1"/>
            <a:ext cx="8667750" cy="835549"/>
          </a:xfrm>
          <a:prstGeom prst="rect">
            <a:avLst/>
          </a:prstGeom>
          <a:solidFill>
            <a:schemeClr val="tx2"/>
          </a:solidFill>
          <a:ln w="9525">
            <a:noFill/>
            <a:miter lim="800000"/>
            <a:headEnd/>
            <a:tailEnd/>
          </a:ln>
        </p:spPr>
        <p:txBody>
          <a:bodyPr vert="horz" wrap="square" lIns="92007" tIns="46005" rIns="92007" bIns="46005" numCol="1" anchor="b" anchorCtr="0" compatLnSpc="1">
            <a:prstTxWarp prst="textNoShape">
              <a:avLst/>
            </a:prstTxWarp>
          </a:bodyPr>
          <a:lstStyle/>
          <a:p>
            <a:pPr lvl="0"/>
            <a:r>
              <a:rPr lang="en-US" dirty="0"/>
              <a:t>Click to edit Master title style</a:t>
            </a:r>
          </a:p>
        </p:txBody>
      </p:sp>
    </p:spTree>
  </p:cSld>
  <p:clrMap bg1="dk2" tx1="lt1" bg2="dk1" tx2="lt2" accent1="accent1" accent2="accent2" accent3="accent3" accent4="accent4" accent5="accent5" accent6="accent6" hlink="hlink" folHlink="folHlink"/>
  <p:sldLayoutIdLst>
    <p:sldLayoutId id="2147483656" r:id="rId1"/>
    <p:sldLayoutId id="2147483655" r:id="rId2"/>
    <p:sldLayoutId id="2147483654" r:id="rId3"/>
    <p:sldLayoutId id="2147483653" r:id="rId4"/>
  </p:sldLayoutIdLst>
  <p:hf hdr="0" dt="0"/>
  <p:txStyles>
    <p:titleStyle>
      <a:lvl1pPr algn="l" rtl="0" eaLnBrk="0" fontAlgn="base" hangingPunct="0">
        <a:spcBef>
          <a:spcPct val="0"/>
        </a:spcBef>
        <a:spcAft>
          <a:spcPct val="0"/>
        </a:spcAft>
        <a:defRPr sz="2600" b="1">
          <a:solidFill>
            <a:schemeClr val="tx1"/>
          </a:solidFill>
          <a:latin typeface="+mj-lt"/>
          <a:ea typeface="ＭＳ Ｐゴシック" pitchFamily="-110" charset="-128"/>
          <a:cs typeface="ＭＳ Ｐゴシック" pitchFamily="-110" charset="-128"/>
        </a:defRPr>
      </a:lvl1pPr>
      <a:lvl2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2pPr>
      <a:lvl3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3pPr>
      <a:lvl4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4pPr>
      <a:lvl5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5pPr>
      <a:lvl6pPr marL="457200" algn="l" rtl="0" eaLnBrk="0" fontAlgn="base" hangingPunct="0">
        <a:spcBef>
          <a:spcPct val="0"/>
        </a:spcBef>
        <a:spcAft>
          <a:spcPct val="0"/>
        </a:spcAft>
        <a:defRPr sz="2600" b="1">
          <a:solidFill>
            <a:schemeClr val="tx1"/>
          </a:solidFill>
          <a:latin typeface="Verdana" pitchFamily="-110" charset="0"/>
        </a:defRPr>
      </a:lvl6pPr>
      <a:lvl7pPr marL="914400" algn="l" rtl="0" eaLnBrk="0" fontAlgn="base" hangingPunct="0">
        <a:spcBef>
          <a:spcPct val="0"/>
        </a:spcBef>
        <a:spcAft>
          <a:spcPct val="0"/>
        </a:spcAft>
        <a:defRPr sz="2600" b="1">
          <a:solidFill>
            <a:schemeClr val="tx1"/>
          </a:solidFill>
          <a:latin typeface="Verdana" pitchFamily="-110" charset="0"/>
        </a:defRPr>
      </a:lvl7pPr>
      <a:lvl8pPr marL="1371600" algn="l" rtl="0" eaLnBrk="0" fontAlgn="base" hangingPunct="0">
        <a:spcBef>
          <a:spcPct val="0"/>
        </a:spcBef>
        <a:spcAft>
          <a:spcPct val="0"/>
        </a:spcAft>
        <a:defRPr sz="2600" b="1">
          <a:solidFill>
            <a:schemeClr val="tx1"/>
          </a:solidFill>
          <a:latin typeface="Verdana" pitchFamily="-110" charset="0"/>
        </a:defRPr>
      </a:lvl8pPr>
      <a:lvl9pPr marL="1828800" algn="l" rtl="0" eaLnBrk="0" fontAlgn="base" hangingPunct="0">
        <a:spcBef>
          <a:spcPct val="0"/>
        </a:spcBef>
        <a:spcAft>
          <a:spcPct val="0"/>
        </a:spcAft>
        <a:defRPr sz="2600" b="1">
          <a:solidFill>
            <a:schemeClr val="tx1"/>
          </a:solidFill>
          <a:latin typeface="Verdana" pitchFamily="-110" charset="0"/>
        </a:defRPr>
      </a:lvl9pPr>
    </p:titleStyle>
    <p:bodyStyle>
      <a:lvl1pPr marL="290513" indent="-290513" algn="l" rtl="0" eaLnBrk="0" fontAlgn="base" hangingPunct="0">
        <a:spcBef>
          <a:spcPct val="20000"/>
        </a:spcBef>
        <a:spcAft>
          <a:spcPct val="0"/>
        </a:spcAft>
        <a:buClr>
          <a:schemeClr val="tx2"/>
        </a:buClr>
        <a:buSzPct val="65000"/>
        <a:buFont typeface="Wingdings" pitchFamily="2" charset="2"/>
        <a:buChar char=""/>
        <a:defRPr sz="2400">
          <a:solidFill>
            <a:srgbClr val="000000"/>
          </a:solidFill>
          <a:latin typeface="+mn-lt"/>
          <a:ea typeface="ＭＳ Ｐゴシック" pitchFamily="-110" charset="-128"/>
          <a:cs typeface="ＭＳ Ｐゴシック" pitchFamily="-110" charset="-128"/>
        </a:defRPr>
      </a:lvl1pPr>
      <a:lvl2pPr marL="633413" indent="-228600" algn="l" rtl="0" eaLnBrk="0" fontAlgn="base" hangingPunct="0">
        <a:spcBef>
          <a:spcPct val="20000"/>
        </a:spcBef>
        <a:spcAft>
          <a:spcPct val="0"/>
        </a:spcAft>
        <a:buClr>
          <a:srgbClr val="000000"/>
        </a:buClr>
        <a:buChar char="–"/>
        <a:defRPr sz="2200">
          <a:solidFill>
            <a:srgbClr val="000000"/>
          </a:solidFill>
          <a:latin typeface="+mn-lt"/>
          <a:ea typeface="ＭＳ Ｐゴシック" pitchFamily="-110" charset="-128"/>
          <a:cs typeface="ＭＳ Ｐゴシック"/>
        </a:defRPr>
      </a:lvl2pPr>
      <a:lvl3pPr marL="969963" indent="-222250" algn="l" rtl="0" eaLnBrk="0" fontAlgn="base" hangingPunct="0">
        <a:spcBef>
          <a:spcPct val="20000"/>
        </a:spcBef>
        <a:spcAft>
          <a:spcPct val="0"/>
        </a:spcAft>
        <a:buChar char="•"/>
        <a:defRPr sz="2000">
          <a:solidFill>
            <a:srgbClr val="000000"/>
          </a:solidFill>
          <a:latin typeface="+mn-lt"/>
          <a:ea typeface="ＭＳ Ｐゴシック" pitchFamily="-110" charset="-128"/>
          <a:cs typeface="ＭＳ Ｐゴシック"/>
        </a:defRPr>
      </a:lvl3pPr>
      <a:lvl4pPr marL="1258888" indent="-228600" algn="l" rtl="0" eaLnBrk="0" fontAlgn="base" hangingPunct="0">
        <a:spcBef>
          <a:spcPct val="0"/>
        </a:spcBef>
        <a:spcAft>
          <a:spcPct val="0"/>
        </a:spcAft>
        <a:buClr>
          <a:srgbClr val="5F5F5F"/>
        </a:buClr>
        <a:buSzPct val="65000"/>
        <a:buFont typeface="Arial Bold" pitchFamily="34" charset="0"/>
        <a:buChar char="‒"/>
        <a:defRPr lang="en-US" dirty="0">
          <a:solidFill>
            <a:srgbClr val="000000"/>
          </a:solidFill>
          <a:latin typeface="+mn-lt"/>
          <a:ea typeface="ＭＳ Ｐゴシック" pitchFamily="-110" charset="-128"/>
          <a:cs typeface="ＭＳ Ｐゴシック"/>
        </a:defRPr>
      </a:lvl4pPr>
      <a:lvl5pPr marL="20558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cs typeface="ＭＳ Ｐゴシック"/>
        </a:defRPr>
      </a:lvl5pPr>
      <a:lvl6pPr marL="25130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6pPr>
      <a:lvl7pPr marL="29702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7pPr>
      <a:lvl8pPr marL="34274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8pPr>
      <a:lvl9pPr marL="38846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t>Let's Begin</a:t>
            </a:r>
          </a:p>
        </p:txBody>
      </p:sp>
      <p:sp>
        <p:nvSpPr>
          <p:cNvPr id="3" name="Title 2"/>
          <p:cNvSpPr>
            <a:spLocks noGrp="1"/>
          </p:cNvSpPr>
          <p:nvPr>
            <p:ph type="ctrTitle" sz="quarter"/>
          </p:nvPr>
        </p:nvSpPr>
        <p:spPr/>
        <p:txBody>
          <a:bodyPr wrap="square">
            <a:noAutofit/>
          </a:bodyPr>
          <a:lstStyle/>
          <a:p>
            <a:r>
              <a:rPr sz="4200" b="1" i="0">
                <a:latin typeface="Times New Roman"/>
              </a:rPr>
              <a:t>AI for Business Leaders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Two Days, One Question</a:t>
            </a:r>
          </a:p>
        </p:txBody>
      </p:sp>
      <p:sp>
        <p:nvSpPr>
          <p:cNvPr id="3" name="Content Placeholder 2"/>
          <p:cNvSpPr>
            <a:spLocks noGrp="1"/>
          </p:cNvSpPr>
          <p:nvPr>
            <p:ph idx="1"/>
          </p:nvPr>
        </p:nvSpPr>
        <p:spPr/>
        <p:txBody>
          <a:bodyPr/>
          <a:lstStyle/>
          <a:p>
            <a:endParaRPr lang="en-US" dirty="0"/>
          </a:p>
          <a:p>
            <a:endParaRPr lang="en-US" dirty="0"/>
          </a:p>
          <a:p>
            <a:endParaRPr dirty="0"/>
          </a:p>
          <a:p>
            <a:r>
              <a:rPr dirty="0"/>
              <a:t> Someone is going to ask you that. Probably soon. Possibly this week.</a:t>
            </a:r>
          </a:p>
          <a:p>
            <a:r>
              <a:rPr dirty="0"/>
              <a:t> By Wednesday evening you will have an answer you can defend — with a use case, a number, a risk register, and a name next to it.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234950" y="1044588"/>
            <a:ext cx="7507224" cy="566928"/>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"So what are we doing about AI?"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Pre-requisites and Expectations</a:t>
            </a:r>
          </a:p>
        </p:txBody>
      </p:sp>
      <p:sp>
        <p:nvSpPr>
          <p:cNvPr id="3" name="Content Placeholder 2"/>
          <p:cNvSpPr>
            <a:spLocks noGrp="1"/>
          </p:cNvSpPr>
          <p:nvPr>
            <p:ph idx="1"/>
          </p:nvPr>
        </p:nvSpPr>
        <p:spPr/>
        <p:txBody>
          <a:bodyPr/>
          <a:lstStyle/>
          <a:p>
            <a:r>
              <a:rPr b="1"/>
              <a:t> No technical background is assumed</a:t>
            </a:r>
          </a:p>
          <a:p>
            <a:pPr lvl="1"/>
            <a:r>
              <a:t> No programming, no math, no prior AI exposure</a:t>
            </a:r>
          </a:p>
          <a:p>
            <a:pPr lvl="1"/>
            <a:r>
              <a:t> If you can use a web browser, you can do every exercise in this course</a:t>
            </a:r>
          </a:p>
          <a:p>
            <a:r>
              <a:rPr b="1"/>
              <a:t> Bring a real problem</a:t>
            </a:r>
          </a:p>
          <a:p>
            <a:pPr lvl="1"/>
            <a:r>
              <a:t> A process, a bottleneck, a pile of documents from your own area</a:t>
            </a:r>
          </a:p>
          <a:p>
            <a:pPr lvl="1"/>
            <a:r>
              <a:t> You will work on it for two days and leave with a plan for it</a:t>
            </a:r>
          </a:p>
          <a:p>
            <a:r>
              <a:rPr b="1"/>
              <a:t> Curiosity, and skepticism</a:t>
            </a:r>
          </a:p>
          <a:p>
            <a:pPr lvl="1"/>
            <a:r>
              <a:t> Ask a lot of questions</a:t>
            </a:r>
          </a:p>
          <a:p>
            <a:pPr lvl="1"/>
            <a:r>
              <a:t> Argue with me — the claims in this course should survive being challenged</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Our Teaching Philosophy</a:t>
            </a:r>
          </a:p>
        </p:txBody>
      </p:sp>
      <p:sp>
        <p:nvSpPr>
          <p:cNvPr id="3" name="Content Placeholder 2"/>
          <p:cNvSpPr>
            <a:spLocks noGrp="1"/>
          </p:cNvSpPr>
          <p:nvPr>
            <p:ph idx="1"/>
          </p:nvPr>
        </p:nvSpPr>
        <p:spPr/>
        <p:txBody>
          <a:bodyPr/>
          <a:lstStyle/>
          <a:p>
            <a:r>
              <a:t> Emphasis on</a:t>
            </a:r>
            <a:r>
              <a:rPr b="1"/>
              <a:t> judgment</a:t>
            </a:r>
            <a:r>
              <a:t> , not tools</a:t>
            </a:r>
          </a:p>
          <a:p>
            <a:pPr lvl="1"/>
            <a:r>
              <a:t> Tools change every six months; the questions don't</a:t>
            </a:r>
          </a:p>
          <a:p>
            <a:r>
              <a:rPr b="1"/>
              <a:t> Highly interactive</a:t>
            </a:r>
            <a:r>
              <a:t> — questions and disagreement are welcome at any moment</a:t>
            </a:r>
          </a:p>
          <a:p>
            <a:r>
              <a:rPr b="1"/>
              <a:t> Learn by doing</a:t>
            </a:r>
            <a:r>
              <a:t> — every module ends with you applying it to your own organization</a:t>
            </a:r>
          </a:p>
          <a:p>
            <a:r>
              <a:rPr b="1"/>
              <a:t> Honest about limits</a:t>
            </a:r>
            <a:r>
              <a:t> — you will see this technology fail, on purpose, in front of you</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Analogy: Learning To Fly...</a:t>
            </a:r>
          </a:p>
        </p:txBody>
      </p:sp>
      <p:sp>
        <p:nvSpPr>
          <p:cNvPr id="3" name="Content Placeholder 2"/>
          <p:cNvSpPr>
            <a:spLocks noGrp="1"/>
          </p:cNvSpPr>
          <p:nvPr>
            <p:ph idx="1"/>
          </p:nvPr>
        </p:nvSpPr>
        <p:spPr/>
        <p:txBody>
          <a:bodyPr/>
          <a:lstStyle/>
          <a:p>
            <a:endParaRPr/>
          </a:p>
          <a:p>
            <a:endParaRPr/>
          </a:p>
          <a:p>
            <a:endParaRPr/>
          </a:p>
          <a:p>
            <a:endParaRPr/>
          </a:p>
          <a:p>
            <a:endParaRPr/>
          </a:p>
          <a:p>
            <a:endParaRPr/>
          </a:p>
          <a:p>
            <a:endParaRPr/>
          </a:p>
          <a:p>
            <a:endParaRPr/>
          </a:p>
          <a:p>
            <a:endParaRPr/>
          </a:p>
          <a:p>
            <a:endParaRPr/>
          </a:p>
          <a:p>
            <a:endParaRPr/>
          </a:p>
          <a:p>
            <a:endParaRPr/>
          </a:p>
          <a:p>
            <a:endParaRP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pic>
        <p:nvPicPr>
          <p:cNvPr id="5" name="Picture 4" descr="learn-to-fly.png"/>
          <p:cNvPicPr>
            <a:picLocks noChangeAspect="1"/>
          </p:cNvPicPr>
          <p:nvPr/>
        </p:nvPicPr>
        <p:blipFill>
          <a:blip r:embed="rId3"/>
          <a:stretch>
            <a:fillRect/>
          </a:stretch>
        </p:blipFill>
        <p:spPr>
          <a:xfrm>
            <a:off x="713613" y="2091867"/>
            <a:ext cx="7507224" cy="411412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Flight Time</a:t>
            </a:r>
          </a:p>
        </p:txBody>
      </p:sp>
      <p:sp>
        <p:nvSpPr>
          <p:cNvPr id="3" name="Content Placeholder 2"/>
          <p:cNvSpPr>
            <a:spLocks noGrp="1"/>
          </p:cNvSpPr>
          <p:nvPr>
            <p:ph idx="1"/>
          </p:nvPr>
        </p:nvSpPr>
        <p:spPr/>
        <p:txBody>
          <a:bodyPr/>
          <a:lstStyle/>
          <a:p>
            <a:endParaRPr/>
          </a:p>
          <a:p>
            <a:endParaRPr/>
          </a:p>
          <a:p>
            <a:endParaRPr/>
          </a:p>
          <a:p>
            <a:endParaRPr/>
          </a:p>
          <a:p>
            <a:endParaRPr/>
          </a:p>
          <a:p>
            <a:endParaRPr/>
          </a:p>
          <a:p>
            <a:endParaRPr/>
          </a:p>
          <a:p>
            <a:endParaRPr/>
          </a:p>
          <a:p>
            <a:endParaRPr/>
          </a:p>
          <a:p>
            <a:endParaRPr/>
          </a:p>
          <a:p>
            <a:endParaRPr/>
          </a:p>
          <a:p>
            <a:endParaRPr/>
          </a:p>
          <a:p>
            <a:endParaRP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pic>
        <p:nvPicPr>
          <p:cNvPr id="5" name="Picture 4" descr="cockpit.png"/>
          <p:cNvPicPr>
            <a:picLocks noChangeAspect="1"/>
          </p:cNvPicPr>
          <p:nvPr/>
        </p:nvPicPr>
        <p:blipFill>
          <a:blip r:embed="rId3"/>
          <a:stretch>
            <a:fillRect/>
          </a:stretch>
        </p:blipFill>
        <p:spPr>
          <a:xfrm>
            <a:off x="680275" y="1750006"/>
            <a:ext cx="7507224" cy="411412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You Will Walk Out With</a:t>
            </a:r>
          </a:p>
        </p:txBody>
      </p:sp>
      <p:sp>
        <p:nvSpPr>
          <p:cNvPr id="3" name="Content Placeholder 2"/>
          <p:cNvSpPr>
            <a:spLocks noGrp="1"/>
          </p:cNvSpPr>
          <p:nvPr>
            <p:ph idx="1"/>
          </p:nvPr>
        </p:nvSpPr>
        <p:spPr/>
        <p:txBody>
          <a:bodyPr/>
          <a:lstStyle/>
          <a:p>
            <a:r>
              <a:t> Not notes.</a:t>
            </a:r>
            <a:r>
              <a:rPr b="1"/>
              <a:t> Artifacts.</a:t>
            </a:r>
          </a:p>
          <a:p>
            <a:endParaRPr b="1"/>
          </a:p>
          <a:p>
            <a:endParaRPr b="1"/>
          </a:p>
          <a:p>
            <a:endParaRPr b="1"/>
          </a:p>
          <a:p>
            <a:endParaRPr b="1"/>
          </a:p>
          <a:p>
            <a:endParaRPr b="1"/>
          </a:p>
          <a:p>
            <a:endParaRPr b="1"/>
          </a:p>
          <a:p>
            <a:endParaRPr b="1"/>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graphicFrame>
        <p:nvGraphicFramePr>
          <p:cNvPr id="5" name="Table 4"/>
          <p:cNvGraphicFramePr>
            <a:graphicFrameLocks noGrp="1"/>
          </p:cNvGraphicFramePr>
          <p:nvPr>
            <p:extLst>
              <p:ext uri="{D42A27DB-BD31-4B8C-83A1-F6EECF244321}">
                <p14:modId xmlns:p14="http://schemas.microsoft.com/office/powerpoint/2010/main" val="1338649359"/>
              </p:ext>
            </p:extLst>
          </p:nvPr>
        </p:nvGraphicFramePr>
        <p:xfrm>
          <a:off x="234950" y="1939131"/>
          <a:ext cx="8915400" cy="2651760"/>
        </p:xfrm>
        <a:graphic>
          <a:graphicData uri="http://schemas.openxmlformats.org/drawingml/2006/table">
            <a:tbl>
              <a:tblPr firstRow="1" bandRow="1">
                <a:tableStyleId>{5C22544A-7EE6-4342-B048-85BDC9FD1C3A}</a:tableStyleId>
              </a:tblPr>
              <a:tblGrid>
                <a:gridCol w="4457700">
                  <a:extLst>
                    <a:ext uri="{9D8B030D-6E8A-4147-A177-3AD203B41FA5}">
                      <a16:colId xmlns:a16="http://schemas.microsoft.com/office/drawing/2014/main" val="20000"/>
                    </a:ext>
                  </a:extLst>
                </a:gridCol>
                <a:gridCol w="4457700">
                  <a:extLst>
                    <a:ext uri="{9D8B030D-6E8A-4147-A177-3AD203B41FA5}">
                      <a16:colId xmlns:a16="http://schemas.microsoft.com/office/drawing/2014/main" val="20001"/>
                    </a:ext>
                  </a:extLst>
                </a:gridCol>
              </a:tblGrid>
              <a:tr h="0">
                <a:tc>
                  <a:txBody>
                    <a:bodyPr/>
                    <a:lstStyle/>
                    <a:p>
                      <a:r>
                        <a:t>Day 1</a:t>
                      </a:r>
                    </a:p>
                  </a:txBody>
                  <a:tcPr/>
                </a:tc>
                <a:tc>
                  <a:txBody>
                    <a:bodyPr/>
                    <a:lstStyle/>
                    <a:p>
                      <a:r>
                        <a:t>Day 2</a:t>
                      </a:r>
                    </a:p>
                  </a:txBody>
                  <a:tcPr/>
                </a:tc>
                <a:extLst>
                  <a:ext uri="{0D108BD9-81ED-4DB2-BD59-A6C34878D82A}">
                    <a16:rowId xmlns:a16="http://schemas.microsoft.com/office/drawing/2014/main" val="10000"/>
                  </a:ext>
                </a:extLst>
              </a:tr>
              <a:tr h="457200">
                <a:tc>
                  <a:txBody>
                    <a:bodyPr/>
                    <a:lstStyle/>
                    <a:p>
                      <a:r>
                        <a:t>A personal prompt library</a:t>
                      </a:r>
                    </a:p>
                  </a:txBody>
                  <a:tcPr/>
                </a:tc>
                <a:tc>
                  <a:txBody>
                    <a:bodyPr/>
                    <a:lstStyle/>
                    <a:p>
                      <a:r>
                        <a:t>An honest maturity assessment</a:t>
                      </a:r>
                    </a:p>
                  </a:txBody>
                  <a:tcPr/>
                </a:tc>
                <a:extLst>
                  <a:ext uri="{0D108BD9-81ED-4DB2-BD59-A6C34878D82A}">
                    <a16:rowId xmlns:a16="http://schemas.microsoft.com/office/drawing/2014/main" val="10001"/>
                  </a:ext>
                </a:extLst>
              </a:tr>
              <a:tr h="457200">
                <a:tc>
                  <a:txBody>
                    <a:bodyPr/>
                    <a:lstStyle/>
                    <a:p>
                      <a:r>
                        <a:t>Trust thresholds for your work</a:t>
                      </a:r>
                    </a:p>
                  </a:txBody>
                  <a:tcPr/>
                </a:tc>
                <a:tc>
                  <a:txBody>
                    <a:bodyPr/>
                    <a:lstStyle/>
                    <a:p>
                      <a:r>
                        <a:t>A communication playbook</a:t>
                      </a:r>
                    </a:p>
                  </a:txBody>
                  <a:tcPr/>
                </a:tc>
                <a:extLst>
                  <a:ext uri="{0D108BD9-81ED-4DB2-BD59-A6C34878D82A}">
                    <a16:rowId xmlns:a16="http://schemas.microsoft.com/office/drawing/2014/main" val="10002"/>
                  </a:ext>
                </a:extLst>
              </a:tr>
              <a:tr h="457200">
                <a:tc>
                  <a:txBody>
                    <a:bodyPr/>
                    <a:lstStyle/>
                    <a:p>
                      <a:r>
                        <a:t>A scored use-case portfolio</a:t>
                      </a:r>
                    </a:p>
                  </a:txBody>
                  <a:tcPr/>
                </a:tc>
                <a:tc>
                  <a:txBody>
                    <a:bodyPr/>
                    <a:lstStyle/>
                    <a:p>
                      <a:r>
                        <a:t>Three governance controls</a:t>
                      </a:r>
                    </a:p>
                  </a:txBody>
                  <a:tcPr/>
                </a:tc>
                <a:extLst>
                  <a:ext uri="{0D108BD9-81ED-4DB2-BD59-A6C34878D82A}">
                    <a16:rowId xmlns:a16="http://schemas.microsoft.com/office/drawing/2014/main" val="10003"/>
                  </a:ext>
                </a:extLst>
              </a:tr>
              <a:tr h="457200">
                <a:tc>
                  <a:txBody>
                    <a:bodyPr/>
                    <a:lstStyle/>
                    <a:p>
                      <a:endParaRPr/>
                    </a:p>
                  </a:txBody>
                  <a:tcPr/>
                </a:tc>
                <a:tc>
                  <a:txBody>
                    <a:bodyPr/>
                    <a:lstStyle/>
                    <a:p>
                      <a:r>
                        <a:t>A one-page business case</a:t>
                      </a:r>
                    </a:p>
                  </a:txBody>
                  <a:tcPr/>
                </a:tc>
                <a:extLst>
                  <a:ext uri="{0D108BD9-81ED-4DB2-BD59-A6C34878D82A}">
                    <a16:rowId xmlns:a16="http://schemas.microsoft.com/office/drawing/2014/main" val="10004"/>
                  </a:ext>
                </a:extLst>
              </a:tr>
              <a:tr h="457200">
                <a:tc>
                  <a:txBody>
                    <a:bodyPr/>
                    <a:lstStyle/>
                    <a:p>
                      <a:endParaRPr/>
                    </a:p>
                  </a:txBody>
                  <a:tcPr/>
                </a:tc>
                <a:tc>
                  <a:txBody>
                    <a:bodyPr/>
                    <a:lstStyle/>
                    <a:p>
                      <a:r>
                        <a:rPr dirty="0"/>
                        <a:t>A 30/60/90 day plan</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Shape of the Two Days</a:t>
            </a:r>
          </a:p>
        </p:txBody>
      </p:sp>
      <p:sp>
        <p:nvSpPr>
          <p:cNvPr id="3" name="Content Placeholder 2"/>
          <p:cNvSpPr>
            <a:spLocks noGrp="1"/>
          </p:cNvSpPr>
          <p:nvPr>
            <p:ph idx="1"/>
          </p:nvPr>
        </p:nvSpPr>
        <p:spPr/>
        <p:txBody>
          <a:bodyPr/>
          <a:lstStyle/>
          <a:p>
            <a:r>
              <a:rPr b="1"/>
              <a:t> Day 1 — Understanding AI and finding the value</a:t>
            </a:r>
          </a:p>
          <a:p>
            <a:r>
              <a:t> What AI actually is (and isn't)</a:t>
            </a:r>
          </a:p>
          <a:p>
            <a:r>
              <a:t> Working with AI: prompting as a leadership skill</a:t>
            </a:r>
          </a:p>
          <a:p>
            <a:r>
              <a:t> Capabilities, limits, and trust</a:t>
            </a:r>
          </a:p>
          <a:p>
            <a:r>
              <a:t> Finding and prioritizing business value</a:t>
            </a:r>
          </a:p>
          <a:p>
            <a:r>
              <a:rPr b="1"/>
              <a:t> Day 2 — Leading the organization through AI</a:t>
            </a:r>
          </a:p>
          <a:p>
            <a:r>
              <a:t> AI strategy and the stages of AI success</a:t>
            </a:r>
          </a:p>
          <a:p>
            <a:r>
              <a:t> Building an AI-ready culture</a:t>
            </a:r>
          </a:p>
          <a:p>
            <a:r>
              <a:t> Responsible AI, risk, and governance</a:t>
            </a:r>
          </a:p>
          <a:p>
            <a:r>
              <a:t> Planning, investing, and no-code enablement — then the pitch</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Ground Rules</a:t>
            </a:r>
          </a:p>
        </p:txBody>
      </p:sp>
      <p:sp>
        <p:nvSpPr>
          <p:cNvPr id="3" name="Content Placeholder 2"/>
          <p:cNvSpPr>
            <a:spLocks noGrp="1"/>
          </p:cNvSpPr>
          <p:nvPr>
            <p:ph idx="1"/>
          </p:nvPr>
        </p:nvSpPr>
        <p:spPr/>
        <p:txBody>
          <a:bodyPr/>
          <a:lstStyle/>
          <a:p>
            <a:r>
              <a:rPr b="1"/>
              <a:t> Ask the question when you have it.</a:t>
            </a:r>
            <a:r>
              <a:t> Not at the end.</a:t>
            </a:r>
          </a:p>
          <a:p>
            <a:r>
              <a:rPr b="1"/>
              <a:t> The parking lot is real.</a:t>
            </a:r>
            <a:r>
              <a:t> Anything organization-specific goes on the board and gets answered before we close.</a:t>
            </a:r>
          </a:p>
          <a:p>
            <a:r>
              <a:rPr b="1"/>
              <a:t> No stupid questions, and no stupid answers.</a:t>
            </a:r>
            <a:r>
              <a:t> If I don't know, I will say so.</a:t>
            </a:r>
          </a:p>
          <a:p>
            <a:r>
              <a:rPr b="1"/>
              <a:t> Nothing sensitive goes into a public AI tool during this class.</a:t>
            </a:r>
            <a:r>
              <a:t> We will talk about exactly why in Module 7.</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About You And Me</a:t>
            </a:r>
          </a:p>
        </p:txBody>
      </p:sp>
      <p:sp>
        <p:nvSpPr>
          <p:cNvPr id="3" name="Content Placeholder 2"/>
          <p:cNvSpPr>
            <a:spLocks noGrp="1"/>
          </p:cNvSpPr>
          <p:nvPr>
            <p:ph idx="1"/>
          </p:nvPr>
        </p:nvSpPr>
        <p:spPr/>
        <p:txBody>
          <a:bodyPr/>
          <a:lstStyle/>
          <a:p>
            <a:r>
              <a:t> About the instructor</a:t>
            </a:r>
          </a:p>
          <a:p>
            <a:r>
              <a:t> About you</a:t>
            </a:r>
          </a:p>
          <a:p>
            <a:pPr lvl="1"/>
            <a:r>
              <a:t> Your name and what you're responsible for</a:t>
            </a:r>
          </a:p>
          <a:p>
            <a:pPr lvl="1"/>
            <a:r>
              <a:t> How much of your week is spent on decisions vs. execution</a:t>
            </a:r>
          </a:p>
          <a:p>
            <a:pPr lvl="1"/>
            <a:r>
              <a:t> Your familiarity with AI (1–4; 1 = new, 4 = I've shipped something)</a:t>
            </a:r>
          </a:p>
          <a:p>
            <a:pPr lvl="1"/>
            <a:r>
              <a:t> What you personally want to walk out with</a:t>
            </a:r>
          </a:p>
          <a:p>
            <a:pPr lvl="1"/>
            <a:r>
              <a:t> Something non-technical about you</a:t>
            </a: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pic>
        <p:nvPicPr>
          <p:cNvPr id="5" name="Picture 4" descr="hiking-3.jpg"/>
          <p:cNvPicPr>
            <a:picLocks noChangeAspect="1"/>
          </p:cNvPicPr>
          <p:nvPr/>
        </p:nvPicPr>
        <p:blipFill>
          <a:blip r:embed="rId3"/>
          <a:stretch>
            <a:fillRect/>
          </a:stretch>
        </p:blipFill>
        <p:spPr>
          <a:xfrm>
            <a:off x="1545837" y="5038048"/>
            <a:ext cx="3140463" cy="2767121"/>
          </a:xfrm>
          <a:prstGeom prst="rect">
            <a:avLst/>
          </a:prstGeom>
        </p:spPr>
      </p:pic>
      <p:pic>
        <p:nvPicPr>
          <p:cNvPr id="6" name="Picture 5" descr="ice-cream-3.png"/>
          <p:cNvPicPr>
            <a:picLocks noChangeAspect="1"/>
          </p:cNvPicPr>
          <p:nvPr/>
        </p:nvPicPr>
        <p:blipFill>
          <a:blip r:embed="rId4"/>
          <a:stretch>
            <a:fillRect/>
          </a:stretch>
        </p:blipFill>
        <p:spPr>
          <a:xfrm>
            <a:off x="5078972" y="4988262"/>
            <a:ext cx="3666006" cy="1993391"/>
          </a:xfrm>
          <a:prstGeom prst="rect">
            <a:avLst/>
          </a:prstGeom>
        </p:spPr>
      </p:pic>
      <p:pic>
        <p:nvPicPr>
          <p:cNvPr id="7" name="Picture 6" descr="biking-1.jpg"/>
          <p:cNvPicPr>
            <a:picLocks noChangeAspect="1"/>
          </p:cNvPicPr>
          <p:nvPr/>
        </p:nvPicPr>
        <p:blipFill>
          <a:blip r:embed="rId5"/>
          <a:stretch>
            <a:fillRect/>
          </a:stretch>
        </p:blipFill>
        <p:spPr>
          <a:xfrm>
            <a:off x="15831312" y="4864608"/>
            <a:ext cx="2192730" cy="199339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Are You On This Curve?</a:t>
            </a:r>
          </a:p>
        </p:txBody>
      </p:sp>
      <p:sp>
        <p:nvSpPr>
          <p:cNvPr id="3" name="Content Placeholder 2"/>
          <p:cNvSpPr>
            <a:spLocks noGrp="1"/>
          </p:cNvSpPr>
          <p:nvPr>
            <p:ph idx="1"/>
          </p:nvPr>
        </p:nvSpPr>
        <p:spPr/>
        <p:txBody>
          <a:bodyPr/>
          <a:lstStyle/>
          <a:p>
            <a:r>
              <a:t> Quick poll, hands up:</a:t>
            </a:r>
          </a:p>
          <a:p>
            <a:r>
              <a:t> I have never used an AI assistant</a:t>
            </a:r>
          </a:p>
          <a:p>
            <a:r>
              <a:t> I've tried it a few times</a:t>
            </a:r>
          </a:p>
          <a:p>
            <a:r>
              <a:t> I use it weekly</a:t>
            </a:r>
          </a:p>
          <a:p>
            <a:r>
              <a:t> I use it daily and would miss it</a:t>
            </a:r>
          </a:p>
          <a:p>
            <a:r>
              <a:t> My team has already put something into production</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rPr b="1"/>
              <a:t>Let's Begin
</a:t>
            </a:r>
          </a:p>
        </p:txBody>
      </p:sp>
      <p:sp>
        <p:nvSpPr>
          <p:cNvPr id="3" name="Title 2"/>
          <p:cNvSpPr>
            <a:spLocks noGrp="1"/>
          </p:cNvSpPr>
          <p:nvPr>
            <p:ph type="ctrTitle" sz="quarter"/>
          </p:nvPr>
        </p:nvSpPr>
        <p:spPr/>
        <p:txBody>
          <a:bodyPr wrap="square">
            <a:noAutofit/>
          </a:bodyPr>
          <a:lstStyle/>
          <a:p>
            <a:r>
              <a:rPr sz="4200" b="1" i="0">
                <a:latin typeface="Times New Roman"/>
              </a:rPr>
              <a:t>Let's Begin</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theme/theme1.xml><?xml version="1.0" encoding="utf-8"?>
<a:theme xmlns:a="http://schemas.openxmlformats.org/drawingml/2006/main" name="LPc_New">
  <a:themeElements>
    <a:clrScheme name="LPc_New 7">
      <a:dk1>
        <a:srgbClr val="000000"/>
      </a:dk1>
      <a:lt1>
        <a:srgbClr val="FFFFFF"/>
      </a:lt1>
      <a:dk2>
        <a:srgbClr val="CCECFF"/>
      </a:dk2>
      <a:lt2>
        <a:srgbClr val="003399"/>
      </a:lt2>
      <a:accent1>
        <a:srgbClr val="0794FF"/>
      </a:accent1>
      <a:accent2>
        <a:srgbClr val="800080"/>
      </a:accent2>
      <a:accent3>
        <a:srgbClr val="E2F4FF"/>
      </a:accent3>
      <a:accent4>
        <a:srgbClr val="DADADA"/>
      </a:accent4>
      <a:accent5>
        <a:srgbClr val="AAC8FF"/>
      </a:accent5>
      <a:accent6>
        <a:srgbClr val="730073"/>
      </a:accent6>
      <a:hlink>
        <a:srgbClr val="FF0000"/>
      </a:hlink>
      <a:folHlink>
        <a:srgbClr val="FFFFD2"/>
      </a:folHlink>
    </a:clrScheme>
    <a:fontScheme name="LPc_New">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30000"/>
          </a:spcBef>
          <a:spcAft>
            <a:spcPct val="0"/>
          </a:spcAft>
          <a:buClrTx/>
          <a:buSzTx/>
          <a:buFontTx/>
          <a:buNone/>
          <a:tabLst/>
          <a:defRPr kumimoji="0" lang="en-US" sz="1000" b="0" i="0" u="none" strike="noStrike" cap="none" normalizeH="0" baseline="0">
            <a:ln>
              <a:noFill/>
            </a:ln>
            <a:solidFill>
              <a:schemeClr val="tx1"/>
            </a:solidFill>
            <a:effectLst/>
            <a:latin typeface="Garamond" pitchFamily="-110"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30000"/>
          </a:spcBef>
          <a:spcAft>
            <a:spcPct val="0"/>
          </a:spcAft>
          <a:buClrTx/>
          <a:buSzTx/>
          <a:buFontTx/>
          <a:buNone/>
          <a:tabLst/>
          <a:defRPr kumimoji="0" lang="en-US" sz="1000" b="0" i="0" u="none" strike="noStrike" cap="none" normalizeH="0" baseline="0">
            <a:ln>
              <a:noFill/>
            </a:ln>
            <a:solidFill>
              <a:schemeClr val="tx1"/>
            </a:solidFill>
            <a:effectLst/>
            <a:latin typeface="Garamond" pitchFamily="-110" charset="0"/>
          </a:defRPr>
        </a:defPPr>
      </a:lstStyle>
    </a:lnDef>
  </a:objectDefaults>
  <a:extraClrSchemeLst>
    <a:extraClrScheme>
      <a:clrScheme name="LPc_New 1">
        <a:dk1>
          <a:srgbClr val="000099"/>
        </a:dk1>
        <a:lt1>
          <a:srgbClr val="FFFFFF"/>
        </a:lt1>
        <a:dk2>
          <a:srgbClr val="0000FF"/>
        </a:dk2>
        <a:lt2>
          <a:srgbClr val="FFFF00"/>
        </a:lt2>
        <a:accent1>
          <a:srgbClr val="FF6633"/>
        </a:accent1>
        <a:accent2>
          <a:srgbClr val="FF00FF"/>
        </a:accent2>
        <a:accent3>
          <a:srgbClr val="AAAAFF"/>
        </a:accent3>
        <a:accent4>
          <a:srgbClr val="DADADA"/>
        </a:accent4>
        <a:accent5>
          <a:srgbClr val="FFB8AD"/>
        </a:accent5>
        <a:accent6>
          <a:srgbClr val="E700E7"/>
        </a:accent6>
        <a:hlink>
          <a:srgbClr val="FF0000"/>
        </a:hlink>
        <a:folHlink>
          <a:srgbClr val="808080"/>
        </a:folHlink>
      </a:clrScheme>
      <a:clrMap bg1="dk2" tx1="lt1" bg2="dk1" tx2="lt2" accent1="accent1" accent2="accent2" accent3="accent3" accent4="accent4" accent5="accent5" accent6="accent6" hlink="hlink" folHlink="folHlink"/>
    </a:extraClrScheme>
    <a:extraClrScheme>
      <a:clrScheme name="LPc_New 2">
        <a:dk1>
          <a:srgbClr val="000066"/>
        </a:dk1>
        <a:lt1>
          <a:srgbClr val="CCECFF"/>
        </a:lt1>
        <a:dk2>
          <a:srgbClr val="000080"/>
        </a:dk2>
        <a:lt2>
          <a:srgbClr val="000000"/>
        </a:lt2>
        <a:accent1>
          <a:srgbClr val="9999FF"/>
        </a:accent1>
        <a:accent2>
          <a:srgbClr val="CC00FF"/>
        </a:accent2>
        <a:accent3>
          <a:srgbClr val="E2F4FF"/>
        </a:accent3>
        <a:accent4>
          <a:srgbClr val="000056"/>
        </a:accent4>
        <a:accent5>
          <a:srgbClr val="CACAFF"/>
        </a:accent5>
        <a:accent6>
          <a:srgbClr val="B900E7"/>
        </a:accent6>
        <a:hlink>
          <a:srgbClr val="00CC99"/>
        </a:hlink>
        <a:folHlink>
          <a:srgbClr val="0099CC"/>
        </a:folHlink>
      </a:clrScheme>
      <a:clrMap bg1="lt1" tx1="dk1" bg2="lt2" tx2="dk2" accent1="accent1" accent2="accent2" accent3="accent3" accent4="accent4" accent5="accent5" accent6="accent6" hlink="hlink" folHlink="folHlink"/>
    </a:extraClrScheme>
    <a:extraClrScheme>
      <a:clrScheme name="LPc_New 3">
        <a:dk1>
          <a:srgbClr val="000000"/>
        </a:dk1>
        <a:lt1>
          <a:srgbClr val="FFFFFF"/>
        </a:lt1>
        <a:dk2>
          <a:srgbClr val="000000"/>
        </a:dk2>
        <a:lt2>
          <a:srgbClr val="393939"/>
        </a:lt2>
        <a:accent1>
          <a:srgbClr val="B2B2B2"/>
        </a:accent1>
        <a:accent2>
          <a:srgbClr val="868686"/>
        </a:accent2>
        <a:accent3>
          <a:srgbClr val="FFFFFF"/>
        </a:accent3>
        <a:accent4>
          <a:srgbClr val="000000"/>
        </a:accent4>
        <a:accent5>
          <a:srgbClr val="D5D5D5"/>
        </a:accent5>
        <a:accent6>
          <a:srgbClr val="797979"/>
        </a:accent6>
        <a:hlink>
          <a:srgbClr val="5F5F5F"/>
        </a:hlink>
        <a:folHlink>
          <a:srgbClr val="DDDDDD"/>
        </a:folHlink>
      </a:clrScheme>
      <a:clrMap bg1="lt1" tx1="dk1" bg2="lt2" tx2="dk2" accent1="accent1" accent2="accent2" accent3="accent3" accent4="accent4" accent5="accent5" accent6="accent6" hlink="hlink" folHlink="folHlink"/>
    </a:extraClrScheme>
    <a:extraClrScheme>
      <a:clrScheme name="LPc_New 4">
        <a:dk1>
          <a:srgbClr val="000000"/>
        </a:dk1>
        <a:lt1>
          <a:srgbClr val="FFFFFF"/>
        </a:lt1>
        <a:dk2>
          <a:srgbClr val="660033"/>
        </a:dk2>
        <a:lt2>
          <a:srgbClr val="FFFF66"/>
        </a:lt2>
        <a:accent1>
          <a:srgbClr val="FF0033"/>
        </a:accent1>
        <a:accent2>
          <a:srgbClr val="CC6600"/>
        </a:accent2>
        <a:accent3>
          <a:srgbClr val="B8AAAD"/>
        </a:accent3>
        <a:accent4>
          <a:srgbClr val="DADADA"/>
        </a:accent4>
        <a:accent5>
          <a:srgbClr val="FFAAAD"/>
        </a:accent5>
        <a:accent6>
          <a:srgbClr val="B95C00"/>
        </a:accent6>
        <a:hlink>
          <a:srgbClr val="999933"/>
        </a:hlink>
        <a:folHlink>
          <a:srgbClr val="A50021"/>
        </a:folHlink>
      </a:clrScheme>
      <a:clrMap bg1="dk2" tx1="lt1" bg2="dk1" tx2="lt2" accent1="accent1" accent2="accent2" accent3="accent3" accent4="accent4" accent5="accent5" accent6="accent6" hlink="hlink" folHlink="folHlink"/>
    </a:extraClrScheme>
    <a:extraClrScheme>
      <a:clrScheme name="LPc_New 5">
        <a:dk1>
          <a:srgbClr val="000000"/>
        </a:dk1>
        <a:lt1>
          <a:srgbClr val="FFFFFF"/>
        </a:lt1>
        <a:dk2>
          <a:srgbClr val="CCECFF"/>
        </a:dk2>
        <a:lt2>
          <a:srgbClr val="000080"/>
        </a:lt2>
        <a:accent1>
          <a:srgbClr val="9999FF"/>
        </a:accent1>
        <a:accent2>
          <a:srgbClr val="CC00FF"/>
        </a:accent2>
        <a:accent3>
          <a:srgbClr val="E2F4FF"/>
        </a:accent3>
        <a:accent4>
          <a:srgbClr val="DADADA"/>
        </a:accent4>
        <a:accent5>
          <a:srgbClr val="CACAFF"/>
        </a:accent5>
        <a:accent6>
          <a:srgbClr val="B900E7"/>
        </a:accent6>
        <a:hlink>
          <a:srgbClr val="00CC99"/>
        </a:hlink>
        <a:folHlink>
          <a:srgbClr val="0099CC"/>
        </a:folHlink>
      </a:clrScheme>
      <a:clrMap bg1="dk2" tx1="lt1" bg2="dk1" tx2="lt2" accent1="accent1" accent2="accent2" accent3="accent3" accent4="accent4" accent5="accent5" accent6="accent6" hlink="hlink" folHlink="folHlink"/>
    </a:extraClrScheme>
    <a:extraClrScheme>
      <a:clrScheme name="LPc_New 6">
        <a:dk1>
          <a:srgbClr val="000000"/>
        </a:dk1>
        <a:lt1>
          <a:srgbClr val="FFFFFF"/>
        </a:lt1>
        <a:dk2>
          <a:srgbClr val="CCECFF"/>
        </a:dk2>
        <a:lt2>
          <a:srgbClr val="003399"/>
        </a:lt2>
        <a:accent1>
          <a:srgbClr val="9999FF"/>
        </a:accent1>
        <a:accent2>
          <a:srgbClr val="800080"/>
        </a:accent2>
        <a:accent3>
          <a:srgbClr val="E2F4FF"/>
        </a:accent3>
        <a:accent4>
          <a:srgbClr val="DADADA"/>
        </a:accent4>
        <a:accent5>
          <a:srgbClr val="CACAFF"/>
        </a:accent5>
        <a:accent6>
          <a:srgbClr val="730073"/>
        </a:accent6>
        <a:hlink>
          <a:srgbClr val="FF0000"/>
        </a:hlink>
        <a:folHlink>
          <a:srgbClr val="FFFFD2"/>
        </a:folHlink>
      </a:clrScheme>
      <a:clrMap bg1="dk2" tx1="lt1" bg2="dk1" tx2="lt2" accent1="accent1" accent2="accent2" accent3="accent3" accent4="accent4" accent5="accent5" accent6="accent6" hlink="hlink" folHlink="folHlink"/>
    </a:extraClrScheme>
    <a:extraClrScheme>
      <a:clrScheme name="LPc_New 7">
        <a:dk1>
          <a:srgbClr val="000000"/>
        </a:dk1>
        <a:lt1>
          <a:srgbClr val="FFFFFF"/>
        </a:lt1>
        <a:dk2>
          <a:srgbClr val="CCECFF"/>
        </a:dk2>
        <a:lt2>
          <a:srgbClr val="003399"/>
        </a:lt2>
        <a:accent1>
          <a:srgbClr val="0794FF"/>
        </a:accent1>
        <a:accent2>
          <a:srgbClr val="800080"/>
        </a:accent2>
        <a:accent3>
          <a:srgbClr val="E2F4FF"/>
        </a:accent3>
        <a:accent4>
          <a:srgbClr val="DADADA"/>
        </a:accent4>
        <a:accent5>
          <a:srgbClr val="AAC8FF"/>
        </a:accent5>
        <a:accent6>
          <a:srgbClr val="730073"/>
        </a:accent6>
        <a:hlink>
          <a:srgbClr val="FF0000"/>
        </a:hlink>
        <a:folHlink>
          <a:srgbClr val="FFFFD2"/>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378293</TotalTime>
  <Words>926</Words>
  <Application>Microsoft Macintosh PowerPoint</Application>
  <PresentationFormat>Custom</PresentationFormat>
  <Paragraphs>121</Paragraphs>
  <Slides>12</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Arial Bold</vt:lpstr>
      <vt:lpstr>Garamond</vt:lpstr>
      <vt:lpstr>Monotype Sorts</vt:lpstr>
      <vt:lpstr>Times New Roman</vt:lpstr>
      <vt:lpstr>Verdana</vt:lpstr>
      <vt:lpstr>Wingdings</vt:lpstr>
      <vt:lpstr>LPc_New</vt:lpstr>
      <vt:lpstr>AI for Business Leaders</vt:lpstr>
      <vt:lpstr>Two Days, One Question</vt:lpstr>
      <vt:lpstr>Pre-requisites and Expectations</vt:lpstr>
      <vt:lpstr>Our Teaching Philosophy</vt:lpstr>
      <vt:lpstr>Analogy: Learning To Fly...</vt:lpstr>
      <vt:lpstr>+ Flight Time</vt:lpstr>
      <vt:lpstr>What You Will Walk Out With</vt:lpstr>
      <vt:lpstr>The Shape of the Two Days</vt:lpstr>
      <vt:lpstr>Ground Rules</vt:lpstr>
      <vt:lpstr>About You And Me</vt:lpstr>
      <vt:lpstr>Where Are You On This Curve?</vt:lpstr>
      <vt:lpstr>Let's Begin</vt:lpstr>
    </vt:vector>
  </TitlesOfParts>
  <Company>Elephant Scale LLC &amp; LearningPatterns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Spark</dc:title>
  <dc:subject>Spark</dc:subject>
  <dc:creator>Elephant Scale</dc:creator>
  <cp:lastModifiedBy>Brent Borgundvaag</cp:lastModifiedBy>
  <cp:revision>4136</cp:revision>
  <cp:lastPrinted>2010-01-03T02:41:41Z</cp:lastPrinted>
  <dcterms:created xsi:type="dcterms:W3CDTF">2010-07-13T15:22:01Z</dcterms:created>
  <dcterms:modified xsi:type="dcterms:W3CDTF">2026-09-18T22:43:50Z</dcterms:modified>
</cp:coreProperties>
</file>