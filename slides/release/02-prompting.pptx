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200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the module where skepticism turns around. Do not rush it. Everything in Day 2 — use cases, business cases, adoption — is easier once people have personally felt the difference.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Ask: how many of you have delegated "figuring out AI" to someone else? Then ask how that's going.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These two principles are the backbone of our developer course as well. They hold at every level of sophistication.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Plant the security connection here. It pays off on Day 2.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Demo this live with a real (non-sensitive) set of meeting notes. It gets an audible reaction every time.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tactic is the direct antidote to a whole class of hallucination. Emphasize it.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a genuinely important slide for leaders — they will be tempted to use AI to "check" work, which is exactly the case where sycophancy bites.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Live-demo the iteration loop. The product-description example from our developer course works well: first draft is too long and too fluffy, then constrain length, then name the audience, then demand a table of specifications. Four rounds, thirty seconds, visibly better each time.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taxonomy comes straight from our developer course, where it's taught as code. It survives the translation to a chat window perfectly.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Demonstrate the same document summarized twice for two different audiences. The outputs share almost no sentences. That contrast makes the point better than any explanation.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Point 4 is the one leaders love — the signal that would be lost in a normal aggregation.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Make the caution stick. Counting is the thing language models are worst at, and it is the output leaders are most tempted to put on a slide.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 angry-email transform gets the biggest laugh and is genuinely one of the most-used patterns in real leadership work.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example comes from our developer course and lands equally well here. If the organization has any international footprint, ask where this would apply.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the bridge into Module 3. End Module 2 having built genuine enthusiasm, then immediately install the discipline.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"Start a new chat" solves an astonishing share of "the AI got worse" complaints.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State this firmly. Participants</a:t>
            </a:r>
            <a:r>
              <a:rPr i="1"/>
              <a:t> will</a:t>
            </a:r>
            <a:r>
              <a:t> be tempted to paste a real internal document into the exercise because it's more interesting. Have sample documents ready so they don't need to.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Materials, sample documents, and the facilitator script are in</a:t>
            </a:r>
            <a:r>
              <a:rPr>
                <a:latin typeface="Courier New"/>
              </a:rPr>
              <a:t> exercises/02-prompting-workshop.md</a:t>
            </a:r>
            <a:r>
              <a:t> . Pair participants so every pair has at least one working account; there is a paper-based variant for pairs with no access.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 "I CHECK" line is the whole pedagogical point. It converts an enthusiasm exercise into a discipline exercise, and it sets up Module 3.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Someone always catches an error in the inference counts. Let the room find it rather than pointing it out — it lands ten times harder.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 sz="2800"/>
            </a:pPr>
            <a:r>
              <a:t>Principle 1 — Clear and Specific</a:t>
            </a:r>
          </a:p>
          <a:p>
            <a:r>
              <a:t>Principle 2 — Give It Time to Think</a:t>
            </a:r>
          </a:p>
          <a:p>
            <a:r>
              <a:t>The Four Workhorse Patterns</a:t>
            </a:r>
          </a:p>
          <a:p>
            <a:r>
              <a:t>Two More Things That Matter</a:t>
            </a:r>
          </a:p>
          <a:p>
            <a:r>
              <a:t>Exercise 2 — The Prompting Workshop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Working With AI: Prompting as a Leadership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Module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Two people, same tool, same day. One says "it's a toy." The other has cut four hours a week out of their job.</a:t>
            </a:r>
          </a:p>
          <a:p>
            <a:r>
              <a:t> The difference is almost never the model. It is</a:t>
            </a:r>
            <a:r>
              <a:rPr b="1"/>
              <a:t> how they ask.</a:t>
            </a:r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31136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same model, given a better prompt, goes from useless to production-ready.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 could delegate this. You shouldn't. Three reasons:</a:t>
            </a:r>
          </a:p>
          <a:p>
            <a:r>
              <a:rPr b="1"/>
              <a:t> You cannot evaluate what you have never done.</a:t>
            </a:r>
            <a:r>
              <a:t> Every AI proposal you see for the next five years is prompting underneath.</a:t>
            </a:r>
          </a:p>
          <a:p>
            <a:r>
              <a:rPr b="1"/>
              <a:t> Your own work is full of this.</a:t>
            </a:r>
            <a:r>
              <a:t> Briefings, summaries, drafts, reviews, analysis. You are the use case.</a:t>
            </a:r>
          </a:p>
          <a:p>
            <a:r>
              <a:rPr b="1"/>
              <a:t> Adoption follows the leader.</a:t>
            </a:r>
            <a:r>
              <a:t> A leader who uses the tool badly, or not at all, cannot credibly ask anyone else 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Prompt Really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Not "the question." The whole package you hand the model:</a:t>
            </a:r>
          </a:p>
          <a:p>
            <a:r>
              <a:rPr b="1"/>
              <a:t> Role</a:t>
            </a:r>
            <a:r>
              <a:t> — who it should act as</a:t>
            </a:r>
          </a:p>
          <a:p>
            <a:r>
              <a:rPr b="1"/>
              <a:t> Task</a:t>
            </a:r>
            <a:r>
              <a:t> — what you want done, specifically</a:t>
            </a:r>
          </a:p>
          <a:p>
            <a:r>
              <a:rPr b="1"/>
              <a:t> Context</a:t>
            </a:r>
            <a:r>
              <a:t> — the material to work from</a:t>
            </a:r>
          </a:p>
          <a:p>
            <a:r>
              <a:rPr b="1"/>
              <a:t> Constraints</a:t>
            </a:r>
            <a:r>
              <a:t> — length, format, tone, audience, what to leave out</a:t>
            </a:r>
          </a:p>
          <a:p>
            <a:r>
              <a:rPr b="1"/>
              <a:t> Examples</a:t>
            </a:r>
            <a:r>
              <a:t> — one or two demonstrations of good output</a:t>
            </a:r>
          </a:p>
          <a:p>
            <a:r>
              <a:t> Most people type the task and nothing else, then conclude the tool is mediocre.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Principles Carry Almost Everything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 Everything else in this module is a tactic under one of those two.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12533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Principle 1 — Write clear and specific instructions.</a:t>
            </a:r>
            <a:endParaRPr lang="en-US" sz="1800" i="1" dirty="0">
              <a:solidFill>
                <a:srgbClr val="333333"/>
              </a:solidFill>
            </a:endParaRPr>
          </a:p>
          <a:p>
            <a:pPr algn="ctr"/>
            <a:r>
              <a:rPr sz="1800" i="1" dirty="0">
                <a:solidFill>
                  <a:srgbClr val="333333"/>
                </a:solidFill>
              </a:rPr>
              <a:t>Principle 2 — Give the model time to think.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"Clear" Is Not "Short"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single most common mistake: writing a</a:t>
            </a:r>
            <a:r>
              <a:rPr i="1"/>
              <a:t> brief</a:t>
            </a:r>
            <a:r>
              <a:t> prompt and thinking that's a</a:t>
            </a:r>
            <a:r>
              <a:rPr i="1"/>
              <a:t> clear</a:t>
            </a:r>
            <a:r>
              <a:t> one.</a:t>
            </a:r>
          </a:p>
          <a:p>
            <a:r>
              <a:t> A longer prompt with role, context, and constraints beats a terse one nearly every time.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3606586"/>
            <a:ext cx="7507224" cy="175564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model cannot read your mind. Every ambiguity you leave is a decision it makes for you — and it will make the average choice, not yours.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 sz="2800"/>
            </a:pPr>
            <a:r>
              <a:rPr b="1"/>
              <a:t>Principle 1 — Clear and Specific
</a:t>
            </a:r>
            <a:r>
              <a:t>Principle 2 — Give It Time to Think
The Four Workhorse Patterns
Two More Things That Matter
Exercise 2 — The Prompting Workshop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Principle 1 — Clear and Specific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Tactic 1 — Use Delimiters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Separate your</a:t>
            </a:r>
            <a:r>
              <a:rPr i="1" dirty="0"/>
              <a:t> instructions</a:t>
            </a:r>
            <a:r>
              <a:rPr dirty="0"/>
              <a:t> from your</a:t>
            </a:r>
            <a:r>
              <a:rPr i="1" dirty="0"/>
              <a:t> material</a:t>
            </a:r>
            <a:r>
              <a:rPr dirty="0"/>
              <a:t> . Fence the material with quotes, triple backticks, or tags.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 Why it matters to you:</a:t>
            </a:r>
            <a:r>
              <a:rPr dirty="0"/>
              <a:t> without a boundary, the model can't tell your instruction from the text — and if the pasted text happens to contain instructions of its own, it may follow them. That is the seed of prompt injection, which we cover in Module 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2291803"/>
            <a:ext cx="9258300" cy="13647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Tactic 2 — Ask for a Structured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Don't accept prose when you want data.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 Why it matters to you:</a:t>
            </a:r>
            <a:r>
              <a:rPr dirty="0"/>
              <a:t> structured output is what makes AI output</a:t>
            </a:r>
            <a:r>
              <a:rPr i="1" dirty="0"/>
              <a:t> usable</a:t>
            </a:r>
            <a:r>
              <a:rPr dirty="0"/>
              <a:t> — it can be pasted into a tracker, compared across documents, reviewed at a glance. "Give me a table with these exact columns" is the highest-value nine words in this course.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" y="2236273"/>
            <a:ext cx="9348788" cy="10998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Tactic 3 — Ask It to Check Conditions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 Why it matters to you:</a:t>
            </a:r>
            <a:r>
              <a:rPr dirty="0"/>
              <a:t> this is how you stop the model from inventing structure that isn't there. You have given it a legitimate way to say</a:t>
            </a:r>
            <a:r>
              <a:rPr i="1" dirty="0"/>
              <a:t> nothing is here</a:t>
            </a:r>
            <a:r>
              <a:rPr dirty="0"/>
              <a:t> — otherwise it will helpfully make something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1622811"/>
            <a:ext cx="9353550" cy="17670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Tactic 4 — Give It an Example (Few-Shot)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 Why it matters to you:</a:t>
            </a:r>
            <a:r>
              <a:rPr dirty="0"/>
              <a:t> describing a tone is hard; showing it is easy. One good example beats a paragraph of instructions about style. This is how organizations get consistent output across many people.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3043"/>
            <a:ext cx="9372600" cy="20778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 sz="2800"/>
            </a:pPr>
            <a:r>
              <a:t>Principle 1 — Clear and Specific
</a:t>
            </a:r>
            <a:r>
              <a:rPr b="1"/>
              <a:t>Principle 2 — Give It Time to Think
</a:t>
            </a:r>
            <a:r>
              <a:t>The Four Workhorse Patterns
Two More Things That Matter
Exercise 2 — The Prompting Workshop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Principle 2 — Give It Time to Think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Tactic 5 — Ask for Steps, in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Instead of:</a:t>
            </a:r>
            <a:r>
              <a:rPr i="1" dirty="0"/>
              <a:t> "Is this proposal sound?"</a:t>
            </a:r>
          </a:p>
          <a:p>
            <a:endParaRPr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i="1" dirty="0"/>
          </a:p>
          <a:p>
            <a:endParaRPr i="1" dirty="0"/>
          </a:p>
          <a:p>
            <a:r>
              <a:rPr b="1" dirty="0"/>
              <a:t> Why it matters to you:</a:t>
            </a:r>
            <a:r>
              <a:rPr dirty="0"/>
              <a:t> asking for a verdict first gets you a confident guess. Asking for the work first gets you reasoning you can audit — and you can check step 3 yourself.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0815"/>
            <a:ext cx="9372600" cy="1770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Tactic 6 — Make It Do the Work Before It Judges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 Why it matters to you:</a:t>
            </a:r>
            <a:r>
              <a:rPr dirty="0"/>
              <a:t> models are agreeable by default. Ask "is this right?" and you will often be told yes. Force independent work first and the agreement bias drops sharply.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" y="1289219"/>
            <a:ext cx="9334500" cy="15516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Tactic 7 — Iterate. Your First Prompt Is a Draft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Nobody writes the right prompt first. The professional loop:</a:t>
            </a:r>
          </a:p>
          <a:p>
            <a:r>
              <a:t> Write the obvious prompt</a:t>
            </a:r>
          </a:p>
          <a:p>
            <a:r>
              <a:t> Look at what's wrong with the output —</a:t>
            </a:r>
            <a:r>
              <a:rPr b="1"/>
              <a:t> specifically</a:t>
            </a:r>
          </a:p>
          <a:p>
            <a:r>
              <a:t> Add the missing instruction</a:t>
            </a:r>
          </a:p>
          <a:p>
            <a:r>
              <a:t> Repeat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038" y="3615531"/>
            <a:ext cx="7507224" cy="307238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"Too long" → add a word limit. "Wrong audience" → name the audience. "Missing the technical detail" → say which details matter. "I can't use this format" → specify the format.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 sz="2800"/>
            </a:pPr>
            <a:r>
              <a:t>Principle 1 — Clear and Specific
Principle 2 — Give It Time to Think
</a:t>
            </a:r>
            <a:r>
              <a:rPr b="1"/>
              <a:t>The Four Workhorse Patterns
</a:t>
            </a:r>
            <a:r>
              <a:t>Two More Things That Matter
Exercise 2 — The Prompting Workshop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The Four Workhorse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Almost All Business Value Is One of Four Shapes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556" y="1862931"/>
            <a:ext cx="8902700" cy="6828450"/>
          </a:xfrm>
        </p:spPr>
        <p:txBody>
          <a:bodyPr/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 Learn these four and you have covered most of what leaders and their teams actually do with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619210"/>
              </p:ext>
            </p:extLst>
          </p:nvPr>
        </p:nvGraphicFramePr>
        <p:xfrm>
          <a:off x="237744" y="1253331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269">
                <a:tc>
                  <a:txBody>
                    <a:bodyPr/>
                    <a:lstStyle/>
                    <a:p>
                      <a:r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You give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You get 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Summarize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Something 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Something short, for a 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Infer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Unstructured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Themes, sentiment, categories, extracted facts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 dirty="0"/>
                        <a:t>Transform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Content in one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same content in another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Expand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little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 lot, in the right shape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1 — Summarize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The obvious one, done badly by almost everyone.</a:t>
            </a:r>
          </a:p>
          <a:p>
            <a:r>
              <a:rPr dirty="0"/>
              <a:t> Weak:</a:t>
            </a:r>
            <a:r>
              <a:rPr i="1" dirty="0"/>
              <a:t> "Summarize this report."</a:t>
            </a:r>
          </a:p>
          <a:p>
            <a:r>
              <a:rPr dirty="0"/>
              <a:t> Strong: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 The lesson:</a:t>
            </a:r>
            <a:r>
              <a:rPr dirty="0"/>
              <a:t> a summary is not a shrinking operation. It is a</a:t>
            </a:r>
            <a:r>
              <a:rPr i="1" dirty="0"/>
              <a:t> selection</a:t>
            </a:r>
            <a:r>
              <a:rPr dirty="0"/>
              <a:t> operation, and only you know what to select for.</a:t>
            </a:r>
            <a:r>
              <a:rPr b="1" dirty="0"/>
              <a:t> Summarize for a purpose and an audience.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82131"/>
            <a:ext cx="9087516" cy="11469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1 — Summarize: Where It Pays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90-page report → a one-page decision brief</a:t>
            </a:r>
          </a:p>
          <a:p>
            <a:r>
              <a:t> A week of meeting transcripts → what actually got decided, and by whom</a:t>
            </a:r>
          </a:p>
          <a:p>
            <a:r>
              <a:t> Fifty status updates → the three things that are actually slipping</a:t>
            </a:r>
          </a:p>
          <a:p>
            <a:r>
              <a:t> A regulation or standard → what changes for</a:t>
            </a:r>
            <a:r>
              <a:rPr i="1"/>
              <a:t> our</a:t>
            </a:r>
            <a:r>
              <a:t> department specifically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0662" y="4682331"/>
            <a:ext cx="8351838" cy="106680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Ask for what you would have asked a smart analyst for. That's the prompt.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2 — Infer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Pulling structure out of unstructured text.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2617791"/>
            <a:ext cx="9258300" cy="25471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2 — Infer: Where It Pays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Free-text survey responses → themes, without three weeks of coding them by hand</a:t>
            </a:r>
          </a:p>
          <a:p>
            <a:r>
              <a:t> Incident and defect reports → recurring causes across years of records</a:t>
            </a:r>
          </a:p>
          <a:p>
            <a:r>
              <a:t> Customer or stakeholder correspondence → what people are actually asking for</a:t>
            </a:r>
          </a:p>
          <a:p>
            <a:r>
              <a:t> Long email threads → who committed to what</a:t>
            </a:r>
          </a:p>
          <a:p>
            <a:r>
              <a:rPr b="1"/>
              <a:t> Caution:</a:t>
            </a:r>
            <a:r>
              <a:t> this pattern produces numbers ("14 comments mention scheduling"). Those numbers</a:t>
            </a:r>
            <a:r>
              <a:rPr i="1"/>
              <a:t> feel</a:t>
            </a:r>
            <a:r>
              <a:t> like data. Spot-check them. This is exactly where confident wrongness does the most damage — Module 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3 — Transform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Same content, different form.</a:t>
            </a:r>
          </a:p>
          <a:p>
            <a:r>
              <a:t> Technical writing → plain language for a general audience</a:t>
            </a:r>
          </a:p>
          <a:p>
            <a:r>
              <a:t> A specification → a checklist</a:t>
            </a:r>
          </a:p>
          <a:p>
            <a:r>
              <a:t> Notes → a formal memo</a:t>
            </a:r>
          </a:p>
          <a:p>
            <a:r>
              <a:t> One language → another</a:t>
            </a:r>
          </a:p>
          <a:p>
            <a:r>
              <a:t> Prose → a table; a table → prose</a:t>
            </a:r>
          </a:p>
          <a:p>
            <a:r>
              <a:t> An angry draft → a professional one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25696"/>
            <a:ext cx="92456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3 — Transform: The Universal Translator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classic demonstration: messages arrive in many languages, from many places.</a:t>
            </a:r>
          </a:p>
          <a:p>
            <a:endParaRPr/>
          </a:p>
          <a:p>
            <a:endParaRPr/>
          </a:p>
          <a:p>
            <a:endParaRPr/>
          </a:p>
          <a:p>
            <a:r>
              <a:t> One prompt replaces a translation service and a triage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1531"/>
            <a:ext cx="8940800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4 — Expand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little input, a lot of correctly-shaped output.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2478027"/>
            <a:ext cx="9413875" cy="295360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4 — Expand: The Honest Caveat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Expansion is where AI is most impressive and least trustworthy.</a:t>
            </a:r>
          </a:p>
          <a:p>
            <a:r>
              <a:t> It will happily generate:</a:t>
            </a:r>
          </a:p>
          <a:p>
            <a:r>
              <a:t> A confident recommendation your data doesn't support</a:t>
            </a:r>
          </a:p>
          <a:p>
            <a:r>
              <a:t> A policy justification you never made</a:t>
            </a:r>
          </a:p>
          <a:p>
            <a:r>
              <a:t> A citation to a document that does not exist</a:t>
            </a:r>
          </a:p>
          <a:p>
            <a:r>
              <a:rPr b="1"/>
              <a:t> Rule:</a:t>
            </a:r>
            <a:r>
              <a:t> expansion is a</a:t>
            </a:r>
            <a:r>
              <a:rPr b="1"/>
              <a:t> drafting</a:t>
            </a:r>
            <a:r>
              <a:t> tool. The words are the model's; the claims must be yours.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53681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If you would be embarrassed to be quoted saying it, read it before you send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 sz="2800"/>
            </a:pPr>
            <a:r>
              <a:t>Principle 1 — Clear and Specific
Principle 2 — Give It Time to Think
The Four Workhorse Patterns
</a:t>
            </a:r>
            <a:r>
              <a:rPr b="1"/>
              <a:t>Two More Things That Matter
</a:t>
            </a:r>
            <a:r>
              <a:t>Exercise 2 — The Prompting Workshop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Two More Things That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Conversation Is Part of the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Chat tools remember the conversation so far. That's a feature and a trap.</a:t>
            </a:r>
          </a:p>
          <a:p>
            <a:r>
              <a:rPr b="1"/>
              <a:t> Use it:</a:t>
            </a:r>
            <a:r>
              <a:t> refine across turns. "Shorter." "More technical." "Now as a table." You don't need to restate everything.</a:t>
            </a:r>
          </a:p>
          <a:p>
            <a:r>
              <a:rPr b="1"/>
              <a:t> Watch it:</a:t>
            </a:r>
            <a:r>
              <a:t> a long thread accumulates your earlier corrections, bad turns, and assumptions. When answers get strange,</a:t>
            </a:r>
            <a:r>
              <a:rPr b="1"/>
              <a:t> start a fresh conversation.</a:t>
            </a:r>
          </a:p>
          <a:p>
            <a:r>
              <a:rPr b="1"/>
              <a:t> Reuse it:</a:t>
            </a:r>
            <a:r>
              <a:t> when a prompt works well, save it. That's the start of your prompt library — and of organizational standardization.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Your Data Goes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Before you paste anything, know which of these you are using:</a:t>
            </a:r>
          </a:p>
          <a:p>
            <a:r>
              <a:rPr b="1"/>
              <a:t> A consumer account</a:t>
            </a:r>
            <a:r>
              <a:t> — your text goes to a third party under consumer terms</a:t>
            </a:r>
          </a:p>
          <a:p>
            <a:r>
              <a:rPr b="1"/>
              <a:t> An enterprise tenant</a:t>
            </a:r>
            <a:r>
              <a:t> — your organization controls the terms, retention, and in many cases the data never leaves your boundary</a:t>
            </a:r>
          </a:p>
          <a:p>
            <a:r>
              <a:rPr b="1"/>
              <a:t> A self-hosted model</a:t>
            </a:r>
            <a:r>
              <a:t> — it never leaves at all</a:t>
            </a:r>
          </a:p>
          <a:p>
            <a:r>
              <a:rPr b="1"/>
              <a:t> The rule for this classroom, and probably for your Monday:</a:t>
            </a:r>
            <a:r>
              <a:t> nothing sensitive, nothing controlled, nothing you'd have to report. Use public or synthetic material for practice.</a:t>
            </a:r>
          </a:p>
          <a:p>
            <a:r>
              <a:t> We come back to this properly in Module 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 sz="2800"/>
            </a:pPr>
            <a:r>
              <a:t>Principle 1 — Clear and Specific
Principle 2 — Give It Time to Think
The Four Workhorse Patterns
Two More Things That Matter
</a:t>
            </a:r>
            <a:r>
              <a:rPr b="1"/>
              <a:t>Exercise 2 — The Prompting Workshop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Exercise 2 — The Prompting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 — The Prompting 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Format:</a:t>
            </a:r>
            <a:r>
              <a:t> pairs, 60 minutes. One working AI account per pair is enough.</a:t>
            </a:r>
          </a:p>
          <a:p>
            <a:r>
              <a:t> Working from the supplied (non-sensitive) sample document set, run the four patterns:</a:t>
            </a:r>
          </a:p>
          <a:p>
            <a:r>
              <a:rPr b="1"/>
              <a:t> Summarize</a:t>
            </a:r>
            <a:r>
              <a:t> — the same report, for two different audiences. Compare.</a:t>
            </a:r>
          </a:p>
          <a:p>
            <a:r>
              <a:rPr b="1"/>
              <a:t> Infer</a:t>
            </a:r>
            <a:r>
              <a:t> — themes and sentiment from the feedback set. Then</a:t>
            </a:r>
            <a:r>
              <a:rPr b="1"/>
              <a:t> spot-check the counts.</a:t>
            </a:r>
          </a:p>
          <a:p>
            <a:r>
              <a:rPr b="1"/>
              <a:t> Transform</a:t>
            </a:r>
            <a:r>
              <a:t> — the technical section into plain language, and the notes into a table.</a:t>
            </a:r>
          </a:p>
          <a:p>
            <a:r>
              <a:rPr b="1"/>
              <a:t> Expand</a:t>
            </a:r>
            <a:r>
              <a:t> — the bullets into a memo. Then mark every sentence you couldn't sign.</a:t>
            </a:r>
          </a:p>
          <a:p>
            <a:r>
              <a:t> Then the head-to-head:</a:t>
            </a:r>
            <a:r>
              <a:rPr b="1"/>
              <a:t> naive prompt vs. engineered prompt</a:t>
            </a:r>
            <a:r>
              <a:t> , same task. Keep both.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 — Your 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Each participant leaves with a</a:t>
            </a:r>
            <a:r>
              <a:rPr b="1" dirty="0"/>
              <a:t> personal prompt library</a:t>
            </a:r>
            <a:r>
              <a:rPr dirty="0"/>
              <a:t> : three to five prompts, written down, that you will actually use next week.</a:t>
            </a:r>
          </a:p>
          <a:p>
            <a:r>
              <a:rPr dirty="0"/>
              <a:t> Format for each one: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That last line —</a:t>
            </a:r>
            <a:r>
              <a:rPr i="1" dirty="0"/>
              <a:t> what you verify before trusting it</a:t>
            </a:r>
            <a:r>
              <a:rPr dirty="0"/>
              <a:t> — is not optional.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" y="2828131"/>
            <a:ext cx="5348288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 — Debrief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Which pattern surprised you most?</a:t>
            </a:r>
          </a:p>
          <a:p>
            <a:r>
              <a:t> Where did the engineered prompt beat the naive one by the widest margin?</a:t>
            </a:r>
          </a:p>
          <a:p>
            <a:r>
              <a:t> Did anyone catch the model getting something confidently wrong?</a:t>
            </a:r>
          </a:p>
          <a:p>
            <a:r>
              <a:t> What did you write on your "I CHECK" lines?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 —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Prompt quality beats model choice, and it is free</a:t>
            </a:r>
          </a:p>
          <a:p>
            <a:r>
              <a:t> Two principles:</a:t>
            </a:r>
            <a:r>
              <a:rPr b="1"/>
              <a:t> be clear and specific</a:t>
            </a:r>
            <a:r>
              <a:t> , and</a:t>
            </a:r>
            <a:r>
              <a:rPr b="1"/>
              <a:t> give it time to think</a:t>
            </a:r>
          </a:p>
          <a:p>
            <a:r>
              <a:t> Four patterns cover most business work:</a:t>
            </a:r>
            <a:r>
              <a:rPr b="1"/>
              <a:t> summarize, infer, transform, expand</a:t>
            </a:r>
          </a:p>
          <a:p>
            <a:r>
              <a:t> Your first prompt is a draft — iterate against specific defects</a:t>
            </a:r>
          </a:p>
          <a:p>
            <a:r>
              <a:t> Summarize</a:t>
            </a:r>
            <a:r>
              <a:rPr i="1"/>
              <a:t> for a purpose</a:t>
            </a:r>
            <a:r>
              <a:t> ; verify anything that looks like a number</a:t>
            </a:r>
          </a:p>
          <a:p>
            <a:r>
              <a:t> The words can be the model's.</a:t>
            </a:r>
            <a:r>
              <a:rPr b="1"/>
              <a:t> The claims are yours.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378299</TotalTime>
  <Words>2948</Words>
  <Application>Microsoft Macintosh PowerPoint</Application>
  <PresentationFormat>Custom</PresentationFormat>
  <Paragraphs>280</Paragraphs>
  <Slides>33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Working With AI: Prompting as a Leadership Skill</vt:lpstr>
      <vt:lpstr>Why This Module Exists</vt:lpstr>
      <vt:lpstr>Why a </vt:lpstr>
      <vt:lpstr>What a Prompt Really Is</vt:lpstr>
      <vt:lpstr>Two Principles Carry Almost Everything</vt:lpstr>
      <vt:lpstr>"Clear" Is Not "Short"</vt:lpstr>
      <vt:lpstr>Principle 1 — Clear and Specific</vt:lpstr>
      <vt:lpstr>Tactic 1 — Use Delimiters</vt:lpstr>
      <vt:lpstr>Tactic 2 — Ask for a Structured Output</vt:lpstr>
      <vt:lpstr>Tactic 3 — Ask It to Check Conditions First</vt:lpstr>
      <vt:lpstr>Tactic 4 — Give It an Example (Few-Shot)</vt:lpstr>
      <vt:lpstr>Principle 2 — Give It Time to Think</vt:lpstr>
      <vt:lpstr>Tactic 5 — Ask for Steps, in Order</vt:lpstr>
      <vt:lpstr>Tactic 6 — Make It Do the Work Before It Judges</vt:lpstr>
      <vt:lpstr>Tactic 7 — Iterate. Your First Prompt Is a Draft</vt:lpstr>
      <vt:lpstr>The Four Workhorse Patterns</vt:lpstr>
      <vt:lpstr>Almost All Business Value Is One of Four Shapes</vt:lpstr>
      <vt:lpstr>Pattern 1 — Summarize</vt:lpstr>
      <vt:lpstr>Pattern 1 — Summarize: Where It Pays</vt:lpstr>
      <vt:lpstr>Pattern 2 — Infer</vt:lpstr>
      <vt:lpstr>Pattern 2 — Infer: Where It Pays</vt:lpstr>
      <vt:lpstr>Pattern 3 — Transform</vt:lpstr>
      <vt:lpstr>Pattern 3 — Transform: The Universal Translator</vt:lpstr>
      <vt:lpstr>Pattern 4 — Expand</vt:lpstr>
      <vt:lpstr>Pattern 4 — Expand: The Honest Caveat</vt:lpstr>
      <vt:lpstr>Two More Things That Matter</vt:lpstr>
      <vt:lpstr>The Conversation Is Part of the Prompt</vt:lpstr>
      <vt:lpstr>Where Your Data Goes</vt:lpstr>
      <vt:lpstr>Exercise 2 — The Prompting Workshop</vt:lpstr>
      <vt:lpstr>Exercise 2 — The Prompting Workshop</vt:lpstr>
      <vt:lpstr>Exercise 2 — Your Deliverable</vt:lpstr>
      <vt:lpstr>Exercise 2 — Debrief</vt:lpstr>
      <vt:lpstr>Module 2 — Takeaways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4137</cp:revision>
  <cp:lastPrinted>2010-01-03T02:41:41Z</cp:lastPrinted>
  <dcterms:created xsi:type="dcterms:W3CDTF">2010-07-13T15:22:01Z</dcterms:created>
  <dcterms:modified xsi:type="dcterms:W3CDTF">2026-09-22T02:48:52Z</dcterms:modified>
</cp:coreProperties>
</file>